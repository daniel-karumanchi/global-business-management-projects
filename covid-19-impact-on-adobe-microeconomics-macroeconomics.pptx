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2" r:id="rId1"/>
  </p:sldMasterIdLst>
  <p:sldIdLst>
    <p:sldId id="301" r:id="rId2"/>
    <p:sldId id="256" r:id="rId3"/>
    <p:sldId id="257" r:id="rId4"/>
    <p:sldId id="300" r:id="rId5"/>
    <p:sldId id="293" r:id="rId6"/>
    <p:sldId id="286" r:id="rId7"/>
    <p:sldId id="287" r:id="rId8"/>
    <p:sldId id="288" r:id="rId9"/>
    <p:sldId id="289" r:id="rId10"/>
    <p:sldId id="290" r:id="rId11"/>
    <p:sldId id="291" r:id="rId12"/>
    <p:sldId id="292" r:id="rId13"/>
    <p:sldId id="294" r:id="rId14"/>
    <p:sldId id="295" r:id="rId15"/>
    <p:sldId id="296" r:id="rId16"/>
    <p:sldId id="297" r:id="rId17"/>
    <p:sldId id="298" r:id="rId18"/>
    <p:sldId id="299" r:id="rId19"/>
    <p:sldId id="277" r:id="rId20"/>
    <p:sldId id="278" r:id="rId21"/>
    <p:sldId id="279" r:id="rId22"/>
    <p:sldId id="280" r:id="rId23"/>
    <p:sldId id="281" r:id="rId24"/>
    <p:sldId id="282" r:id="rId25"/>
    <p:sldId id="283" r:id="rId26"/>
    <p:sldId id="284" r:id="rId27"/>
    <p:sldId id="285" r:id="rId28"/>
    <p:sldId id="271" r:id="rId29"/>
    <p:sldId id="272" r:id="rId30"/>
    <p:sldId id="273" r:id="rId31"/>
    <p:sldId id="274" r:id="rId32"/>
    <p:sldId id="275" r:id="rId33"/>
    <p:sldId id="276" r:id="rId34"/>
    <p:sldId id="261" r:id="rId35"/>
    <p:sldId id="263" r:id="rId36"/>
    <p:sldId id="264" r:id="rId37"/>
    <p:sldId id="265" r:id="rId38"/>
    <p:sldId id="266" r:id="rId39"/>
    <p:sldId id="267" r:id="rId40"/>
    <p:sldId id="268" r:id="rId41"/>
    <p:sldId id="269" r:id="rId42"/>
    <p:sldId id="258" r:id="rId43"/>
    <p:sldId id="259" r:id="rId44"/>
    <p:sldId id="260" r:id="rId45"/>
    <p:sldId id="262"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B21EF40-EDB0-48EB-8210-30BD2BC5BB33}" type="datetimeFigureOut">
              <a:rPr lang="en-IN" smtClean="0"/>
              <a:t>11-12-2024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4D7AF4-177B-4580-B7C9-B6384E9A980B}" type="slidenum">
              <a:rPr lang="en-IN" smtClean="0"/>
              <a:t>‹#›</a:t>
            </a:fld>
            <a:endParaRPr lang="en-IN"/>
          </a:p>
        </p:txBody>
      </p:sp>
    </p:spTree>
    <p:extLst>
      <p:ext uri="{BB962C8B-B14F-4D97-AF65-F5344CB8AC3E}">
        <p14:creationId xmlns:p14="http://schemas.microsoft.com/office/powerpoint/2010/main" val="3695629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21EF40-EDB0-48EB-8210-30BD2BC5BB33}" type="datetimeFigureOut">
              <a:rPr lang="en-IN" smtClean="0"/>
              <a:t>11-12-2024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4D7AF4-177B-4580-B7C9-B6384E9A980B}" type="slidenum">
              <a:rPr lang="en-IN" smtClean="0"/>
              <a:t>‹#›</a:t>
            </a:fld>
            <a:endParaRPr lang="en-IN"/>
          </a:p>
        </p:txBody>
      </p:sp>
    </p:spTree>
    <p:extLst>
      <p:ext uri="{BB962C8B-B14F-4D97-AF65-F5344CB8AC3E}">
        <p14:creationId xmlns:p14="http://schemas.microsoft.com/office/powerpoint/2010/main" val="27362813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21EF40-EDB0-48EB-8210-30BD2BC5BB33}" type="datetimeFigureOut">
              <a:rPr lang="en-IN" smtClean="0"/>
              <a:t>11-12-2024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4D7AF4-177B-4580-B7C9-B6384E9A980B}" type="slidenum">
              <a:rPr lang="en-IN" smtClean="0"/>
              <a:t>‹#›</a:t>
            </a:fld>
            <a:endParaRPr lang="en-IN"/>
          </a:p>
        </p:txBody>
      </p:sp>
    </p:spTree>
    <p:extLst>
      <p:ext uri="{BB962C8B-B14F-4D97-AF65-F5344CB8AC3E}">
        <p14:creationId xmlns:p14="http://schemas.microsoft.com/office/powerpoint/2010/main" val="4033275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B21EF40-EDB0-48EB-8210-30BD2BC5BB33}" type="datetimeFigureOut">
              <a:rPr lang="en-IN" smtClean="0"/>
              <a:t>11-12-2024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C4D7AF4-177B-4580-B7C9-B6384E9A980B}" type="slidenum">
              <a:rPr lang="en-IN" smtClean="0"/>
              <a:t>‹#›</a:t>
            </a:fld>
            <a:endParaRPr lang="en-IN"/>
          </a:p>
        </p:txBody>
      </p:sp>
    </p:spTree>
    <p:extLst>
      <p:ext uri="{BB962C8B-B14F-4D97-AF65-F5344CB8AC3E}">
        <p14:creationId xmlns:p14="http://schemas.microsoft.com/office/powerpoint/2010/main" val="4221625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B21EF40-EDB0-48EB-8210-30BD2BC5BB33}" type="datetimeFigureOut">
              <a:rPr lang="en-IN" smtClean="0"/>
              <a:t>11-12-2024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C4D7AF4-177B-4580-B7C9-B6384E9A980B}" type="slidenum">
              <a:rPr lang="en-IN" smtClean="0"/>
              <a:t>‹#›</a:t>
            </a:fld>
            <a:endParaRPr lang="en-IN"/>
          </a:p>
        </p:txBody>
      </p:sp>
    </p:spTree>
    <p:extLst>
      <p:ext uri="{BB962C8B-B14F-4D97-AF65-F5344CB8AC3E}">
        <p14:creationId xmlns:p14="http://schemas.microsoft.com/office/powerpoint/2010/main" val="3207801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B21EF40-EDB0-48EB-8210-30BD2BC5BB33}" type="datetimeFigureOut">
              <a:rPr lang="en-IN" smtClean="0"/>
              <a:t>11-12-2024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C4D7AF4-177B-4580-B7C9-B6384E9A980B}" type="slidenum">
              <a:rPr lang="en-IN" smtClean="0"/>
              <a:t>‹#›</a:t>
            </a:fld>
            <a:endParaRPr lang="en-IN"/>
          </a:p>
        </p:txBody>
      </p:sp>
    </p:spTree>
    <p:extLst>
      <p:ext uri="{BB962C8B-B14F-4D97-AF65-F5344CB8AC3E}">
        <p14:creationId xmlns:p14="http://schemas.microsoft.com/office/powerpoint/2010/main" val="772621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21EF40-EDB0-48EB-8210-30BD2BC5BB33}" type="datetimeFigureOut">
              <a:rPr lang="en-IN" smtClean="0"/>
              <a:t>11-12-2024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C4D7AF4-177B-4580-B7C9-B6384E9A980B}" type="slidenum">
              <a:rPr lang="en-IN" smtClean="0"/>
              <a:t>‹#›</a:t>
            </a:fld>
            <a:endParaRPr lang="en-IN"/>
          </a:p>
        </p:txBody>
      </p:sp>
    </p:spTree>
    <p:extLst>
      <p:ext uri="{BB962C8B-B14F-4D97-AF65-F5344CB8AC3E}">
        <p14:creationId xmlns:p14="http://schemas.microsoft.com/office/powerpoint/2010/main" val="1585175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B21EF40-EDB0-48EB-8210-30BD2BC5BB33}" type="datetimeFigureOut">
              <a:rPr lang="en-IN" smtClean="0"/>
              <a:t>11-12-2024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C4D7AF4-177B-4580-B7C9-B6384E9A980B}" type="slidenum">
              <a:rPr lang="en-IN" smtClean="0"/>
              <a:t>‹#›</a:t>
            </a:fld>
            <a:endParaRPr lang="en-IN"/>
          </a:p>
        </p:txBody>
      </p:sp>
    </p:spTree>
    <p:extLst>
      <p:ext uri="{BB962C8B-B14F-4D97-AF65-F5344CB8AC3E}">
        <p14:creationId xmlns:p14="http://schemas.microsoft.com/office/powerpoint/2010/main" val="20753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B21EF40-EDB0-48EB-8210-30BD2BC5BB33}" type="datetimeFigureOut">
              <a:rPr lang="en-IN" smtClean="0"/>
              <a:t>11-12-2024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C4D7AF4-177B-4580-B7C9-B6384E9A980B}" type="slidenum">
              <a:rPr lang="en-IN" smtClean="0"/>
              <a:t>‹#›</a:t>
            </a:fld>
            <a:endParaRPr lang="en-IN"/>
          </a:p>
        </p:txBody>
      </p:sp>
    </p:spTree>
    <p:extLst>
      <p:ext uri="{BB962C8B-B14F-4D97-AF65-F5344CB8AC3E}">
        <p14:creationId xmlns:p14="http://schemas.microsoft.com/office/powerpoint/2010/main" val="128963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21EF40-EDB0-48EB-8210-30BD2BC5BB33}" type="datetimeFigureOut">
              <a:rPr lang="en-IN" smtClean="0"/>
              <a:t>11-12-2024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4D7AF4-177B-4580-B7C9-B6384E9A980B}" type="slidenum">
              <a:rPr lang="en-IN" smtClean="0"/>
              <a:t>‹#›</a:t>
            </a:fld>
            <a:endParaRPr lang="en-IN"/>
          </a:p>
        </p:txBody>
      </p:sp>
    </p:spTree>
    <p:extLst>
      <p:ext uri="{BB962C8B-B14F-4D97-AF65-F5344CB8AC3E}">
        <p14:creationId xmlns:p14="http://schemas.microsoft.com/office/powerpoint/2010/main" val="1237548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21EF40-EDB0-48EB-8210-30BD2BC5BB33}" type="datetimeFigureOut">
              <a:rPr lang="en-IN" smtClean="0"/>
              <a:t>11-12-2024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4D7AF4-177B-4580-B7C9-B6384E9A980B}"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9630553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21EF40-EDB0-48EB-8210-30BD2BC5BB33}" type="datetimeFigureOut">
              <a:rPr lang="en-IN" smtClean="0"/>
              <a:t>11-12-2024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4D7AF4-177B-4580-B7C9-B6384E9A980B}" type="slidenum">
              <a:rPr lang="en-IN" smtClean="0"/>
              <a:t>‹#›</a:t>
            </a:fld>
            <a:endParaRPr lang="en-IN"/>
          </a:p>
        </p:txBody>
      </p:sp>
    </p:spTree>
    <p:extLst>
      <p:ext uri="{BB962C8B-B14F-4D97-AF65-F5344CB8AC3E}">
        <p14:creationId xmlns:p14="http://schemas.microsoft.com/office/powerpoint/2010/main" val="21341610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21EF40-EDB0-48EB-8210-30BD2BC5BB33}" type="datetimeFigureOut">
              <a:rPr lang="en-IN" smtClean="0"/>
              <a:t>11-12-2024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4D7AF4-177B-4580-B7C9-B6384E9A980B}"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929244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21EF40-EDB0-48EB-8210-30BD2BC5BB33}" type="datetimeFigureOut">
              <a:rPr lang="en-IN" smtClean="0"/>
              <a:t>11-12-2024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4D7AF4-177B-4580-B7C9-B6384E9A980B}" type="slidenum">
              <a:rPr lang="en-IN" smtClean="0"/>
              <a:t>‹#›</a:t>
            </a:fld>
            <a:endParaRPr lang="en-IN"/>
          </a:p>
        </p:txBody>
      </p:sp>
    </p:spTree>
    <p:extLst>
      <p:ext uri="{BB962C8B-B14F-4D97-AF65-F5344CB8AC3E}">
        <p14:creationId xmlns:p14="http://schemas.microsoft.com/office/powerpoint/2010/main" val="19694902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21EF40-EDB0-48EB-8210-30BD2BC5BB33}" type="datetimeFigureOut">
              <a:rPr lang="en-IN" smtClean="0"/>
              <a:t>11-12-2024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4D7AF4-177B-4580-B7C9-B6384E9A980B}" type="slidenum">
              <a:rPr lang="en-IN" smtClean="0"/>
              <a:t>‹#›</a:t>
            </a:fld>
            <a:endParaRPr lang="en-IN"/>
          </a:p>
        </p:txBody>
      </p:sp>
    </p:spTree>
    <p:extLst>
      <p:ext uri="{BB962C8B-B14F-4D97-AF65-F5344CB8AC3E}">
        <p14:creationId xmlns:p14="http://schemas.microsoft.com/office/powerpoint/2010/main" val="12137179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21EF40-EDB0-48EB-8210-30BD2BC5BB33}" type="datetimeFigureOut">
              <a:rPr lang="en-IN" smtClean="0"/>
              <a:t>11-12-2024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C4D7AF4-177B-4580-B7C9-B6384E9A980B}" type="slidenum">
              <a:rPr lang="en-IN" smtClean="0"/>
              <a:t>‹#›</a:t>
            </a:fld>
            <a:endParaRPr lang="en-IN"/>
          </a:p>
        </p:txBody>
      </p:sp>
    </p:spTree>
    <p:extLst>
      <p:ext uri="{BB962C8B-B14F-4D97-AF65-F5344CB8AC3E}">
        <p14:creationId xmlns:p14="http://schemas.microsoft.com/office/powerpoint/2010/main" val="1290524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B21EF40-EDB0-48EB-8210-30BD2BC5BB33}" type="datetimeFigureOut">
              <a:rPr lang="en-IN" smtClean="0"/>
              <a:t>11-12-2024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C4D7AF4-177B-4580-B7C9-B6384E9A980B}" type="slidenum">
              <a:rPr lang="en-IN" smtClean="0"/>
              <a:t>‹#›</a:t>
            </a:fld>
            <a:endParaRPr lang="en-IN"/>
          </a:p>
        </p:txBody>
      </p:sp>
    </p:spTree>
    <p:extLst>
      <p:ext uri="{BB962C8B-B14F-4D97-AF65-F5344CB8AC3E}">
        <p14:creationId xmlns:p14="http://schemas.microsoft.com/office/powerpoint/2010/main" val="386249182"/>
      </p:ext>
    </p:extLst>
  </p:cSld>
  <p:clrMap bg1="dk1" tx1="lt1" bg2="dk2" tx2="lt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photutorial.com/adobe-statistics/" TargetMode="External"/><Relationship Id="rId2" Type="http://schemas.openxmlformats.org/officeDocument/2006/relationships/hyperlink" Target="https://usesignhouse.com/blog/adobe-stats/" TargetMode="External"/><Relationship Id="rId1" Type="http://schemas.openxmlformats.org/officeDocument/2006/relationships/slideLayout" Target="../slideLayouts/slideLayout2.xml"/><Relationship Id="rId4" Type="http://schemas.openxmlformats.org/officeDocument/2006/relationships/hyperlink" Target="https://www.adobe.com/investor-relations/financial-documents.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E4266B-2A8F-9AC1-DF73-018162EACC10}"/>
              </a:ext>
            </a:extLst>
          </p:cNvPr>
          <p:cNvSpPr>
            <a:spLocks noGrp="1"/>
          </p:cNvSpPr>
          <p:nvPr>
            <p:ph type="title"/>
          </p:nvPr>
        </p:nvSpPr>
        <p:spPr>
          <a:xfrm>
            <a:off x="677333" y="609600"/>
            <a:ext cx="8722305" cy="1320800"/>
          </a:xfrm>
        </p:spPr>
        <p:txBody>
          <a:bodyPr/>
          <a:lstStyle/>
          <a:p>
            <a:r>
              <a:rPr lang="en-US" u="sng" dirty="0">
                <a:solidFill>
                  <a:srgbClr val="00FFFF"/>
                </a:solidFill>
              </a:rPr>
              <a:t>Presentation Recording Google Drive Link</a:t>
            </a:r>
            <a:endParaRPr lang="en-IN" u="sng" dirty="0">
              <a:solidFill>
                <a:srgbClr val="00FFFF"/>
              </a:solidFill>
            </a:endParaRPr>
          </a:p>
        </p:txBody>
      </p:sp>
      <p:sp>
        <p:nvSpPr>
          <p:cNvPr id="5" name="Content Placeholder 4">
            <a:extLst>
              <a:ext uri="{FF2B5EF4-FFF2-40B4-BE49-F238E27FC236}">
                <a16:creationId xmlns:a16="http://schemas.microsoft.com/office/drawing/2014/main" id="{B95030A8-8AB9-93E5-DF67-1D66EAF203E5}"/>
              </a:ext>
            </a:extLst>
          </p:cNvPr>
          <p:cNvSpPr>
            <a:spLocks noGrp="1"/>
          </p:cNvSpPr>
          <p:nvPr>
            <p:ph idx="1"/>
          </p:nvPr>
        </p:nvSpPr>
        <p:spPr>
          <a:xfrm>
            <a:off x="226143" y="1759975"/>
            <a:ext cx="11700386" cy="4281388"/>
          </a:xfrm>
        </p:spPr>
        <p:txBody>
          <a:bodyPr/>
          <a:lstStyle/>
          <a:p>
            <a:pPr marL="0" indent="0">
              <a:buNone/>
            </a:pPr>
            <a:r>
              <a:rPr lang="en-IN" dirty="0"/>
              <a:t>https://drive.google.com/file/d/1dwS7-YjPyWFCC3Y51wifHs7blYteeKzh/view?usp=sharing</a:t>
            </a:r>
          </a:p>
        </p:txBody>
      </p:sp>
    </p:spTree>
    <p:extLst>
      <p:ext uri="{BB962C8B-B14F-4D97-AF65-F5344CB8AC3E}">
        <p14:creationId xmlns:p14="http://schemas.microsoft.com/office/powerpoint/2010/main" val="9712354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5CBAE-45F9-3B92-E60F-8DA43864D28C}"/>
              </a:ext>
            </a:extLst>
          </p:cNvPr>
          <p:cNvSpPr>
            <a:spLocks noGrp="1"/>
          </p:cNvSpPr>
          <p:nvPr>
            <p:ph type="ctrTitle"/>
          </p:nvPr>
        </p:nvSpPr>
        <p:spPr>
          <a:xfrm>
            <a:off x="1359584" y="1452204"/>
            <a:ext cx="7766936" cy="2399583"/>
          </a:xfrm>
        </p:spPr>
        <p:txBody>
          <a:bodyPr>
            <a:normAutofit fontScale="90000"/>
          </a:bodyPr>
          <a:lstStyle/>
          <a:p>
            <a:pPr algn="l"/>
            <a:r>
              <a:rPr lang="en-US" sz="4400" b="1" dirty="0">
                <a:solidFill>
                  <a:srgbClr val="FFFF00"/>
                </a:solidFill>
              </a:rPr>
              <a:t>Project 1</a:t>
            </a:r>
            <a:br>
              <a:rPr lang="en-US" sz="4000" dirty="0"/>
            </a:br>
            <a:r>
              <a:rPr lang="en-US" sz="4000" dirty="0">
                <a:solidFill>
                  <a:srgbClr val="00FFFF"/>
                </a:solidFill>
              </a:rPr>
              <a:t>The effect of Covid 19 on Adobe  from the perspective of Microeconomics and Macroeconomics</a:t>
            </a:r>
            <a:endParaRPr lang="en-IN" sz="4000" dirty="0">
              <a:solidFill>
                <a:srgbClr val="00FFFF"/>
              </a:solidFill>
            </a:endParaRPr>
          </a:p>
        </p:txBody>
      </p:sp>
      <p:sp>
        <p:nvSpPr>
          <p:cNvPr id="3" name="Subtitle 2">
            <a:extLst>
              <a:ext uri="{FF2B5EF4-FFF2-40B4-BE49-F238E27FC236}">
                <a16:creationId xmlns:a16="http://schemas.microsoft.com/office/drawing/2014/main" id="{E59B5B10-627B-3040-8208-CCDB88106C5A}"/>
              </a:ext>
            </a:extLst>
          </p:cNvPr>
          <p:cNvSpPr>
            <a:spLocks noGrp="1"/>
          </p:cNvSpPr>
          <p:nvPr>
            <p:ph type="subTitle" idx="1"/>
          </p:nvPr>
        </p:nvSpPr>
        <p:spPr>
          <a:xfrm>
            <a:off x="1524000" y="4079874"/>
            <a:ext cx="7602520" cy="2399583"/>
          </a:xfrm>
        </p:spPr>
        <p:txBody>
          <a:bodyPr>
            <a:normAutofit/>
          </a:bodyPr>
          <a:lstStyle/>
          <a:p>
            <a:pPr algn="l"/>
            <a:r>
              <a:rPr lang="en-US" sz="2400" b="1" u="sng" dirty="0">
                <a:solidFill>
                  <a:srgbClr val="92D050"/>
                </a:solidFill>
                <a:latin typeface="Inter"/>
              </a:rPr>
              <a:t>Group Members</a:t>
            </a:r>
          </a:p>
          <a:p>
            <a:pPr algn="l"/>
            <a:r>
              <a:rPr lang="en-IN" sz="2400" dirty="0">
                <a:solidFill>
                  <a:schemeClr val="tx1">
                    <a:lumMod val="75000"/>
                    <a:lumOff val="25000"/>
                  </a:schemeClr>
                </a:solidFill>
                <a:latin typeface="Inter"/>
              </a:rPr>
              <a:t>K Daniel, Astha Gupta, Vinod V H, Lalit Soni</a:t>
            </a:r>
          </a:p>
        </p:txBody>
      </p:sp>
    </p:spTree>
    <p:extLst>
      <p:ext uri="{BB962C8B-B14F-4D97-AF65-F5344CB8AC3E}">
        <p14:creationId xmlns:p14="http://schemas.microsoft.com/office/powerpoint/2010/main" val="24295806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7F4E7-4343-DF36-9DFB-11E2DA7D6123}"/>
              </a:ext>
            </a:extLst>
          </p:cNvPr>
          <p:cNvSpPr>
            <a:spLocks noGrp="1"/>
          </p:cNvSpPr>
          <p:nvPr>
            <p:ph type="title"/>
          </p:nvPr>
        </p:nvSpPr>
        <p:spPr>
          <a:xfrm>
            <a:off x="677334" y="609600"/>
            <a:ext cx="8596668" cy="678426"/>
          </a:xfrm>
        </p:spPr>
        <p:txBody>
          <a:bodyPr/>
          <a:lstStyle/>
          <a:p>
            <a:r>
              <a:rPr lang="en-US" u="sng" dirty="0">
                <a:solidFill>
                  <a:srgbClr val="00FFFF"/>
                </a:solidFill>
              </a:rPr>
              <a:t>Introduction</a:t>
            </a:r>
            <a:endParaRPr lang="en-IN" u="sng" dirty="0">
              <a:solidFill>
                <a:srgbClr val="00FFFF"/>
              </a:solidFill>
            </a:endParaRPr>
          </a:p>
        </p:txBody>
      </p:sp>
      <p:sp>
        <p:nvSpPr>
          <p:cNvPr id="3" name="Content Placeholder 2">
            <a:extLst>
              <a:ext uri="{FF2B5EF4-FFF2-40B4-BE49-F238E27FC236}">
                <a16:creationId xmlns:a16="http://schemas.microsoft.com/office/drawing/2014/main" id="{E09F06F6-994D-8645-6EE7-200DEF46A950}"/>
              </a:ext>
            </a:extLst>
          </p:cNvPr>
          <p:cNvSpPr>
            <a:spLocks noGrp="1"/>
          </p:cNvSpPr>
          <p:nvPr>
            <p:ph idx="1"/>
          </p:nvPr>
        </p:nvSpPr>
        <p:spPr>
          <a:xfrm>
            <a:off x="677334" y="1592826"/>
            <a:ext cx="8596668" cy="4458369"/>
          </a:xfrm>
        </p:spPr>
        <p:txBody>
          <a:bodyPr>
            <a:normAutofit/>
          </a:bodyPr>
          <a:lstStyle/>
          <a:p>
            <a:pPr marL="0" indent="0" algn="just">
              <a:buNone/>
            </a:pPr>
            <a:r>
              <a:rPr lang="en-US" sz="2000" b="0" i="0" dirty="0">
                <a:solidFill>
                  <a:schemeClr val="tx1"/>
                </a:solidFill>
                <a:effectLst/>
                <a:latin typeface="Inter"/>
              </a:rPr>
              <a:t>The tech company chosen by </a:t>
            </a:r>
            <a:r>
              <a:rPr lang="en-US" sz="2000" dirty="0">
                <a:solidFill>
                  <a:schemeClr val="tx1"/>
                </a:solidFill>
                <a:latin typeface="Inter"/>
              </a:rPr>
              <a:t>our group is Adobe. </a:t>
            </a:r>
            <a:r>
              <a:rPr lang="en-US" sz="2000" b="0" i="0" dirty="0">
                <a:solidFill>
                  <a:schemeClr val="tx1"/>
                </a:solidFill>
                <a:effectLst/>
                <a:latin typeface="Inter"/>
              </a:rPr>
              <a:t>The COVID-19 pandemic brought about profound changes for Adobe, resulting in notable macroeconomic and microeconomic shifts. At the macro level, the organization capitalized on the transition to remote work and the rapid digital transformation occurring across various sectors. On the micro level, Adobe modified its business strategy to enhance customer engagement, emphasize cloud services, and innovate its product offerings to align with the evolving demands of the workforce and the economy. Despite facing challenges stemming from economic uncertainty and fluctuating customer behaviors, Adobe's adaptable subscription model, along with its dominance in creative software, positioned the company favorably for success in a post-pandemic environment.</a:t>
            </a:r>
            <a:endParaRPr lang="en-IN" sz="2000" dirty="0">
              <a:solidFill>
                <a:schemeClr val="tx1"/>
              </a:solidFill>
              <a:latin typeface="Inter"/>
            </a:endParaRPr>
          </a:p>
        </p:txBody>
      </p:sp>
    </p:spTree>
    <p:extLst>
      <p:ext uri="{BB962C8B-B14F-4D97-AF65-F5344CB8AC3E}">
        <p14:creationId xmlns:p14="http://schemas.microsoft.com/office/powerpoint/2010/main" val="4197195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B18EF-3463-E149-14F7-B4D7E9C83D73}"/>
              </a:ext>
            </a:extLst>
          </p:cNvPr>
          <p:cNvSpPr>
            <a:spLocks noGrp="1"/>
          </p:cNvSpPr>
          <p:nvPr>
            <p:ph type="title"/>
          </p:nvPr>
        </p:nvSpPr>
        <p:spPr/>
        <p:txBody>
          <a:bodyPr/>
          <a:lstStyle/>
          <a:p>
            <a:r>
              <a:rPr lang="en-US" u="sng" dirty="0">
                <a:solidFill>
                  <a:srgbClr val="00FFFF"/>
                </a:solidFill>
              </a:rPr>
              <a:t>About Adobe Inc.</a:t>
            </a:r>
            <a:endParaRPr lang="en-IN" u="sng" dirty="0">
              <a:solidFill>
                <a:srgbClr val="00FFFF"/>
              </a:solidFill>
            </a:endParaRPr>
          </a:p>
        </p:txBody>
      </p:sp>
      <p:sp>
        <p:nvSpPr>
          <p:cNvPr id="3" name="Content Placeholder 2">
            <a:extLst>
              <a:ext uri="{FF2B5EF4-FFF2-40B4-BE49-F238E27FC236}">
                <a16:creationId xmlns:a16="http://schemas.microsoft.com/office/drawing/2014/main" id="{FFC01DA4-70BF-5610-DD48-F597234AF9A8}"/>
              </a:ext>
            </a:extLst>
          </p:cNvPr>
          <p:cNvSpPr>
            <a:spLocks noGrp="1"/>
          </p:cNvSpPr>
          <p:nvPr>
            <p:ph idx="1"/>
          </p:nvPr>
        </p:nvSpPr>
        <p:spPr>
          <a:xfrm>
            <a:off x="677334" y="1474839"/>
            <a:ext cx="8596668" cy="4773561"/>
          </a:xfrm>
        </p:spPr>
        <p:txBody>
          <a:bodyPr>
            <a:normAutofit/>
          </a:bodyPr>
          <a:lstStyle/>
          <a:p>
            <a:pPr algn="just" fontAlgn="base">
              <a:spcAft>
                <a:spcPts val="750"/>
              </a:spcAft>
              <a:buFont typeface="Arial" panose="020B0604020202020204" pitchFamily="34" charset="0"/>
              <a:buChar char="•"/>
            </a:pPr>
            <a:r>
              <a:rPr lang="en-US" sz="2000" i="0" dirty="0">
                <a:solidFill>
                  <a:schemeClr val="tx1"/>
                </a:solidFill>
                <a:effectLst/>
                <a:latin typeface="Inter"/>
              </a:rPr>
              <a:t>Adobe is a popular American multinational company that is specialized in software development for graphics design, photo and video editing including animation and print. One of the most popular products of Adobe is Adobe Photoshop which is a widely used photo editing software for multimedia and illustration of motion graphics. </a:t>
            </a:r>
          </a:p>
          <a:p>
            <a:pPr algn="just" fontAlgn="base">
              <a:spcAft>
                <a:spcPts val="750"/>
              </a:spcAft>
              <a:buFont typeface="Arial" panose="020B0604020202020204" pitchFamily="34" charset="0"/>
              <a:buChar char="•"/>
            </a:pPr>
            <a:r>
              <a:rPr lang="en-US" sz="2000" i="0" dirty="0">
                <a:solidFill>
                  <a:schemeClr val="tx1"/>
                </a:solidFill>
                <a:effectLst/>
                <a:latin typeface="Inter"/>
              </a:rPr>
              <a:t>In the year 2021, the company reported a revenue of $15.78 billion dollars.</a:t>
            </a:r>
          </a:p>
          <a:p>
            <a:pPr algn="just" fontAlgn="base">
              <a:spcAft>
                <a:spcPts val="750"/>
              </a:spcAft>
              <a:buFont typeface="Arial" panose="020B0604020202020204" pitchFamily="34" charset="0"/>
              <a:buChar char="•"/>
            </a:pPr>
            <a:r>
              <a:rPr lang="en-US" sz="2000" i="0" dirty="0">
                <a:solidFill>
                  <a:schemeClr val="tx1"/>
                </a:solidFill>
                <a:effectLst/>
                <a:latin typeface="Inter"/>
              </a:rPr>
              <a:t>Adobe Inc. is especially known for its amazing software for content creation, editing, photo, and video editing. It has developed software for a wide range of graphic designing and video rendering and editing. Adobe Photoshop which is the most popular photo editing software in the world, Adobe Acrobat Reader is among the most used application for portable document format (PDF), and Adobe Illustrator is considered to be the best illustration software for vector-based diagrams.</a:t>
            </a:r>
          </a:p>
          <a:p>
            <a:endParaRPr lang="en-IN" dirty="0"/>
          </a:p>
        </p:txBody>
      </p:sp>
    </p:spTree>
    <p:extLst>
      <p:ext uri="{BB962C8B-B14F-4D97-AF65-F5344CB8AC3E}">
        <p14:creationId xmlns:p14="http://schemas.microsoft.com/office/powerpoint/2010/main" val="791268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C302B-E0F6-F300-B0E3-331DCB05DAAF}"/>
              </a:ext>
            </a:extLst>
          </p:cNvPr>
          <p:cNvSpPr>
            <a:spLocks noGrp="1"/>
          </p:cNvSpPr>
          <p:nvPr>
            <p:ph type="title"/>
          </p:nvPr>
        </p:nvSpPr>
        <p:spPr>
          <a:xfrm>
            <a:off x="1797666" y="2300749"/>
            <a:ext cx="8596668" cy="1320800"/>
          </a:xfrm>
        </p:spPr>
        <p:txBody>
          <a:bodyPr/>
          <a:lstStyle/>
          <a:p>
            <a:r>
              <a:rPr lang="en-US" u="sng" dirty="0">
                <a:solidFill>
                  <a:srgbClr val="00FFFF"/>
                </a:solidFill>
              </a:rPr>
              <a:t>Supply and Demand Curves</a:t>
            </a:r>
            <a:endParaRPr lang="en-IN" dirty="0"/>
          </a:p>
        </p:txBody>
      </p:sp>
    </p:spTree>
    <p:extLst>
      <p:ext uri="{BB962C8B-B14F-4D97-AF65-F5344CB8AC3E}">
        <p14:creationId xmlns:p14="http://schemas.microsoft.com/office/powerpoint/2010/main" val="2134500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C4BC2D7-EE69-87EE-1306-30AA688F29AA}"/>
              </a:ext>
            </a:extLst>
          </p:cNvPr>
          <p:cNvPicPr>
            <a:picLocks noChangeAspect="1"/>
          </p:cNvPicPr>
          <p:nvPr/>
        </p:nvPicPr>
        <p:blipFill>
          <a:blip r:embed="rId2"/>
          <a:stretch>
            <a:fillRect/>
          </a:stretch>
        </p:blipFill>
        <p:spPr>
          <a:xfrm>
            <a:off x="799911" y="737420"/>
            <a:ext cx="8176942" cy="4788311"/>
          </a:xfrm>
          <a:prstGeom prst="rect">
            <a:avLst/>
          </a:prstGeom>
        </p:spPr>
      </p:pic>
      <p:sp>
        <p:nvSpPr>
          <p:cNvPr id="8" name="TextBox 7">
            <a:extLst>
              <a:ext uri="{FF2B5EF4-FFF2-40B4-BE49-F238E27FC236}">
                <a16:creationId xmlns:a16="http://schemas.microsoft.com/office/drawing/2014/main" id="{294DFB55-23FB-399A-0584-6600A87935C1}"/>
              </a:ext>
            </a:extLst>
          </p:cNvPr>
          <p:cNvSpPr txBox="1"/>
          <p:nvPr/>
        </p:nvSpPr>
        <p:spPr>
          <a:xfrm>
            <a:off x="799911" y="5752402"/>
            <a:ext cx="8176942" cy="736355"/>
          </a:xfrm>
          <a:prstGeom prst="rect">
            <a:avLst/>
          </a:prstGeom>
          <a:noFill/>
        </p:spPr>
        <p:txBody>
          <a:bodyPr wrap="square" rtlCol="0">
            <a:spAutoFit/>
          </a:bodyPr>
          <a:lstStyle/>
          <a:p>
            <a:pPr marL="228600">
              <a:lnSpc>
                <a:spcPct val="107000"/>
              </a:lnSpc>
              <a:spcAft>
                <a:spcPts val="800"/>
              </a:spcAft>
            </a:pPr>
            <a:r>
              <a:rPr lang="en-IN" sz="2000" kern="100" dirty="0">
                <a:effectLst/>
                <a:latin typeface="Inter"/>
                <a:ea typeface="Aptos" panose="020B0004020202020204" pitchFamily="34" charset="0"/>
                <a:cs typeface="Times New Roman" panose="02020603050405020304" pitchFamily="18" charset="0"/>
              </a:rPr>
              <a:t>In the year 2019 the demand of quantity is continuously decreasing when price is increasing. </a:t>
            </a:r>
          </a:p>
        </p:txBody>
      </p:sp>
    </p:spTree>
    <p:extLst>
      <p:ext uri="{BB962C8B-B14F-4D97-AF65-F5344CB8AC3E}">
        <p14:creationId xmlns:p14="http://schemas.microsoft.com/office/powerpoint/2010/main" val="3829197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AFCCD35-2884-FC12-3199-7037018AC1AC}"/>
              </a:ext>
            </a:extLst>
          </p:cNvPr>
          <p:cNvSpPr txBox="1"/>
          <p:nvPr/>
        </p:nvSpPr>
        <p:spPr>
          <a:xfrm>
            <a:off x="1199535" y="5830529"/>
            <a:ext cx="7846142" cy="736355"/>
          </a:xfrm>
          <a:prstGeom prst="rect">
            <a:avLst/>
          </a:prstGeom>
          <a:noFill/>
        </p:spPr>
        <p:txBody>
          <a:bodyPr wrap="square" rtlCol="0">
            <a:spAutoFit/>
          </a:bodyPr>
          <a:lstStyle/>
          <a:p>
            <a:pPr>
              <a:lnSpc>
                <a:spcPct val="107000"/>
              </a:lnSpc>
              <a:spcAft>
                <a:spcPts val="800"/>
              </a:spcAft>
              <a:tabLst>
                <a:tab pos="955675" algn="l"/>
              </a:tabLst>
            </a:pPr>
            <a:r>
              <a:rPr lang="en-IN" sz="2000" kern="100" dirty="0">
                <a:effectLst/>
                <a:latin typeface="Inter"/>
                <a:ea typeface="Aptos" panose="020B0004020202020204" pitchFamily="34" charset="0"/>
                <a:cs typeface="Times New Roman" panose="02020603050405020304" pitchFamily="18" charset="0"/>
              </a:rPr>
              <a:t>Supply is constant over the year which is 23 million of quantity with the prices tag from 44.99$ to 57.99$.</a:t>
            </a:r>
          </a:p>
        </p:txBody>
      </p:sp>
      <p:pic>
        <p:nvPicPr>
          <p:cNvPr id="6" name="Picture 5">
            <a:extLst>
              <a:ext uri="{FF2B5EF4-FFF2-40B4-BE49-F238E27FC236}">
                <a16:creationId xmlns:a16="http://schemas.microsoft.com/office/drawing/2014/main" id="{D279E6F7-A82B-8888-8831-9AD04A391576}"/>
              </a:ext>
            </a:extLst>
          </p:cNvPr>
          <p:cNvPicPr>
            <a:picLocks noChangeAspect="1"/>
          </p:cNvPicPr>
          <p:nvPr/>
        </p:nvPicPr>
        <p:blipFill>
          <a:blip r:embed="rId2"/>
          <a:stretch>
            <a:fillRect/>
          </a:stretch>
        </p:blipFill>
        <p:spPr>
          <a:xfrm>
            <a:off x="1199535" y="568206"/>
            <a:ext cx="7645999" cy="5075510"/>
          </a:xfrm>
          <a:prstGeom prst="rect">
            <a:avLst/>
          </a:prstGeom>
        </p:spPr>
      </p:pic>
    </p:spTree>
    <p:extLst>
      <p:ext uri="{BB962C8B-B14F-4D97-AF65-F5344CB8AC3E}">
        <p14:creationId xmlns:p14="http://schemas.microsoft.com/office/powerpoint/2010/main" val="3489443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9837A0-5939-0366-DEC9-293A952F3859}"/>
              </a:ext>
            </a:extLst>
          </p:cNvPr>
          <p:cNvPicPr>
            <a:picLocks noChangeAspect="1"/>
          </p:cNvPicPr>
          <p:nvPr/>
        </p:nvPicPr>
        <p:blipFill>
          <a:blip r:embed="rId2"/>
          <a:stretch>
            <a:fillRect/>
          </a:stretch>
        </p:blipFill>
        <p:spPr>
          <a:xfrm>
            <a:off x="1061885" y="596928"/>
            <a:ext cx="7783650" cy="4830477"/>
          </a:xfrm>
          <a:prstGeom prst="rect">
            <a:avLst/>
          </a:prstGeom>
        </p:spPr>
      </p:pic>
      <p:sp>
        <p:nvSpPr>
          <p:cNvPr id="3" name="TextBox 2">
            <a:extLst>
              <a:ext uri="{FF2B5EF4-FFF2-40B4-BE49-F238E27FC236}">
                <a16:creationId xmlns:a16="http://schemas.microsoft.com/office/drawing/2014/main" id="{AD955788-7541-0E8E-CF1B-1532E642A91A}"/>
              </a:ext>
            </a:extLst>
          </p:cNvPr>
          <p:cNvSpPr txBox="1"/>
          <p:nvPr/>
        </p:nvSpPr>
        <p:spPr>
          <a:xfrm>
            <a:off x="1248697" y="5524716"/>
            <a:ext cx="7596837" cy="736355"/>
          </a:xfrm>
          <a:prstGeom prst="rect">
            <a:avLst/>
          </a:prstGeom>
          <a:noFill/>
        </p:spPr>
        <p:txBody>
          <a:bodyPr wrap="square" rtlCol="0">
            <a:spAutoFit/>
          </a:bodyPr>
          <a:lstStyle/>
          <a:p>
            <a:pPr>
              <a:lnSpc>
                <a:spcPct val="107000"/>
              </a:lnSpc>
              <a:spcAft>
                <a:spcPts val="800"/>
              </a:spcAft>
            </a:pPr>
            <a:r>
              <a:rPr lang="en-IN" sz="2000" kern="100" dirty="0">
                <a:effectLst/>
                <a:latin typeface="Inter"/>
                <a:ea typeface="Aptos" panose="020B0004020202020204" pitchFamily="34" charset="0"/>
                <a:cs typeface="Times New Roman" panose="02020603050405020304" pitchFamily="18" charset="0"/>
              </a:rPr>
              <a:t>In the period of 2 years from 2020 to 2022 the demand for Adobe is declining whereas price is inclining.</a:t>
            </a:r>
          </a:p>
        </p:txBody>
      </p:sp>
    </p:spTree>
    <p:extLst>
      <p:ext uri="{BB962C8B-B14F-4D97-AF65-F5344CB8AC3E}">
        <p14:creationId xmlns:p14="http://schemas.microsoft.com/office/powerpoint/2010/main" val="13871518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77DFD39-37B2-635A-D73F-C446C277B6CF}"/>
              </a:ext>
            </a:extLst>
          </p:cNvPr>
          <p:cNvPicPr>
            <a:picLocks noChangeAspect="1"/>
          </p:cNvPicPr>
          <p:nvPr/>
        </p:nvPicPr>
        <p:blipFill>
          <a:blip r:embed="rId2"/>
          <a:stretch>
            <a:fillRect/>
          </a:stretch>
        </p:blipFill>
        <p:spPr>
          <a:xfrm>
            <a:off x="1091381" y="476292"/>
            <a:ext cx="7754153" cy="4882289"/>
          </a:xfrm>
          <a:prstGeom prst="rect">
            <a:avLst/>
          </a:prstGeom>
        </p:spPr>
      </p:pic>
      <p:sp>
        <p:nvSpPr>
          <p:cNvPr id="3" name="TextBox 2">
            <a:extLst>
              <a:ext uri="{FF2B5EF4-FFF2-40B4-BE49-F238E27FC236}">
                <a16:creationId xmlns:a16="http://schemas.microsoft.com/office/drawing/2014/main" id="{FC63569D-83BD-1F25-E891-ED0A4FB0ED26}"/>
              </a:ext>
            </a:extLst>
          </p:cNvPr>
          <p:cNvSpPr txBox="1"/>
          <p:nvPr/>
        </p:nvSpPr>
        <p:spPr>
          <a:xfrm>
            <a:off x="1268361" y="5889523"/>
            <a:ext cx="7577173" cy="378565"/>
          </a:xfrm>
          <a:prstGeom prst="rect">
            <a:avLst/>
          </a:prstGeom>
          <a:noFill/>
        </p:spPr>
        <p:txBody>
          <a:bodyPr wrap="square" rtlCol="0">
            <a:spAutoFit/>
          </a:bodyPr>
          <a:lstStyle/>
          <a:p>
            <a:pPr>
              <a:lnSpc>
                <a:spcPct val="107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Supply is inclining with the time, but price is constant.</a:t>
            </a:r>
          </a:p>
        </p:txBody>
      </p:sp>
    </p:spTree>
    <p:extLst>
      <p:ext uri="{BB962C8B-B14F-4D97-AF65-F5344CB8AC3E}">
        <p14:creationId xmlns:p14="http://schemas.microsoft.com/office/powerpoint/2010/main" val="3195269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8E265B-6D22-1E6F-A712-1BD0CA26AB52}"/>
              </a:ext>
            </a:extLst>
          </p:cNvPr>
          <p:cNvPicPr>
            <a:picLocks noChangeAspect="1"/>
          </p:cNvPicPr>
          <p:nvPr/>
        </p:nvPicPr>
        <p:blipFill>
          <a:blip r:embed="rId2"/>
          <a:stretch>
            <a:fillRect/>
          </a:stretch>
        </p:blipFill>
        <p:spPr>
          <a:xfrm>
            <a:off x="1130711" y="527994"/>
            <a:ext cx="7714824" cy="4507441"/>
          </a:xfrm>
          <a:prstGeom prst="rect">
            <a:avLst/>
          </a:prstGeom>
        </p:spPr>
      </p:pic>
      <p:sp>
        <p:nvSpPr>
          <p:cNvPr id="3" name="TextBox 2">
            <a:extLst>
              <a:ext uri="{FF2B5EF4-FFF2-40B4-BE49-F238E27FC236}">
                <a16:creationId xmlns:a16="http://schemas.microsoft.com/office/drawing/2014/main" id="{372159AA-801C-652D-55B9-FEB09B81CE03}"/>
              </a:ext>
            </a:extLst>
          </p:cNvPr>
          <p:cNvSpPr txBox="1"/>
          <p:nvPr/>
        </p:nvSpPr>
        <p:spPr>
          <a:xfrm>
            <a:off x="1130712" y="5683045"/>
            <a:ext cx="7714824" cy="407035"/>
          </a:xfrm>
          <a:prstGeom prst="rect">
            <a:avLst/>
          </a:prstGeom>
          <a:noFill/>
        </p:spPr>
        <p:txBody>
          <a:bodyPr wrap="square" rtlCol="0">
            <a:spAutoFit/>
          </a:bodyPr>
          <a:lstStyle/>
          <a:p>
            <a:pPr>
              <a:lnSpc>
                <a:spcPct val="107000"/>
              </a:lnSpc>
              <a:spcAft>
                <a:spcPts val="800"/>
              </a:spcAft>
            </a:pPr>
            <a:r>
              <a:rPr lang="en-IN" sz="2000" kern="100" dirty="0">
                <a:effectLst/>
                <a:latin typeface="Inter"/>
                <a:ea typeface="Aptos" panose="020B0004020202020204" pitchFamily="34" charset="0"/>
                <a:cs typeface="Times New Roman" panose="02020603050405020304" pitchFamily="18" charset="0"/>
              </a:rPr>
              <a:t>Demand for Adobe is decreased when price increases in the year 2023</a:t>
            </a:r>
            <a:r>
              <a:rPr lang="en-IN" sz="1800" kern="100" dirty="0">
                <a:effectLst/>
                <a:latin typeface="Aptos" panose="020B0004020202020204" pitchFamily="34" charset="0"/>
                <a:ea typeface="Aptos" panose="020B0004020202020204" pitchFamily="34" charset="0"/>
                <a:cs typeface="Times New Roman" panose="02020603050405020304" pitchFamily="18" charset="0"/>
              </a:rPr>
              <a:t>.</a:t>
            </a:r>
          </a:p>
        </p:txBody>
      </p:sp>
    </p:spTree>
    <p:extLst>
      <p:ext uri="{BB962C8B-B14F-4D97-AF65-F5344CB8AC3E}">
        <p14:creationId xmlns:p14="http://schemas.microsoft.com/office/powerpoint/2010/main" val="8891087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42F2250-834A-7A9D-7EB4-CF2BCF6C6A8B}"/>
              </a:ext>
            </a:extLst>
          </p:cNvPr>
          <p:cNvPicPr>
            <a:picLocks noChangeAspect="1"/>
          </p:cNvPicPr>
          <p:nvPr/>
        </p:nvPicPr>
        <p:blipFill>
          <a:blip r:embed="rId2"/>
          <a:stretch>
            <a:fillRect/>
          </a:stretch>
        </p:blipFill>
        <p:spPr>
          <a:xfrm>
            <a:off x="1219201" y="579694"/>
            <a:ext cx="7626334" cy="4759221"/>
          </a:xfrm>
          <a:prstGeom prst="rect">
            <a:avLst/>
          </a:prstGeom>
        </p:spPr>
      </p:pic>
      <p:sp>
        <p:nvSpPr>
          <p:cNvPr id="3" name="TextBox 2">
            <a:extLst>
              <a:ext uri="{FF2B5EF4-FFF2-40B4-BE49-F238E27FC236}">
                <a16:creationId xmlns:a16="http://schemas.microsoft.com/office/drawing/2014/main" id="{3CE72FAC-30A3-3C82-86AC-A162BEF483B5}"/>
              </a:ext>
            </a:extLst>
          </p:cNvPr>
          <p:cNvSpPr txBox="1"/>
          <p:nvPr/>
        </p:nvSpPr>
        <p:spPr>
          <a:xfrm>
            <a:off x="1219201" y="5810865"/>
            <a:ext cx="7626335" cy="707886"/>
          </a:xfrm>
          <a:prstGeom prst="rect">
            <a:avLst/>
          </a:prstGeom>
          <a:noFill/>
        </p:spPr>
        <p:txBody>
          <a:bodyPr wrap="square" rtlCol="0">
            <a:spAutoFit/>
          </a:bodyPr>
          <a:lstStyle/>
          <a:p>
            <a:r>
              <a:rPr lang="en-IN" sz="2000" dirty="0">
                <a:effectLst/>
                <a:latin typeface="Inter"/>
                <a:ea typeface="Aptos" panose="020B0004020202020204" pitchFamily="34" charset="0"/>
                <a:cs typeface="Times New Roman" panose="02020603050405020304" pitchFamily="18" charset="0"/>
              </a:rPr>
              <a:t>The supply for Adobe is constant which is 25 million quantities, in 2023 but price of the product is fluctuated.</a:t>
            </a:r>
            <a:endParaRPr lang="en-IN" sz="2000" dirty="0">
              <a:latin typeface="Inter"/>
            </a:endParaRPr>
          </a:p>
        </p:txBody>
      </p:sp>
    </p:spTree>
    <p:extLst>
      <p:ext uri="{BB962C8B-B14F-4D97-AF65-F5344CB8AC3E}">
        <p14:creationId xmlns:p14="http://schemas.microsoft.com/office/powerpoint/2010/main" val="4095559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872AC-55AE-8CB2-8E0A-8AD45B133FE7}"/>
              </a:ext>
            </a:extLst>
          </p:cNvPr>
          <p:cNvSpPr>
            <a:spLocks noGrp="1"/>
          </p:cNvSpPr>
          <p:nvPr>
            <p:ph type="title"/>
          </p:nvPr>
        </p:nvSpPr>
        <p:spPr>
          <a:xfrm>
            <a:off x="687166" y="2595716"/>
            <a:ext cx="8596668" cy="2379406"/>
          </a:xfrm>
        </p:spPr>
        <p:txBody>
          <a:bodyPr>
            <a:normAutofit/>
          </a:bodyPr>
          <a:lstStyle/>
          <a:p>
            <a:pPr algn="ctr"/>
            <a:r>
              <a:rPr lang="en-IN" u="sng" kern="100" dirty="0">
                <a:solidFill>
                  <a:srgbClr val="00FFFF"/>
                </a:solidFill>
                <a:effectLst/>
                <a:ea typeface="Aptos" panose="020B0004020202020204" pitchFamily="34" charset="0"/>
                <a:cs typeface="Times New Roman" panose="02020603050405020304" pitchFamily="18" charset="0"/>
              </a:rPr>
              <a:t>Shift in Demand and Supply curve of Adobe </a:t>
            </a:r>
            <a:br>
              <a:rPr lang="en-IN" kern="100" dirty="0">
                <a:effectLst/>
                <a:latin typeface="Aptos" panose="020B0004020202020204" pitchFamily="34" charset="0"/>
                <a:ea typeface="Aptos" panose="020B0004020202020204" pitchFamily="34" charset="0"/>
                <a:cs typeface="Times New Roman" panose="02020603050405020304" pitchFamily="18" charset="0"/>
              </a:rPr>
            </a:br>
            <a:endParaRPr lang="en-IN" dirty="0"/>
          </a:p>
        </p:txBody>
      </p:sp>
    </p:spTree>
    <p:extLst>
      <p:ext uri="{BB962C8B-B14F-4D97-AF65-F5344CB8AC3E}">
        <p14:creationId xmlns:p14="http://schemas.microsoft.com/office/powerpoint/2010/main" val="36734867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3FEF819-A8A1-FF31-4B87-CADC9F3804FF}"/>
              </a:ext>
            </a:extLst>
          </p:cNvPr>
          <p:cNvPicPr>
            <a:picLocks noChangeAspect="1"/>
          </p:cNvPicPr>
          <p:nvPr/>
        </p:nvPicPr>
        <p:blipFill>
          <a:blip r:embed="rId2"/>
          <a:stretch>
            <a:fillRect/>
          </a:stretch>
        </p:blipFill>
        <p:spPr>
          <a:xfrm>
            <a:off x="1061885" y="487782"/>
            <a:ext cx="7783650" cy="4547653"/>
          </a:xfrm>
          <a:prstGeom prst="rect">
            <a:avLst/>
          </a:prstGeom>
        </p:spPr>
      </p:pic>
      <p:sp>
        <p:nvSpPr>
          <p:cNvPr id="3" name="TextBox 2">
            <a:extLst>
              <a:ext uri="{FF2B5EF4-FFF2-40B4-BE49-F238E27FC236}">
                <a16:creationId xmlns:a16="http://schemas.microsoft.com/office/drawing/2014/main" id="{61F26A59-6A3D-1EF5-FB19-D0EE90D52A78}"/>
              </a:ext>
            </a:extLst>
          </p:cNvPr>
          <p:cNvSpPr txBox="1"/>
          <p:nvPr/>
        </p:nvSpPr>
        <p:spPr>
          <a:xfrm>
            <a:off x="1061885" y="5240593"/>
            <a:ext cx="7783650" cy="1394997"/>
          </a:xfrm>
          <a:prstGeom prst="rect">
            <a:avLst/>
          </a:prstGeom>
          <a:noFill/>
        </p:spPr>
        <p:txBody>
          <a:bodyPr wrap="square" rtlCol="0">
            <a:spAutoFit/>
          </a:bodyPr>
          <a:lstStyle/>
          <a:p>
            <a:pPr>
              <a:lnSpc>
                <a:spcPct val="107000"/>
              </a:lnSpc>
              <a:spcAft>
                <a:spcPts val="800"/>
              </a:spcAft>
            </a:pPr>
            <a:r>
              <a:rPr lang="en-IN" sz="2000" kern="100" dirty="0">
                <a:effectLst/>
                <a:latin typeface="Inter"/>
                <a:ea typeface="Aptos" panose="020B0004020202020204" pitchFamily="34" charset="0"/>
                <a:cs typeface="Times New Roman" panose="02020603050405020304" pitchFamily="18" charset="0"/>
              </a:rPr>
              <a:t>In the above graph, the demand is continuously increasing over the period from 2019 to 2023 where in 2019 and 2020 to 2022 the demand is continuously decreasing when price is growing whereas, there is drastic change in 2023. </a:t>
            </a:r>
          </a:p>
        </p:txBody>
      </p:sp>
    </p:spTree>
    <p:extLst>
      <p:ext uri="{BB962C8B-B14F-4D97-AF65-F5344CB8AC3E}">
        <p14:creationId xmlns:p14="http://schemas.microsoft.com/office/powerpoint/2010/main" val="16451004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3A8BF7B-8AA2-6E53-436B-BB00EEF443D7}"/>
              </a:ext>
            </a:extLst>
          </p:cNvPr>
          <p:cNvPicPr>
            <a:picLocks noChangeAspect="1"/>
          </p:cNvPicPr>
          <p:nvPr/>
        </p:nvPicPr>
        <p:blipFill>
          <a:blip r:embed="rId2"/>
          <a:stretch>
            <a:fillRect/>
          </a:stretch>
        </p:blipFill>
        <p:spPr>
          <a:xfrm>
            <a:off x="1238865" y="591185"/>
            <a:ext cx="7606669" cy="4444250"/>
          </a:xfrm>
          <a:prstGeom prst="rect">
            <a:avLst/>
          </a:prstGeom>
        </p:spPr>
      </p:pic>
      <p:sp>
        <p:nvSpPr>
          <p:cNvPr id="3" name="TextBox 2">
            <a:extLst>
              <a:ext uri="{FF2B5EF4-FFF2-40B4-BE49-F238E27FC236}">
                <a16:creationId xmlns:a16="http://schemas.microsoft.com/office/drawing/2014/main" id="{F845A608-376A-0DDC-7826-E7115E257610}"/>
              </a:ext>
            </a:extLst>
          </p:cNvPr>
          <p:cNvSpPr txBox="1"/>
          <p:nvPr/>
        </p:nvSpPr>
        <p:spPr>
          <a:xfrm>
            <a:off x="1238865" y="5329083"/>
            <a:ext cx="7606669" cy="1139799"/>
          </a:xfrm>
          <a:prstGeom prst="rect">
            <a:avLst/>
          </a:prstGeom>
          <a:noFill/>
        </p:spPr>
        <p:txBody>
          <a:bodyPr wrap="square" rtlCol="0">
            <a:spAutoFit/>
          </a:bodyPr>
          <a:lstStyle/>
          <a:p>
            <a:pPr>
              <a:lnSpc>
                <a:spcPct val="107000"/>
              </a:lnSpc>
              <a:spcAft>
                <a:spcPts val="800"/>
              </a:spcAft>
            </a:pPr>
            <a:r>
              <a:rPr lang="en-IN" sz="2000" kern="100" dirty="0">
                <a:effectLst/>
                <a:latin typeface="Inter"/>
                <a:ea typeface="Aptos" panose="020B0004020202020204" pitchFamily="34" charset="0"/>
                <a:cs typeface="Times New Roman" panose="02020603050405020304" pitchFamily="18" charset="0"/>
              </a:rPr>
              <a:t>The above line graph of Adobe has constant number of supplies over the period.</a:t>
            </a:r>
          </a:p>
          <a:p>
            <a:pPr>
              <a:lnSpc>
                <a:spcPct val="107000"/>
              </a:lnSpc>
              <a:spcAft>
                <a:spcPts val="800"/>
              </a:spcAft>
            </a:pPr>
            <a:r>
              <a:rPr lang="en-IN" sz="1800" kern="100" dirty="0">
                <a:effectLst/>
                <a:latin typeface="Aptos" panose="020B0004020202020204" pitchFamily="34" charset="0"/>
                <a:ea typeface="Aptos" panose="020B0004020202020204" pitchFamily="34" charset="0"/>
                <a:cs typeface="Times New Roman" panose="02020603050405020304" pitchFamily="18" charset="0"/>
              </a:rPr>
              <a:t> </a:t>
            </a:r>
          </a:p>
        </p:txBody>
      </p:sp>
    </p:spTree>
    <p:extLst>
      <p:ext uri="{BB962C8B-B14F-4D97-AF65-F5344CB8AC3E}">
        <p14:creationId xmlns:p14="http://schemas.microsoft.com/office/powerpoint/2010/main" val="18322036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70969-A59F-EF3F-A9FC-F4AED47C6EF5}"/>
              </a:ext>
            </a:extLst>
          </p:cNvPr>
          <p:cNvSpPr>
            <a:spLocks noGrp="1"/>
          </p:cNvSpPr>
          <p:nvPr>
            <p:ph type="title"/>
          </p:nvPr>
        </p:nvSpPr>
        <p:spPr>
          <a:xfrm>
            <a:off x="667501" y="2615381"/>
            <a:ext cx="8596668" cy="1320800"/>
          </a:xfrm>
        </p:spPr>
        <p:txBody>
          <a:bodyPr>
            <a:normAutofit/>
          </a:bodyPr>
          <a:lstStyle/>
          <a:p>
            <a:pPr algn="ctr"/>
            <a:r>
              <a:rPr lang="en-IN" u="sng" dirty="0" err="1">
                <a:solidFill>
                  <a:srgbClr val="00FFFF"/>
                </a:solidFill>
                <a:effectLst/>
                <a:ea typeface="Aptos" panose="020B0004020202020204" pitchFamily="34" charset="0"/>
                <a:cs typeface="Times New Roman" panose="02020603050405020304" pitchFamily="18" charset="0"/>
              </a:rPr>
              <a:t>Equlibriuim</a:t>
            </a:r>
            <a:r>
              <a:rPr lang="en-IN" u="sng" dirty="0">
                <a:solidFill>
                  <a:srgbClr val="00FFFF"/>
                </a:solidFill>
                <a:effectLst/>
                <a:ea typeface="Aptos" panose="020B0004020202020204" pitchFamily="34" charset="0"/>
                <a:cs typeface="Times New Roman" panose="02020603050405020304" pitchFamily="18" charset="0"/>
              </a:rPr>
              <a:t> Price for Adobe Inc. </a:t>
            </a:r>
            <a:endParaRPr lang="en-IN" u="sng" dirty="0">
              <a:solidFill>
                <a:srgbClr val="00FFFF"/>
              </a:solidFill>
            </a:endParaRPr>
          </a:p>
        </p:txBody>
      </p:sp>
    </p:spTree>
    <p:extLst>
      <p:ext uri="{BB962C8B-B14F-4D97-AF65-F5344CB8AC3E}">
        <p14:creationId xmlns:p14="http://schemas.microsoft.com/office/powerpoint/2010/main" val="27352856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4158D18-8CA6-4719-B287-4F58C6711B44}"/>
              </a:ext>
            </a:extLst>
          </p:cNvPr>
          <p:cNvPicPr>
            <a:picLocks noChangeAspect="1"/>
          </p:cNvPicPr>
          <p:nvPr/>
        </p:nvPicPr>
        <p:blipFill>
          <a:blip r:embed="rId2"/>
          <a:stretch>
            <a:fillRect/>
          </a:stretch>
        </p:blipFill>
        <p:spPr>
          <a:xfrm>
            <a:off x="1455175" y="461926"/>
            <a:ext cx="7390360" cy="4317870"/>
          </a:xfrm>
          <a:prstGeom prst="rect">
            <a:avLst/>
          </a:prstGeom>
        </p:spPr>
      </p:pic>
      <p:sp>
        <p:nvSpPr>
          <p:cNvPr id="4" name="TextBox 3">
            <a:extLst>
              <a:ext uri="{FF2B5EF4-FFF2-40B4-BE49-F238E27FC236}">
                <a16:creationId xmlns:a16="http://schemas.microsoft.com/office/drawing/2014/main" id="{47CB7EF1-33CC-E80C-135B-CF7CF1568B92}"/>
              </a:ext>
            </a:extLst>
          </p:cNvPr>
          <p:cNvSpPr txBox="1"/>
          <p:nvPr/>
        </p:nvSpPr>
        <p:spPr>
          <a:xfrm>
            <a:off x="1278194" y="4928127"/>
            <a:ext cx="7875637" cy="1908215"/>
          </a:xfrm>
          <a:prstGeom prst="rect">
            <a:avLst/>
          </a:prstGeom>
          <a:noFill/>
        </p:spPr>
        <p:txBody>
          <a:bodyPr wrap="square" rtlCol="0">
            <a:spAutoFit/>
          </a:bodyPr>
          <a:lstStyle/>
          <a:p>
            <a:r>
              <a:rPr lang="en-IN" sz="2000" kern="100" dirty="0">
                <a:effectLst/>
                <a:latin typeface="Inter"/>
                <a:ea typeface="Aptos" panose="020B0004020202020204" pitchFamily="34" charset="0"/>
                <a:cs typeface="Times New Roman" panose="02020603050405020304" pitchFamily="18" charset="0"/>
              </a:rPr>
              <a:t>Equilibrium price also known as market clearing price, is the price at which the quantity of goods demanded by consumers is equal to the quantity of goods supplied by producers. It is the price where the plans of consumes, and producers agree. In 2019, the equilibrium price for adobe is 52.99$ because demand and supply curve cross at the same time in this point.</a:t>
            </a:r>
          </a:p>
          <a:p>
            <a:endParaRPr lang="en-IN" dirty="0"/>
          </a:p>
        </p:txBody>
      </p:sp>
    </p:spTree>
    <p:extLst>
      <p:ext uri="{BB962C8B-B14F-4D97-AF65-F5344CB8AC3E}">
        <p14:creationId xmlns:p14="http://schemas.microsoft.com/office/powerpoint/2010/main" val="10143275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DC9A37-995B-9BD8-899E-C8D4B6D85542}"/>
              </a:ext>
            </a:extLst>
          </p:cNvPr>
          <p:cNvPicPr>
            <a:picLocks noChangeAspect="1"/>
          </p:cNvPicPr>
          <p:nvPr/>
        </p:nvPicPr>
        <p:blipFill>
          <a:blip r:embed="rId2"/>
          <a:stretch>
            <a:fillRect/>
          </a:stretch>
        </p:blipFill>
        <p:spPr>
          <a:xfrm>
            <a:off x="1288026" y="608671"/>
            <a:ext cx="7528011" cy="4937749"/>
          </a:xfrm>
          <a:prstGeom prst="rect">
            <a:avLst/>
          </a:prstGeom>
        </p:spPr>
      </p:pic>
      <p:sp>
        <p:nvSpPr>
          <p:cNvPr id="3" name="TextBox 2">
            <a:extLst>
              <a:ext uri="{FF2B5EF4-FFF2-40B4-BE49-F238E27FC236}">
                <a16:creationId xmlns:a16="http://schemas.microsoft.com/office/drawing/2014/main" id="{576854C9-EEDB-EB90-4F05-DB7F77F08504}"/>
              </a:ext>
            </a:extLst>
          </p:cNvPr>
          <p:cNvSpPr txBox="1"/>
          <p:nvPr/>
        </p:nvSpPr>
        <p:spPr>
          <a:xfrm>
            <a:off x="1199536" y="5842294"/>
            <a:ext cx="7528011" cy="407035"/>
          </a:xfrm>
          <a:prstGeom prst="rect">
            <a:avLst/>
          </a:prstGeom>
          <a:noFill/>
        </p:spPr>
        <p:txBody>
          <a:bodyPr wrap="square" rtlCol="0">
            <a:spAutoFit/>
          </a:bodyPr>
          <a:lstStyle/>
          <a:p>
            <a:pPr>
              <a:lnSpc>
                <a:spcPct val="107000"/>
              </a:lnSpc>
              <a:spcAft>
                <a:spcPts val="800"/>
              </a:spcAft>
            </a:pPr>
            <a:r>
              <a:rPr lang="en-IN" sz="2000" kern="100" dirty="0">
                <a:effectLst/>
                <a:latin typeface="Inter"/>
                <a:ea typeface="Aptos" panose="020B0004020202020204" pitchFamily="34" charset="0"/>
                <a:cs typeface="Times New Roman" panose="02020603050405020304" pitchFamily="18" charset="0"/>
              </a:rPr>
              <a:t>Equilibrium price for year from 2020 to 2022 is 51.49$</a:t>
            </a:r>
          </a:p>
        </p:txBody>
      </p:sp>
    </p:spTree>
    <p:extLst>
      <p:ext uri="{BB962C8B-B14F-4D97-AF65-F5344CB8AC3E}">
        <p14:creationId xmlns:p14="http://schemas.microsoft.com/office/powerpoint/2010/main" val="4455191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BC50633-D159-4596-74E9-46EDC2AA2168}"/>
              </a:ext>
            </a:extLst>
          </p:cNvPr>
          <p:cNvPicPr>
            <a:picLocks noChangeAspect="1"/>
          </p:cNvPicPr>
          <p:nvPr/>
        </p:nvPicPr>
        <p:blipFill>
          <a:blip r:embed="rId2"/>
          <a:stretch>
            <a:fillRect/>
          </a:stretch>
        </p:blipFill>
        <p:spPr>
          <a:xfrm>
            <a:off x="1543665" y="769266"/>
            <a:ext cx="7301869" cy="4266169"/>
          </a:xfrm>
          <a:prstGeom prst="rect">
            <a:avLst/>
          </a:prstGeom>
        </p:spPr>
      </p:pic>
      <p:sp>
        <p:nvSpPr>
          <p:cNvPr id="11" name="TextBox 10">
            <a:extLst>
              <a:ext uri="{FF2B5EF4-FFF2-40B4-BE49-F238E27FC236}">
                <a16:creationId xmlns:a16="http://schemas.microsoft.com/office/drawing/2014/main" id="{E9E5F8C7-42B9-4B02-41A8-1B6336490ECE}"/>
              </a:ext>
            </a:extLst>
          </p:cNvPr>
          <p:cNvSpPr txBox="1"/>
          <p:nvPr/>
        </p:nvSpPr>
        <p:spPr>
          <a:xfrm>
            <a:off x="1543664" y="5358581"/>
            <a:ext cx="7301869" cy="407035"/>
          </a:xfrm>
          <a:prstGeom prst="rect">
            <a:avLst/>
          </a:prstGeom>
          <a:noFill/>
        </p:spPr>
        <p:txBody>
          <a:bodyPr wrap="square" rtlCol="0">
            <a:spAutoFit/>
          </a:bodyPr>
          <a:lstStyle/>
          <a:p>
            <a:pPr>
              <a:lnSpc>
                <a:spcPct val="107000"/>
              </a:lnSpc>
              <a:spcAft>
                <a:spcPts val="800"/>
              </a:spcAft>
            </a:pPr>
            <a:r>
              <a:rPr lang="en-IN" sz="2000" kern="100" dirty="0">
                <a:effectLst/>
                <a:latin typeface="Inter"/>
                <a:ea typeface="Aptos" panose="020B0004020202020204" pitchFamily="34" charset="0"/>
                <a:cs typeface="Times New Roman" panose="02020603050405020304" pitchFamily="18" charset="0"/>
              </a:rPr>
              <a:t>Equilibrium price for year 2023 is $54.99</a:t>
            </a:r>
          </a:p>
        </p:txBody>
      </p:sp>
    </p:spTree>
    <p:extLst>
      <p:ext uri="{BB962C8B-B14F-4D97-AF65-F5344CB8AC3E}">
        <p14:creationId xmlns:p14="http://schemas.microsoft.com/office/powerpoint/2010/main" val="27200345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3C228-11B7-75CB-2A24-2BCADF362947}"/>
              </a:ext>
            </a:extLst>
          </p:cNvPr>
          <p:cNvSpPr>
            <a:spLocks noGrp="1"/>
          </p:cNvSpPr>
          <p:nvPr>
            <p:ph type="title"/>
          </p:nvPr>
        </p:nvSpPr>
        <p:spPr/>
        <p:txBody>
          <a:bodyPr>
            <a:noAutofit/>
          </a:bodyPr>
          <a:lstStyle/>
          <a:p>
            <a:r>
              <a:rPr lang="en-US" u="sng" dirty="0">
                <a:solidFill>
                  <a:srgbClr val="00FFFF"/>
                </a:solidFill>
              </a:rPr>
              <a:t>An Analysis of Price and Demand Before, During, and After the Pandemic</a:t>
            </a:r>
            <a:endParaRPr lang="en-IN" u="sng" dirty="0">
              <a:solidFill>
                <a:srgbClr val="00FFFF"/>
              </a:solidFill>
            </a:endParaRPr>
          </a:p>
        </p:txBody>
      </p:sp>
      <p:sp>
        <p:nvSpPr>
          <p:cNvPr id="3" name="Content Placeholder 2">
            <a:extLst>
              <a:ext uri="{FF2B5EF4-FFF2-40B4-BE49-F238E27FC236}">
                <a16:creationId xmlns:a16="http://schemas.microsoft.com/office/drawing/2014/main" id="{03C204E5-9F02-673A-7A36-66BE867A401E}"/>
              </a:ext>
            </a:extLst>
          </p:cNvPr>
          <p:cNvSpPr>
            <a:spLocks noGrp="1"/>
          </p:cNvSpPr>
          <p:nvPr>
            <p:ph idx="1"/>
          </p:nvPr>
        </p:nvSpPr>
        <p:spPr/>
        <p:txBody>
          <a:bodyPr>
            <a:normAutofit/>
          </a:bodyPr>
          <a:lstStyle/>
          <a:p>
            <a:pPr marL="0" indent="0" algn="just">
              <a:buNone/>
            </a:pPr>
            <a:r>
              <a:rPr lang="en-US" sz="2000" dirty="0">
                <a:solidFill>
                  <a:schemeClr val="tx1"/>
                </a:solidFill>
                <a:latin typeface="Inter"/>
              </a:rPr>
              <a:t>The effects of the COVID-19 pandemic on Adobe Inc. will be discussed here, with a focus on how price, demand, and supply interacted during three distinct phases: before, during, and after the pandemic. It will be analyzed how Adobe adjusted its pricing strategies and product offerings in response to shifting market dynamics, showcasing the company’s adaptability and strength in utilizing its subscription-based model to address changing consumer demands and navigate economic challenges.</a:t>
            </a:r>
          </a:p>
          <a:p>
            <a:pPr marL="0" indent="0" algn="just">
              <a:buNone/>
            </a:pPr>
            <a:r>
              <a:rPr lang="en-US" sz="2000" dirty="0">
                <a:solidFill>
                  <a:schemeClr val="tx1"/>
                </a:solidFill>
                <a:latin typeface="Inter"/>
              </a:rPr>
              <a:t>Keeping in mind mainly two factors:</a:t>
            </a:r>
          </a:p>
          <a:p>
            <a:pPr algn="just">
              <a:buFont typeface="Arial" panose="020B0604020202020204" pitchFamily="34" charset="0"/>
              <a:buChar char="•"/>
            </a:pPr>
            <a:r>
              <a:rPr lang="en-US" sz="2000" dirty="0">
                <a:solidFill>
                  <a:schemeClr val="tx1"/>
                </a:solidFill>
                <a:latin typeface="Inter"/>
              </a:rPr>
              <a:t>Price and quantity demanded.</a:t>
            </a:r>
          </a:p>
          <a:p>
            <a:pPr algn="just">
              <a:buFont typeface="Arial" panose="020B0604020202020204" pitchFamily="34" charset="0"/>
              <a:buChar char="•"/>
            </a:pPr>
            <a:r>
              <a:rPr lang="en-US" sz="2000" dirty="0">
                <a:solidFill>
                  <a:schemeClr val="tx1"/>
                </a:solidFill>
                <a:latin typeface="Inter"/>
              </a:rPr>
              <a:t>Price and quantity supplied.</a:t>
            </a:r>
            <a:endParaRPr lang="en-IN" sz="2000" dirty="0">
              <a:solidFill>
                <a:schemeClr val="tx1"/>
              </a:solidFill>
              <a:latin typeface="Inter"/>
            </a:endParaRPr>
          </a:p>
        </p:txBody>
      </p:sp>
    </p:spTree>
    <p:extLst>
      <p:ext uri="{BB962C8B-B14F-4D97-AF65-F5344CB8AC3E}">
        <p14:creationId xmlns:p14="http://schemas.microsoft.com/office/powerpoint/2010/main" val="2237993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153A1-4692-4ECF-2136-4D01BCD58F79}"/>
              </a:ext>
            </a:extLst>
          </p:cNvPr>
          <p:cNvSpPr>
            <a:spLocks noGrp="1"/>
          </p:cNvSpPr>
          <p:nvPr>
            <p:ph type="title"/>
          </p:nvPr>
        </p:nvSpPr>
        <p:spPr/>
        <p:txBody>
          <a:bodyPr/>
          <a:lstStyle/>
          <a:p>
            <a:r>
              <a:rPr lang="en-IN" u="sng" dirty="0">
                <a:solidFill>
                  <a:srgbClr val="00FFFF"/>
                </a:solidFill>
              </a:rPr>
              <a:t>Before COVID-19 (Pre-2020)</a:t>
            </a:r>
          </a:p>
        </p:txBody>
      </p:sp>
      <p:sp>
        <p:nvSpPr>
          <p:cNvPr id="3" name="Content Placeholder 2">
            <a:extLst>
              <a:ext uri="{FF2B5EF4-FFF2-40B4-BE49-F238E27FC236}">
                <a16:creationId xmlns:a16="http://schemas.microsoft.com/office/drawing/2014/main" id="{3DB3E4D3-4D03-04C4-D90F-475D550353E1}"/>
              </a:ext>
            </a:extLst>
          </p:cNvPr>
          <p:cNvSpPr>
            <a:spLocks noGrp="1"/>
          </p:cNvSpPr>
          <p:nvPr>
            <p:ph idx="1"/>
          </p:nvPr>
        </p:nvSpPr>
        <p:spPr>
          <a:xfrm>
            <a:off x="677334" y="1390651"/>
            <a:ext cx="8596668" cy="4650712"/>
          </a:xfrm>
        </p:spPr>
        <p:txBody>
          <a:bodyPr>
            <a:normAutofit/>
          </a:bodyPr>
          <a:lstStyle/>
          <a:p>
            <a:pPr>
              <a:buFont typeface="Arial" panose="020B0604020202020204" pitchFamily="34" charset="0"/>
              <a:buChar char="•"/>
            </a:pPr>
            <a:endParaRPr lang="en-IN" sz="2000" dirty="0">
              <a:latin typeface="Inter"/>
            </a:endParaRPr>
          </a:p>
          <a:p>
            <a:pPr algn="just">
              <a:buFont typeface="Arial" panose="020B0604020202020204" pitchFamily="34" charset="0"/>
              <a:buChar char="•"/>
            </a:pPr>
            <a:r>
              <a:rPr lang="en-IN" sz="2000" b="1" dirty="0">
                <a:solidFill>
                  <a:srgbClr val="FFFF00"/>
                </a:solidFill>
                <a:latin typeface="Inter"/>
              </a:rPr>
              <a:t>Price and Quantity Demanded:</a:t>
            </a:r>
          </a:p>
          <a:p>
            <a:pPr lvl="1" algn="just">
              <a:buFont typeface="Arial" panose="020B0604020202020204" pitchFamily="34" charset="0"/>
              <a:buChar char="•"/>
            </a:pPr>
            <a:r>
              <a:rPr lang="en-US" sz="2000" b="0" i="0" dirty="0">
                <a:solidFill>
                  <a:schemeClr val="tx1"/>
                </a:solidFill>
                <a:effectLst/>
                <a:latin typeface="Inter"/>
              </a:rPr>
              <a:t>The demand for Adobe products remained consistently strong, thanks to their diverse offerings like the Creative Suite, which cater to fields such as graphic design, media, and publishing.</a:t>
            </a:r>
          </a:p>
          <a:p>
            <a:pPr lvl="1" algn="just">
              <a:buFont typeface="Arial" panose="020B0604020202020204" pitchFamily="34" charset="0"/>
              <a:buChar char="•"/>
            </a:pPr>
            <a:r>
              <a:rPr lang="en-US" sz="2000" b="0" i="0" dirty="0">
                <a:solidFill>
                  <a:schemeClr val="tx1"/>
                </a:solidFill>
                <a:effectLst/>
                <a:latin typeface="Inter"/>
              </a:rPr>
              <a:t>The demand for these products was quite inelastic, indicating that even with minor price changes, customers continued to seek out Adobe's solutions.</a:t>
            </a:r>
          </a:p>
          <a:p>
            <a:pPr lvl="1" algn="just">
              <a:buFont typeface="Arial" panose="020B0604020202020204" pitchFamily="34" charset="0"/>
              <a:buChar char="•"/>
            </a:pPr>
            <a:r>
              <a:rPr lang="en-US" sz="2000" b="0" i="0" dirty="0">
                <a:solidFill>
                  <a:schemeClr val="tx1"/>
                </a:solidFill>
                <a:effectLst/>
                <a:latin typeface="Inter"/>
              </a:rPr>
              <a:t> Although Adobe initially sold perpetual licenses and experienced some declines in demand due to price increases, the overall interest in their brand stayed solid.</a:t>
            </a:r>
            <a:endParaRPr lang="en-IN" sz="2000" dirty="0">
              <a:solidFill>
                <a:schemeClr val="tx1"/>
              </a:solidFill>
              <a:latin typeface="Inter"/>
            </a:endParaRPr>
          </a:p>
        </p:txBody>
      </p:sp>
    </p:spTree>
    <p:extLst>
      <p:ext uri="{BB962C8B-B14F-4D97-AF65-F5344CB8AC3E}">
        <p14:creationId xmlns:p14="http://schemas.microsoft.com/office/powerpoint/2010/main" val="39734734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306DD-577F-B66D-433B-9169E1F55752}"/>
              </a:ext>
            </a:extLst>
          </p:cNvPr>
          <p:cNvSpPr>
            <a:spLocks noGrp="1"/>
          </p:cNvSpPr>
          <p:nvPr>
            <p:ph type="title"/>
          </p:nvPr>
        </p:nvSpPr>
        <p:spPr/>
        <p:txBody>
          <a:bodyPr/>
          <a:lstStyle/>
          <a:p>
            <a:r>
              <a:rPr lang="en-IN" u="sng" dirty="0">
                <a:solidFill>
                  <a:srgbClr val="00FFFF"/>
                </a:solidFill>
              </a:rPr>
              <a:t>Before COVID-19 (Pre-2020)</a:t>
            </a:r>
            <a:endParaRPr lang="en-IN" dirty="0">
              <a:solidFill>
                <a:srgbClr val="00FFFF"/>
              </a:solidFill>
            </a:endParaRPr>
          </a:p>
        </p:txBody>
      </p:sp>
      <p:sp>
        <p:nvSpPr>
          <p:cNvPr id="3" name="Content Placeholder 2">
            <a:extLst>
              <a:ext uri="{FF2B5EF4-FFF2-40B4-BE49-F238E27FC236}">
                <a16:creationId xmlns:a16="http://schemas.microsoft.com/office/drawing/2014/main" id="{0D6671C1-3358-6FE4-FC18-7F9D1AE2F660}"/>
              </a:ext>
            </a:extLst>
          </p:cNvPr>
          <p:cNvSpPr>
            <a:spLocks noGrp="1"/>
          </p:cNvSpPr>
          <p:nvPr>
            <p:ph idx="1"/>
          </p:nvPr>
        </p:nvSpPr>
        <p:spPr>
          <a:xfrm>
            <a:off x="677334" y="1828801"/>
            <a:ext cx="8596668" cy="4212562"/>
          </a:xfrm>
        </p:spPr>
        <p:txBody>
          <a:bodyPr>
            <a:normAutofit/>
          </a:bodyPr>
          <a:lstStyle/>
          <a:p>
            <a:pPr algn="just">
              <a:buFont typeface="Arial" panose="020B0604020202020204" pitchFamily="34" charset="0"/>
              <a:buChar char="•"/>
            </a:pPr>
            <a:r>
              <a:rPr lang="en-IN" sz="2000" b="1" dirty="0">
                <a:solidFill>
                  <a:srgbClr val="FFFF00"/>
                </a:solidFill>
                <a:latin typeface="Inter"/>
              </a:rPr>
              <a:t>Price and Quantity Supplied:</a:t>
            </a:r>
          </a:p>
          <a:p>
            <a:pPr lvl="1" algn="just">
              <a:buFont typeface="Arial" panose="020B0604020202020204" pitchFamily="34" charset="0"/>
              <a:buChar char="•"/>
            </a:pPr>
            <a:r>
              <a:rPr lang="en-US" sz="2000" b="0" i="0" dirty="0">
                <a:solidFill>
                  <a:schemeClr val="tx1"/>
                </a:solidFill>
                <a:effectLst/>
                <a:latin typeface="Inter"/>
              </a:rPr>
              <a:t>Adobe maintained a robust and effective supply chain, delivering software through both physical and digital means. </a:t>
            </a:r>
          </a:p>
          <a:p>
            <a:pPr lvl="1" algn="just">
              <a:buFont typeface="Arial" panose="020B0604020202020204" pitchFamily="34" charset="0"/>
              <a:buChar char="•"/>
            </a:pPr>
            <a:r>
              <a:rPr lang="en-US" sz="2000" b="0" i="0" dirty="0">
                <a:solidFill>
                  <a:schemeClr val="tx1"/>
                </a:solidFill>
                <a:effectLst/>
                <a:latin typeface="Inter"/>
              </a:rPr>
              <a:t>Their strong market presence allowed them to easily ramp up production to satisfy customer needs. </a:t>
            </a:r>
          </a:p>
          <a:p>
            <a:pPr lvl="1" algn="just">
              <a:buFont typeface="Arial" panose="020B0604020202020204" pitchFamily="34" charset="0"/>
              <a:buChar char="•"/>
            </a:pPr>
            <a:r>
              <a:rPr lang="en-US" sz="2000" b="0" i="0" dirty="0">
                <a:solidFill>
                  <a:schemeClr val="tx1"/>
                </a:solidFill>
                <a:effectLst/>
                <a:latin typeface="Inter"/>
              </a:rPr>
              <a:t>There was a clear connection between pricing and supply, as rising prices typically encouraged Adobe to invest more in expanding their offerings, such as additional licenses or software enhancements.</a:t>
            </a:r>
            <a:endParaRPr lang="en-IN" sz="2000" dirty="0">
              <a:solidFill>
                <a:schemeClr val="tx1"/>
              </a:solidFill>
              <a:latin typeface="Inter"/>
            </a:endParaRPr>
          </a:p>
        </p:txBody>
      </p:sp>
    </p:spTree>
    <p:extLst>
      <p:ext uri="{BB962C8B-B14F-4D97-AF65-F5344CB8AC3E}">
        <p14:creationId xmlns:p14="http://schemas.microsoft.com/office/powerpoint/2010/main" val="10494658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6AEF8-4A1E-E7E1-15FD-785E6563F006}"/>
              </a:ext>
            </a:extLst>
          </p:cNvPr>
          <p:cNvSpPr>
            <a:spLocks noGrp="1"/>
          </p:cNvSpPr>
          <p:nvPr>
            <p:ph type="title"/>
          </p:nvPr>
        </p:nvSpPr>
        <p:spPr/>
        <p:txBody>
          <a:bodyPr/>
          <a:lstStyle/>
          <a:p>
            <a:r>
              <a:rPr lang="en-IN" u="sng" dirty="0">
                <a:solidFill>
                  <a:srgbClr val="00FFFF"/>
                </a:solidFill>
              </a:rPr>
              <a:t>During COVID-19 (2020-2022)</a:t>
            </a:r>
          </a:p>
        </p:txBody>
      </p:sp>
      <p:sp>
        <p:nvSpPr>
          <p:cNvPr id="3" name="Content Placeholder 2">
            <a:extLst>
              <a:ext uri="{FF2B5EF4-FFF2-40B4-BE49-F238E27FC236}">
                <a16:creationId xmlns:a16="http://schemas.microsoft.com/office/drawing/2014/main" id="{FFA7BEE6-C34D-64FA-1DF1-D801AF003D68}"/>
              </a:ext>
            </a:extLst>
          </p:cNvPr>
          <p:cNvSpPr>
            <a:spLocks noGrp="1"/>
          </p:cNvSpPr>
          <p:nvPr>
            <p:ph idx="1"/>
          </p:nvPr>
        </p:nvSpPr>
        <p:spPr>
          <a:xfrm>
            <a:off x="677334" y="1847849"/>
            <a:ext cx="8596668" cy="4193513"/>
          </a:xfrm>
        </p:spPr>
        <p:txBody>
          <a:bodyPr>
            <a:normAutofit lnSpcReduction="10000"/>
          </a:bodyPr>
          <a:lstStyle/>
          <a:p>
            <a:pPr algn="just">
              <a:buFont typeface="Arial" panose="020B0604020202020204" pitchFamily="34" charset="0"/>
              <a:buChar char="•"/>
            </a:pPr>
            <a:r>
              <a:rPr lang="en-IN" sz="2000" b="1" dirty="0">
                <a:solidFill>
                  <a:srgbClr val="FFFF00"/>
                </a:solidFill>
                <a:latin typeface="Inter"/>
              </a:rPr>
              <a:t>Price and Quantity Demanded:</a:t>
            </a:r>
          </a:p>
          <a:p>
            <a:pPr lvl="1" algn="just">
              <a:buFont typeface="Arial" panose="020B0604020202020204" pitchFamily="34" charset="0"/>
              <a:buChar char="•"/>
            </a:pPr>
            <a:r>
              <a:rPr lang="en-US" sz="2000" b="0" i="0" dirty="0">
                <a:solidFill>
                  <a:schemeClr val="tx1"/>
                </a:solidFill>
                <a:effectLst/>
                <a:latin typeface="Inter"/>
              </a:rPr>
              <a:t>The demand for Adobe's software experienced a notable change, particularly as remote work and online learning became more common, leading to a rise in the need for creative tools in areas like media production and digital marketing. </a:t>
            </a:r>
          </a:p>
          <a:p>
            <a:pPr lvl="1" algn="just">
              <a:buFont typeface="Arial" panose="020B0604020202020204" pitchFamily="34" charset="0"/>
              <a:buChar char="•"/>
            </a:pPr>
            <a:r>
              <a:rPr lang="en-US" sz="2000" b="0" i="0" dirty="0">
                <a:solidFill>
                  <a:schemeClr val="tx1"/>
                </a:solidFill>
                <a:effectLst/>
                <a:latin typeface="Inter"/>
              </a:rPr>
              <a:t>Despite the increased interest in certain products, the sensitivity to price likely grew, as both consumers and businesses dealt with financial challenges, putting pressure on Adobe to keep prices stable or even reduce them. </a:t>
            </a:r>
          </a:p>
          <a:p>
            <a:pPr lvl="1" algn="just">
              <a:buFont typeface="Arial" panose="020B0604020202020204" pitchFamily="34" charset="0"/>
              <a:buChar char="•"/>
            </a:pPr>
            <a:r>
              <a:rPr lang="en-US" sz="2000" b="0" i="0" dirty="0">
                <a:solidFill>
                  <a:schemeClr val="tx1"/>
                </a:solidFill>
                <a:effectLst/>
                <a:latin typeface="Inter"/>
              </a:rPr>
              <a:t>Consequently, Adobe's demand curve moved to the right for various products, with online creators and businesses opting for budget-friendly subscription plans, such as Creative Cloud, instead of costly one-time purchases.</a:t>
            </a:r>
            <a:endParaRPr lang="en-IN" sz="2000" dirty="0">
              <a:solidFill>
                <a:schemeClr val="tx1"/>
              </a:solidFill>
              <a:latin typeface="Inter"/>
            </a:endParaRPr>
          </a:p>
          <a:p>
            <a:pPr marL="0" indent="0">
              <a:buNone/>
            </a:pPr>
            <a:endParaRPr lang="en-IN" dirty="0"/>
          </a:p>
        </p:txBody>
      </p:sp>
    </p:spTree>
    <p:extLst>
      <p:ext uri="{BB962C8B-B14F-4D97-AF65-F5344CB8AC3E}">
        <p14:creationId xmlns:p14="http://schemas.microsoft.com/office/powerpoint/2010/main" val="9872040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FE14A-D27F-F0A7-5940-F87E4850F024}"/>
              </a:ext>
            </a:extLst>
          </p:cNvPr>
          <p:cNvSpPr>
            <a:spLocks noGrp="1"/>
          </p:cNvSpPr>
          <p:nvPr>
            <p:ph type="title"/>
          </p:nvPr>
        </p:nvSpPr>
        <p:spPr/>
        <p:txBody>
          <a:bodyPr/>
          <a:lstStyle/>
          <a:p>
            <a:r>
              <a:rPr lang="en-IN" u="sng" dirty="0">
                <a:solidFill>
                  <a:srgbClr val="00FFFF"/>
                </a:solidFill>
              </a:rPr>
              <a:t>During COVID-19 (2020-2022)</a:t>
            </a:r>
            <a:endParaRPr lang="en-IN" dirty="0">
              <a:solidFill>
                <a:srgbClr val="00FFFF"/>
              </a:solidFill>
            </a:endParaRPr>
          </a:p>
        </p:txBody>
      </p:sp>
      <p:sp>
        <p:nvSpPr>
          <p:cNvPr id="3" name="Content Placeholder 2">
            <a:extLst>
              <a:ext uri="{FF2B5EF4-FFF2-40B4-BE49-F238E27FC236}">
                <a16:creationId xmlns:a16="http://schemas.microsoft.com/office/drawing/2014/main" id="{EF728CF0-CF0B-386A-11EF-ABBF5829BD56}"/>
              </a:ext>
            </a:extLst>
          </p:cNvPr>
          <p:cNvSpPr>
            <a:spLocks noGrp="1"/>
          </p:cNvSpPr>
          <p:nvPr>
            <p:ph idx="1"/>
          </p:nvPr>
        </p:nvSpPr>
        <p:spPr>
          <a:xfrm>
            <a:off x="677334" y="1838325"/>
            <a:ext cx="8596668" cy="4203037"/>
          </a:xfrm>
        </p:spPr>
        <p:txBody>
          <a:bodyPr>
            <a:normAutofit/>
          </a:bodyPr>
          <a:lstStyle/>
          <a:p>
            <a:pPr algn="just">
              <a:buFont typeface="Arial" panose="020B0604020202020204" pitchFamily="34" charset="0"/>
              <a:buChar char="•"/>
            </a:pPr>
            <a:r>
              <a:rPr lang="en-IN" sz="2000" b="1" dirty="0">
                <a:solidFill>
                  <a:srgbClr val="FFFF00"/>
                </a:solidFill>
                <a:latin typeface="Inter"/>
              </a:rPr>
              <a:t>Price and Quantity Supplied:</a:t>
            </a:r>
          </a:p>
          <a:p>
            <a:pPr lvl="1" algn="just">
              <a:buFont typeface="Arial" panose="020B0604020202020204" pitchFamily="34" charset="0"/>
              <a:buChar char="•"/>
            </a:pPr>
            <a:r>
              <a:rPr lang="en-US" sz="2000" b="0" i="0" dirty="0">
                <a:solidFill>
                  <a:schemeClr val="tx1"/>
                </a:solidFill>
                <a:effectLst/>
                <a:latin typeface="Inter"/>
              </a:rPr>
              <a:t>Global disruptions and remote work challenges initially impacted supply chains, but Adobe faced fewer physical limitations due to its digital software offerings. </a:t>
            </a:r>
          </a:p>
          <a:p>
            <a:pPr lvl="1" algn="just">
              <a:buFont typeface="Arial" panose="020B0604020202020204" pitchFamily="34" charset="0"/>
              <a:buChar char="•"/>
            </a:pPr>
            <a:r>
              <a:rPr lang="en-US" sz="2000" b="0" i="0" dirty="0">
                <a:solidFill>
                  <a:schemeClr val="tx1"/>
                </a:solidFill>
                <a:effectLst/>
                <a:latin typeface="Inter"/>
              </a:rPr>
              <a:t>The subscription model allowed Adobe to maintain a more consistent revenue stream, enabling flexible pricing and supply adjustments. </a:t>
            </a:r>
          </a:p>
          <a:p>
            <a:pPr lvl="1" algn="just">
              <a:buFont typeface="Arial" panose="020B0604020202020204" pitchFamily="34" charset="0"/>
              <a:buChar char="•"/>
            </a:pPr>
            <a:r>
              <a:rPr lang="en-US" sz="2000" b="0" i="0" dirty="0">
                <a:solidFill>
                  <a:schemeClr val="tx1"/>
                </a:solidFill>
                <a:effectLst/>
                <a:latin typeface="Inter"/>
              </a:rPr>
              <a:t>To meet the rising demand for digital tools, Adobe probably expanded its offerings by providing additional cloud-based solutions and increasing the availability of licenses at different price levels.</a:t>
            </a:r>
            <a:endParaRPr lang="en-IN" sz="1800" b="1" dirty="0">
              <a:solidFill>
                <a:schemeClr val="tx1"/>
              </a:solidFill>
              <a:latin typeface="Inter"/>
            </a:endParaRPr>
          </a:p>
          <a:p>
            <a:pPr>
              <a:buFont typeface="Arial" panose="020B0604020202020204" pitchFamily="34" charset="0"/>
              <a:buChar char="•"/>
            </a:pPr>
            <a:endParaRPr lang="en-IN" sz="2000" dirty="0">
              <a:latin typeface="Inter"/>
            </a:endParaRPr>
          </a:p>
        </p:txBody>
      </p:sp>
    </p:spTree>
    <p:extLst>
      <p:ext uri="{BB962C8B-B14F-4D97-AF65-F5344CB8AC3E}">
        <p14:creationId xmlns:p14="http://schemas.microsoft.com/office/powerpoint/2010/main" val="7029270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B858E-B71E-FEF7-BA47-D862F2A81714}"/>
              </a:ext>
            </a:extLst>
          </p:cNvPr>
          <p:cNvSpPr>
            <a:spLocks noGrp="1"/>
          </p:cNvSpPr>
          <p:nvPr>
            <p:ph type="title"/>
          </p:nvPr>
        </p:nvSpPr>
        <p:spPr/>
        <p:txBody>
          <a:bodyPr/>
          <a:lstStyle/>
          <a:p>
            <a:r>
              <a:rPr lang="en-IN" u="sng" dirty="0">
                <a:solidFill>
                  <a:srgbClr val="00FFFF"/>
                </a:solidFill>
              </a:rPr>
              <a:t>After COVID-19 (Post-2022)</a:t>
            </a:r>
          </a:p>
        </p:txBody>
      </p:sp>
      <p:sp>
        <p:nvSpPr>
          <p:cNvPr id="3" name="Content Placeholder 2">
            <a:extLst>
              <a:ext uri="{FF2B5EF4-FFF2-40B4-BE49-F238E27FC236}">
                <a16:creationId xmlns:a16="http://schemas.microsoft.com/office/drawing/2014/main" id="{F3B777A8-3588-67F2-F3F5-AE02086A31F7}"/>
              </a:ext>
            </a:extLst>
          </p:cNvPr>
          <p:cNvSpPr>
            <a:spLocks noGrp="1"/>
          </p:cNvSpPr>
          <p:nvPr>
            <p:ph idx="1"/>
          </p:nvPr>
        </p:nvSpPr>
        <p:spPr>
          <a:xfrm>
            <a:off x="677334" y="1847850"/>
            <a:ext cx="8596668" cy="4193513"/>
          </a:xfrm>
        </p:spPr>
        <p:txBody>
          <a:bodyPr>
            <a:normAutofit/>
          </a:bodyPr>
          <a:lstStyle/>
          <a:p>
            <a:pPr algn="just">
              <a:buFont typeface="Arial" panose="020B0604020202020204" pitchFamily="34" charset="0"/>
              <a:buChar char="•"/>
            </a:pPr>
            <a:r>
              <a:rPr lang="en-IN" sz="2000" b="1" dirty="0">
                <a:solidFill>
                  <a:srgbClr val="FFFF00"/>
                </a:solidFill>
                <a:latin typeface="Inter"/>
              </a:rPr>
              <a:t>Price and Quantity Demanded:</a:t>
            </a:r>
          </a:p>
          <a:p>
            <a:pPr lvl="1" algn="just">
              <a:buFont typeface="Arial" panose="020B0604020202020204" pitchFamily="34" charset="0"/>
              <a:buChar char="•"/>
            </a:pPr>
            <a:r>
              <a:rPr lang="en-US" sz="2000" b="0" i="0" dirty="0">
                <a:solidFill>
                  <a:schemeClr val="tx1"/>
                </a:solidFill>
                <a:effectLst/>
                <a:latin typeface="Inter"/>
              </a:rPr>
              <a:t>The popularity of Adobe products has surged, fueled by the persistent digital transformation in sectors such as design, marketing, and content creation. </a:t>
            </a:r>
          </a:p>
          <a:p>
            <a:pPr lvl="1" algn="just">
              <a:buFont typeface="Arial" panose="020B0604020202020204" pitchFamily="34" charset="0"/>
              <a:buChar char="•"/>
            </a:pPr>
            <a:r>
              <a:rPr lang="en-US" sz="2000" b="0" i="0" dirty="0">
                <a:solidFill>
                  <a:schemeClr val="tx1"/>
                </a:solidFill>
                <a:effectLst/>
                <a:latin typeface="Inter"/>
              </a:rPr>
              <a:t>In the wake of the pandemic, consumers and businesses have become more price-conscious while facing economic challenges. Adobe's transition to subscription services has provided greater affordability and flexibility, keeping demand steady. </a:t>
            </a:r>
          </a:p>
          <a:p>
            <a:pPr lvl="1" algn="just">
              <a:buFont typeface="Arial" panose="020B0604020202020204" pitchFamily="34" charset="0"/>
              <a:buChar char="•"/>
            </a:pPr>
            <a:r>
              <a:rPr lang="en-US" sz="2000" b="0" i="0" dirty="0">
                <a:solidFill>
                  <a:schemeClr val="tx1"/>
                </a:solidFill>
                <a:effectLst/>
                <a:latin typeface="Inter"/>
              </a:rPr>
              <a:t>As more users and companies appreciate the benefits of Adobe’s cloud solutions (like Creative Cloud and Adobe Stock), the demand continues to thrive, although there is a growing trend towards seeking more budget-friendly alternatives.</a:t>
            </a:r>
            <a:endParaRPr lang="en-IN" sz="1800" dirty="0">
              <a:solidFill>
                <a:schemeClr val="tx1"/>
              </a:solidFill>
              <a:latin typeface="Inter"/>
            </a:endParaRPr>
          </a:p>
        </p:txBody>
      </p:sp>
    </p:spTree>
    <p:extLst>
      <p:ext uri="{BB962C8B-B14F-4D97-AF65-F5344CB8AC3E}">
        <p14:creationId xmlns:p14="http://schemas.microsoft.com/office/powerpoint/2010/main" val="31422454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87536-8683-0B85-B194-208E7EF2EFCC}"/>
              </a:ext>
            </a:extLst>
          </p:cNvPr>
          <p:cNvSpPr>
            <a:spLocks noGrp="1"/>
          </p:cNvSpPr>
          <p:nvPr>
            <p:ph type="title"/>
          </p:nvPr>
        </p:nvSpPr>
        <p:spPr/>
        <p:txBody>
          <a:bodyPr/>
          <a:lstStyle/>
          <a:p>
            <a:r>
              <a:rPr lang="en-IN" u="sng" dirty="0">
                <a:solidFill>
                  <a:srgbClr val="00FFFF"/>
                </a:solidFill>
              </a:rPr>
              <a:t>After COVID-19 (Post-2022)</a:t>
            </a:r>
            <a:endParaRPr lang="en-IN" dirty="0">
              <a:solidFill>
                <a:srgbClr val="00FFFF"/>
              </a:solidFill>
            </a:endParaRPr>
          </a:p>
        </p:txBody>
      </p:sp>
      <p:sp>
        <p:nvSpPr>
          <p:cNvPr id="3" name="Content Placeholder 2">
            <a:extLst>
              <a:ext uri="{FF2B5EF4-FFF2-40B4-BE49-F238E27FC236}">
                <a16:creationId xmlns:a16="http://schemas.microsoft.com/office/drawing/2014/main" id="{B874B33F-343E-6224-A4E0-1B0342515B3F}"/>
              </a:ext>
            </a:extLst>
          </p:cNvPr>
          <p:cNvSpPr>
            <a:spLocks noGrp="1"/>
          </p:cNvSpPr>
          <p:nvPr>
            <p:ph idx="1"/>
          </p:nvPr>
        </p:nvSpPr>
        <p:spPr>
          <a:xfrm>
            <a:off x="677334" y="1847851"/>
            <a:ext cx="8596668" cy="4193512"/>
          </a:xfrm>
        </p:spPr>
        <p:txBody>
          <a:bodyPr>
            <a:normAutofit/>
          </a:bodyPr>
          <a:lstStyle/>
          <a:p>
            <a:pPr algn="just">
              <a:buFont typeface="Arial" panose="020B0604020202020204" pitchFamily="34" charset="0"/>
              <a:buChar char="•"/>
            </a:pPr>
            <a:r>
              <a:rPr lang="en-IN" sz="2000" b="1" dirty="0">
                <a:solidFill>
                  <a:srgbClr val="FFFF00"/>
                </a:solidFill>
                <a:latin typeface="Inter"/>
              </a:rPr>
              <a:t>Price and Quantity Supplied:</a:t>
            </a:r>
          </a:p>
          <a:p>
            <a:pPr lvl="1" algn="just">
              <a:buFont typeface="Arial" panose="020B0604020202020204" pitchFamily="34" charset="0"/>
              <a:buChar char="•"/>
            </a:pPr>
            <a:r>
              <a:rPr lang="en-US" sz="2000" b="0" i="0" dirty="0">
                <a:solidFill>
                  <a:schemeClr val="tx1"/>
                </a:solidFill>
                <a:effectLst/>
                <a:latin typeface="Inter"/>
              </a:rPr>
              <a:t>After the pandemic, Adobe became more flexible in its offerings by enhancing its cloud infrastructure and rolling out software updates, allowing for better scalability across various customer groups, including individuals, small businesses, and large enterprises. </a:t>
            </a:r>
          </a:p>
          <a:p>
            <a:pPr lvl="1" algn="just">
              <a:buFont typeface="Arial" panose="020B0604020202020204" pitchFamily="34" charset="0"/>
              <a:buChar char="•"/>
            </a:pPr>
            <a:r>
              <a:rPr lang="en-US" sz="2000" b="0" i="0" dirty="0">
                <a:solidFill>
                  <a:schemeClr val="tx1"/>
                </a:solidFill>
                <a:effectLst/>
                <a:latin typeface="Inter"/>
              </a:rPr>
              <a:t>The shift towards subscription models likely pushed the supply curve upward, enabling Adobe to modify pricing strategies according to demand for different plans. </a:t>
            </a:r>
          </a:p>
          <a:p>
            <a:pPr lvl="1" algn="just">
              <a:buFont typeface="Arial" panose="020B0604020202020204" pitchFamily="34" charset="0"/>
              <a:buChar char="•"/>
            </a:pPr>
            <a:r>
              <a:rPr lang="en-US" sz="2000" b="0" i="0" dirty="0">
                <a:solidFill>
                  <a:schemeClr val="tx1"/>
                </a:solidFill>
                <a:effectLst/>
                <a:latin typeface="Inter"/>
              </a:rPr>
              <a:t>By offering tiered pricing and extra features, Adobe effectively met the needs of both budget-conscious customers and those seeking premium services.</a:t>
            </a:r>
            <a:endParaRPr lang="en-IN" sz="2000" dirty="0">
              <a:solidFill>
                <a:schemeClr val="tx1"/>
              </a:solidFill>
            </a:endParaRPr>
          </a:p>
        </p:txBody>
      </p:sp>
    </p:spTree>
    <p:extLst>
      <p:ext uri="{BB962C8B-B14F-4D97-AF65-F5344CB8AC3E}">
        <p14:creationId xmlns:p14="http://schemas.microsoft.com/office/powerpoint/2010/main" val="34063126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35A0515-37F8-652B-7A13-7B27BEA39117}"/>
              </a:ext>
            </a:extLst>
          </p:cNvPr>
          <p:cNvPicPr>
            <a:picLocks noChangeAspect="1"/>
          </p:cNvPicPr>
          <p:nvPr/>
        </p:nvPicPr>
        <p:blipFill>
          <a:blip r:embed="rId2"/>
          <a:stretch>
            <a:fillRect/>
          </a:stretch>
        </p:blipFill>
        <p:spPr>
          <a:xfrm>
            <a:off x="569768" y="342900"/>
            <a:ext cx="8728364" cy="6172200"/>
          </a:xfrm>
          <a:prstGeom prst="rect">
            <a:avLst/>
          </a:prstGeom>
        </p:spPr>
      </p:pic>
    </p:spTree>
    <p:extLst>
      <p:ext uri="{BB962C8B-B14F-4D97-AF65-F5344CB8AC3E}">
        <p14:creationId xmlns:p14="http://schemas.microsoft.com/office/powerpoint/2010/main" val="24740243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D405841-D1A0-E900-A11C-A4A50F829A7D}"/>
              </a:ext>
            </a:extLst>
          </p:cNvPr>
          <p:cNvPicPr>
            <a:picLocks noChangeAspect="1"/>
          </p:cNvPicPr>
          <p:nvPr/>
        </p:nvPicPr>
        <p:blipFill>
          <a:blip r:embed="rId2"/>
          <a:stretch>
            <a:fillRect/>
          </a:stretch>
        </p:blipFill>
        <p:spPr>
          <a:xfrm>
            <a:off x="569768" y="457200"/>
            <a:ext cx="8728364" cy="5976937"/>
          </a:xfrm>
          <a:prstGeom prst="rect">
            <a:avLst/>
          </a:prstGeom>
        </p:spPr>
      </p:pic>
    </p:spTree>
    <p:extLst>
      <p:ext uri="{BB962C8B-B14F-4D97-AF65-F5344CB8AC3E}">
        <p14:creationId xmlns:p14="http://schemas.microsoft.com/office/powerpoint/2010/main" val="9842494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562FF-1C20-0897-8955-0EDC3BF280FF}"/>
              </a:ext>
            </a:extLst>
          </p:cNvPr>
          <p:cNvSpPr>
            <a:spLocks noGrp="1"/>
          </p:cNvSpPr>
          <p:nvPr>
            <p:ph type="title"/>
          </p:nvPr>
        </p:nvSpPr>
        <p:spPr/>
        <p:txBody>
          <a:bodyPr/>
          <a:lstStyle/>
          <a:p>
            <a:r>
              <a:rPr lang="en-US" u="sng" dirty="0">
                <a:solidFill>
                  <a:srgbClr val="00FFFF"/>
                </a:solidFill>
              </a:rPr>
              <a:t>Macroeconomic factors changed in Adobe Inc.</a:t>
            </a:r>
            <a:endParaRPr lang="en-IN" u="sng" dirty="0">
              <a:solidFill>
                <a:srgbClr val="00FFFF"/>
              </a:solidFill>
            </a:endParaRPr>
          </a:p>
        </p:txBody>
      </p:sp>
      <p:sp>
        <p:nvSpPr>
          <p:cNvPr id="3" name="Content Placeholder 2">
            <a:extLst>
              <a:ext uri="{FF2B5EF4-FFF2-40B4-BE49-F238E27FC236}">
                <a16:creationId xmlns:a16="http://schemas.microsoft.com/office/drawing/2014/main" id="{E0458FBB-24CF-1B37-424E-5BA7FD54F21F}"/>
              </a:ext>
            </a:extLst>
          </p:cNvPr>
          <p:cNvSpPr>
            <a:spLocks noGrp="1"/>
          </p:cNvSpPr>
          <p:nvPr>
            <p:ph idx="1"/>
          </p:nvPr>
        </p:nvSpPr>
        <p:spPr>
          <a:xfrm>
            <a:off x="677334" y="1930401"/>
            <a:ext cx="8596668" cy="4726038"/>
          </a:xfrm>
        </p:spPr>
        <p:txBody>
          <a:bodyPr>
            <a:normAutofit/>
          </a:bodyPr>
          <a:lstStyle/>
          <a:p>
            <a:pPr marL="0" indent="0" algn="just">
              <a:buNone/>
            </a:pPr>
            <a:r>
              <a:rPr lang="en-US" sz="2000" dirty="0">
                <a:solidFill>
                  <a:schemeClr val="tx1"/>
                </a:solidFill>
                <a:latin typeface="Inter"/>
              </a:rPr>
              <a:t>To understand this better let’s look at four different factors in the various time zones with respect to the 2008 financial crisis and the Covid-19 pandemic. The main factors being:</a:t>
            </a:r>
          </a:p>
          <a:p>
            <a:pPr algn="just">
              <a:buFont typeface="Arial" panose="020B0604020202020204" pitchFamily="34" charset="0"/>
              <a:buChar char="•"/>
            </a:pPr>
            <a:r>
              <a:rPr lang="en-US" sz="2000" dirty="0">
                <a:solidFill>
                  <a:schemeClr val="tx1"/>
                </a:solidFill>
                <a:latin typeface="Inter"/>
              </a:rPr>
              <a:t>Inflation</a:t>
            </a:r>
          </a:p>
          <a:p>
            <a:pPr algn="just">
              <a:buFont typeface="Arial" panose="020B0604020202020204" pitchFamily="34" charset="0"/>
              <a:buChar char="•"/>
            </a:pPr>
            <a:r>
              <a:rPr lang="en-US" sz="2000" dirty="0">
                <a:solidFill>
                  <a:schemeClr val="tx1"/>
                </a:solidFill>
                <a:latin typeface="Inter"/>
              </a:rPr>
              <a:t>Recession</a:t>
            </a:r>
          </a:p>
          <a:p>
            <a:pPr algn="just">
              <a:buFont typeface="Arial" panose="020B0604020202020204" pitchFamily="34" charset="0"/>
              <a:buChar char="•"/>
            </a:pPr>
            <a:r>
              <a:rPr lang="en-US" sz="2000" dirty="0">
                <a:solidFill>
                  <a:schemeClr val="tx1"/>
                </a:solidFill>
                <a:latin typeface="Inter"/>
              </a:rPr>
              <a:t>Unemployment</a:t>
            </a:r>
          </a:p>
          <a:p>
            <a:pPr algn="just">
              <a:buFont typeface="Arial" panose="020B0604020202020204" pitchFamily="34" charset="0"/>
              <a:buChar char="•"/>
            </a:pPr>
            <a:r>
              <a:rPr lang="en-US" sz="2000" dirty="0">
                <a:solidFill>
                  <a:schemeClr val="tx1"/>
                </a:solidFill>
                <a:latin typeface="Inter"/>
              </a:rPr>
              <a:t>Taxes on industry</a:t>
            </a:r>
          </a:p>
          <a:p>
            <a:pPr marL="0" indent="0" algn="just">
              <a:buNone/>
            </a:pPr>
            <a:r>
              <a:rPr lang="en-US" sz="2000" dirty="0">
                <a:solidFill>
                  <a:schemeClr val="tx1"/>
                </a:solidFill>
                <a:latin typeface="Inter"/>
              </a:rPr>
              <a:t>The various time zones being:</a:t>
            </a:r>
          </a:p>
          <a:p>
            <a:pPr algn="just">
              <a:buFont typeface="Arial" panose="020B0604020202020204" pitchFamily="34" charset="0"/>
              <a:buChar char="•"/>
            </a:pPr>
            <a:r>
              <a:rPr lang="en-IN" sz="2000" dirty="0">
                <a:solidFill>
                  <a:schemeClr val="tx1"/>
                </a:solidFill>
                <a:effectLst/>
                <a:latin typeface="Inter"/>
                <a:ea typeface="Times New Roman" panose="02020603050405020304" pitchFamily="18" charset="0"/>
              </a:rPr>
              <a:t>Pre-2008 Financial Crisis (2000–2007)</a:t>
            </a:r>
          </a:p>
          <a:p>
            <a:pPr algn="just">
              <a:buFont typeface="Arial" panose="020B0604020202020204" pitchFamily="34" charset="0"/>
              <a:buChar char="•"/>
            </a:pPr>
            <a:r>
              <a:rPr lang="en-IN" sz="2000" dirty="0">
                <a:solidFill>
                  <a:schemeClr val="tx1"/>
                </a:solidFill>
                <a:effectLst/>
                <a:latin typeface="Inter"/>
                <a:ea typeface="Times New Roman" panose="02020603050405020304" pitchFamily="18" charset="0"/>
              </a:rPr>
              <a:t>During the 2008 Financial Crisis (2008–2009)</a:t>
            </a:r>
            <a:endParaRPr lang="en-IN" sz="2000" dirty="0">
              <a:solidFill>
                <a:schemeClr val="tx1"/>
              </a:solidFill>
              <a:effectLst/>
              <a:latin typeface="Inter"/>
            </a:endParaRPr>
          </a:p>
          <a:p>
            <a:pPr algn="just">
              <a:buFont typeface="Arial" panose="020B0604020202020204" pitchFamily="34" charset="0"/>
              <a:buChar char="•"/>
            </a:pPr>
            <a:r>
              <a:rPr lang="en-IN" sz="2000" dirty="0">
                <a:solidFill>
                  <a:schemeClr val="tx1"/>
                </a:solidFill>
                <a:effectLst/>
                <a:latin typeface="Inter"/>
                <a:ea typeface="Times New Roman" panose="02020603050405020304" pitchFamily="18" charset="0"/>
              </a:rPr>
              <a:t>Post-2008 Recovery &amp; Subscription Transition (2010–2024)</a:t>
            </a:r>
            <a:endParaRPr lang="en-IN" sz="2000" dirty="0">
              <a:solidFill>
                <a:schemeClr val="tx1"/>
              </a:solidFill>
              <a:latin typeface="Inter"/>
            </a:endParaRPr>
          </a:p>
        </p:txBody>
      </p:sp>
    </p:spTree>
    <p:extLst>
      <p:ext uri="{BB962C8B-B14F-4D97-AF65-F5344CB8AC3E}">
        <p14:creationId xmlns:p14="http://schemas.microsoft.com/office/powerpoint/2010/main" val="14691067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A6CE3-266F-7F24-D852-3CA6CE03D640}"/>
              </a:ext>
            </a:extLst>
          </p:cNvPr>
          <p:cNvSpPr>
            <a:spLocks noGrp="1"/>
          </p:cNvSpPr>
          <p:nvPr>
            <p:ph type="title"/>
          </p:nvPr>
        </p:nvSpPr>
        <p:spPr/>
        <p:txBody>
          <a:bodyPr/>
          <a:lstStyle/>
          <a:p>
            <a:r>
              <a:rPr lang="en-IN" dirty="0">
                <a:solidFill>
                  <a:srgbClr val="00FFFF"/>
                </a:solidFill>
                <a:effectLst/>
                <a:latin typeface="Inter"/>
                <a:ea typeface="Times New Roman" panose="02020603050405020304" pitchFamily="18" charset="0"/>
              </a:rPr>
              <a:t>Pre-2008 Financial Crisis (2000–2007)</a:t>
            </a:r>
            <a:br>
              <a:rPr lang="en-IN" sz="3600" dirty="0">
                <a:solidFill>
                  <a:srgbClr val="002060"/>
                </a:solidFill>
                <a:effectLst/>
                <a:latin typeface="Inter"/>
                <a:ea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9CE62405-34C5-CA58-26FB-869871182173}"/>
              </a:ext>
            </a:extLst>
          </p:cNvPr>
          <p:cNvSpPr>
            <a:spLocks noGrp="1"/>
          </p:cNvSpPr>
          <p:nvPr>
            <p:ph idx="1"/>
          </p:nvPr>
        </p:nvSpPr>
        <p:spPr>
          <a:xfrm>
            <a:off x="677334" y="1337188"/>
            <a:ext cx="8596668" cy="5378244"/>
          </a:xfrm>
        </p:spPr>
        <p:txBody>
          <a:bodyPr>
            <a:normAutofit/>
          </a:bodyPr>
          <a:lstStyle/>
          <a:p>
            <a:pPr marL="0" indent="0" algn="just">
              <a:lnSpc>
                <a:spcPct val="115000"/>
              </a:lnSpc>
              <a:spcBef>
                <a:spcPts val="1200"/>
              </a:spcBef>
              <a:spcAft>
                <a:spcPts val="200"/>
              </a:spcAft>
              <a:buNone/>
            </a:pPr>
            <a:r>
              <a:rPr lang="en-IN" sz="2000" b="1" dirty="0">
                <a:solidFill>
                  <a:srgbClr val="FFFF00"/>
                </a:solidFill>
                <a:effectLst/>
                <a:latin typeface="Inter"/>
                <a:ea typeface="Times New Roman" panose="02020603050405020304" pitchFamily="18" charset="0"/>
              </a:rPr>
              <a:t>Inflation</a:t>
            </a:r>
            <a:r>
              <a:rPr lang="en-IN" sz="2000" b="1" dirty="0">
                <a:solidFill>
                  <a:schemeClr val="tx1"/>
                </a:solidFill>
                <a:effectLst/>
                <a:latin typeface="Inter"/>
                <a:ea typeface="Times New Roman" panose="02020603050405020304" pitchFamily="18" charset="0"/>
              </a:rPr>
              <a:t> - </a:t>
            </a:r>
            <a:r>
              <a:rPr lang="en-IN" sz="2000" u="none" strike="noStrike" dirty="0">
                <a:solidFill>
                  <a:schemeClr val="tx1"/>
                </a:solidFill>
                <a:effectLst/>
                <a:latin typeface="Inter"/>
                <a:ea typeface="Times New Roman" panose="02020603050405020304" pitchFamily="18" charset="0"/>
              </a:rPr>
              <a:t>Stable Inflation (2-4%): Provided a predictable environment for Adobe to set prices for products like Adobe Creative Suite and software costs are generally impacted less by inflation compared to physical goods.</a:t>
            </a:r>
            <a:endParaRPr lang="en-IN" sz="2000" u="none" strike="noStrike" dirty="0">
              <a:solidFill>
                <a:schemeClr val="tx1"/>
              </a:solidFill>
              <a:effectLst/>
              <a:latin typeface="Inter"/>
              <a:ea typeface="Arial" panose="020B0604020202020204" pitchFamily="34" charset="0"/>
            </a:endParaRPr>
          </a:p>
          <a:p>
            <a:pPr marL="0" indent="0" algn="just">
              <a:lnSpc>
                <a:spcPct val="115000"/>
              </a:lnSpc>
              <a:spcBef>
                <a:spcPts val="1200"/>
              </a:spcBef>
              <a:spcAft>
                <a:spcPts val="200"/>
              </a:spcAft>
              <a:buNone/>
            </a:pPr>
            <a:r>
              <a:rPr lang="en-IN" sz="2000" b="1" dirty="0">
                <a:solidFill>
                  <a:srgbClr val="FFFF00"/>
                </a:solidFill>
                <a:effectLst/>
                <a:latin typeface="Inter"/>
                <a:ea typeface="Times New Roman" panose="02020603050405020304" pitchFamily="18" charset="0"/>
              </a:rPr>
              <a:t>Recession</a:t>
            </a:r>
            <a:r>
              <a:rPr lang="en-IN" sz="2000" b="1" dirty="0">
                <a:solidFill>
                  <a:schemeClr val="tx1"/>
                </a:solidFill>
                <a:effectLst/>
                <a:latin typeface="Inter"/>
                <a:ea typeface="Times New Roman" panose="02020603050405020304" pitchFamily="18" charset="0"/>
              </a:rPr>
              <a:t> - </a:t>
            </a:r>
            <a:r>
              <a:rPr lang="en-IN" sz="2000" u="none" strike="noStrike" dirty="0">
                <a:solidFill>
                  <a:schemeClr val="tx1"/>
                </a:solidFill>
                <a:effectLst/>
                <a:latin typeface="Inter"/>
                <a:ea typeface="Times New Roman" panose="02020603050405020304" pitchFamily="18" charset="0"/>
              </a:rPr>
              <a:t>Economic Growth: Strong expansion, particularly in the tech sector and the rising adoption of digital media solutions benefited Adobe’s business model.</a:t>
            </a:r>
            <a:endParaRPr lang="en-IN" sz="2000" u="none" strike="noStrike" dirty="0">
              <a:solidFill>
                <a:schemeClr val="tx1"/>
              </a:solidFill>
              <a:effectLst/>
              <a:latin typeface="Inter"/>
              <a:ea typeface="Arial" panose="020B0604020202020204" pitchFamily="34" charset="0"/>
            </a:endParaRPr>
          </a:p>
          <a:p>
            <a:pPr marL="0" indent="0" algn="just">
              <a:lnSpc>
                <a:spcPct val="115000"/>
              </a:lnSpc>
              <a:spcBef>
                <a:spcPts val="1200"/>
              </a:spcBef>
              <a:spcAft>
                <a:spcPts val="200"/>
              </a:spcAft>
              <a:buNone/>
            </a:pPr>
            <a:r>
              <a:rPr lang="en-IN" sz="2000" b="1" dirty="0">
                <a:solidFill>
                  <a:srgbClr val="FFFF00"/>
                </a:solidFill>
                <a:effectLst/>
                <a:latin typeface="Inter"/>
                <a:ea typeface="Times New Roman" panose="02020603050405020304" pitchFamily="18" charset="0"/>
              </a:rPr>
              <a:t>Unemployment</a:t>
            </a:r>
            <a:r>
              <a:rPr lang="en-IN" sz="2000" b="1" dirty="0">
                <a:solidFill>
                  <a:schemeClr val="tx1"/>
                </a:solidFill>
                <a:effectLst/>
                <a:latin typeface="Inter"/>
                <a:ea typeface="Times New Roman" panose="02020603050405020304" pitchFamily="18" charset="0"/>
              </a:rPr>
              <a:t> - </a:t>
            </a:r>
            <a:r>
              <a:rPr lang="en-IN" sz="2000" u="none" strike="noStrike" dirty="0">
                <a:solidFill>
                  <a:schemeClr val="tx1"/>
                </a:solidFill>
                <a:effectLst/>
                <a:latin typeface="Inter"/>
                <a:ea typeface="Times New Roman" panose="02020603050405020304" pitchFamily="18" charset="0"/>
              </a:rPr>
              <a:t>Low Unemployment (4.5-5%): high employment meant more disposable income for premium software products and Adobe benefited from a skilled labour force, especially in tech and creative sectors.</a:t>
            </a:r>
            <a:endParaRPr lang="en-IN" sz="2000" u="none" strike="noStrike" dirty="0">
              <a:solidFill>
                <a:schemeClr val="tx1"/>
              </a:solidFill>
              <a:effectLst/>
              <a:latin typeface="Inter"/>
              <a:ea typeface="Arial" panose="020B0604020202020204" pitchFamily="34" charset="0"/>
            </a:endParaRPr>
          </a:p>
          <a:p>
            <a:pPr marL="0" indent="0" algn="just">
              <a:lnSpc>
                <a:spcPct val="115000"/>
              </a:lnSpc>
              <a:spcBef>
                <a:spcPts val="1200"/>
              </a:spcBef>
              <a:spcAft>
                <a:spcPts val="200"/>
              </a:spcAft>
              <a:buNone/>
            </a:pPr>
            <a:r>
              <a:rPr lang="en-IN" sz="2000" b="1" dirty="0">
                <a:solidFill>
                  <a:srgbClr val="FFFF00"/>
                </a:solidFill>
                <a:effectLst/>
                <a:latin typeface="Inter"/>
                <a:ea typeface="Times New Roman" panose="02020603050405020304" pitchFamily="18" charset="0"/>
              </a:rPr>
              <a:t>Taxes on the Industry</a:t>
            </a:r>
            <a:r>
              <a:rPr lang="en-IN" sz="2000" b="1" dirty="0">
                <a:solidFill>
                  <a:srgbClr val="FFFF00"/>
                </a:solidFill>
                <a:latin typeface="Inter"/>
              </a:rPr>
              <a:t> </a:t>
            </a:r>
            <a:r>
              <a:rPr lang="en-IN" sz="2000" b="1" dirty="0">
                <a:solidFill>
                  <a:schemeClr val="tx1"/>
                </a:solidFill>
                <a:latin typeface="Inter"/>
              </a:rPr>
              <a:t>- </a:t>
            </a:r>
            <a:r>
              <a:rPr lang="en-IN" sz="2000" u="none" strike="noStrike" dirty="0">
                <a:solidFill>
                  <a:schemeClr val="tx1"/>
                </a:solidFill>
                <a:effectLst/>
                <a:latin typeface="Inter"/>
                <a:ea typeface="Times New Roman" panose="02020603050405020304" pitchFamily="18" charset="0"/>
              </a:rPr>
              <a:t>Stable Corporate Tax Rates: high corporate tax rates, but favourable treatment for R&amp;D spending and Adobe’s global presence allowed for effective tax strategies.</a:t>
            </a:r>
            <a:endParaRPr lang="en-IN" sz="2000" u="none" strike="noStrike" dirty="0">
              <a:solidFill>
                <a:schemeClr val="tx1"/>
              </a:solidFill>
              <a:effectLst/>
              <a:latin typeface="Inter"/>
              <a:ea typeface="Arial" panose="020B0604020202020204" pitchFamily="34" charset="0"/>
            </a:endParaRPr>
          </a:p>
          <a:p>
            <a:pPr marL="0" indent="0">
              <a:buNone/>
            </a:pPr>
            <a:endParaRPr lang="en-IN" dirty="0"/>
          </a:p>
        </p:txBody>
      </p:sp>
    </p:spTree>
    <p:extLst>
      <p:ext uri="{BB962C8B-B14F-4D97-AF65-F5344CB8AC3E}">
        <p14:creationId xmlns:p14="http://schemas.microsoft.com/office/powerpoint/2010/main" val="25394839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9B7F0-FD57-F26E-65CC-6BB25814E60C}"/>
              </a:ext>
            </a:extLst>
          </p:cNvPr>
          <p:cNvSpPr>
            <a:spLocks noGrp="1"/>
          </p:cNvSpPr>
          <p:nvPr>
            <p:ph type="title"/>
          </p:nvPr>
        </p:nvSpPr>
        <p:spPr/>
        <p:txBody>
          <a:bodyPr>
            <a:normAutofit/>
          </a:bodyPr>
          <a:lstStyle/>
          <a:p>
            <a:r>
              <a:rPr lang="en-IN" dirty="0">
                <a:solidFill>
                  <a:srgbClr val="00FFFF"/>
                </a:solidFill>
                <a:effectLst/>
                <a:ea typeface="Times New Roman" panose="02020603050405020304" pitchFamily="18" charset="0"/>
              </a:rPr>
              <a:t>During the 2008 Financial Crisis</a:t>
            </a:r>
            <a:endParaRPr lang="en-IN" dirty="0">
              <a:solidFill>
                <a:srgbClr val="00FFFF"/>
              </a:solidFill>
            </a:endParaRPr>
          </a:p>
        </p:txBody>
      </p:sp>
      <p:sp>
        <p:nvSpPr>
          <p:cNvPr id="3" name="Content Placeholder 2">
            <a:extLst>
              <a:ext uri="{FF2B5EF4-FFF2-40B4-BE49-F238E27FC236}">
                <a16:creationId xmlns:a16="http://schemas.microsoft.com/office/drawing/2014/main" id="{5EC1DA5B-1E52-6EC6-E43C-55916D5828A7}"/>
              </a:ext>
            </a:extLst>
          </p:cNvPr>
          <p:cNvSpPr>
            <a:spLocks noGrp="1"/>
          </p:cNvSpPr>
          <p:nvPr>
            <p:ph idx="1"/>
          </p:nvPr>
        </p:nvSpPr>
        <p:spPr>
          <a:xfrm>
            <a:off x="677334" y="1337187"/>
            <a:ext cx="8596668" cy="5378245"/>
          </a:xfrm>
        </p:spPr>
        <p:txBody>
          <a:bodyPr>
            <a:normAutofit/>
          </a:bodyPr>
          <a:lstStyle/>
          <a:p>
            <a:pPr marL="0" indent="0" algn="just">
              <a:lnSpc>
                <a:spcPct val="115000"/>
              </a:lnSpc>
              <a:spcBef>
                <a:spcPts val="1200"/>
              </a:spcBef>
              <a:spcAft>
                <a:spcPts val="200"/>
              </a:spcAft>
              <a:buNone/>
            </a:pPr>
            <a:r>
              <a:rPr lang="en-IN" sz="2000" b="1" dirty="0">
                <a:solidFill>
                  <a:srgbClr val="FFFF00"/>
                </a:solidFill>
                <a:effectLst/>
                <a:latin typeface="Inter"/>
                <a:ea typeface="Times New Roman" panose="02020603050405020304" pitchFamily="18" charset="0"/>
              </a:rPr>
              <a:t>Inflation</a:t>
            </a:r>
            <a:r>
              <a:rPr lang="en-IN" sz="2000" b="1" dirty="0">
                <a:solidFill>
                  <a:schemeClr val="tx1"/>
                </a:solidFill>
                <a:effectLst/>
                <a:latin typeface="Inter"/>
                <a:ea typeface="Times New Roman" panose="02020603050405020304" pitchFamily="18" charset="0"/>
              </a:rPr>
              <a:t> - </a:t>
            </a:r>
            <a:r>
              <a:rPr lang="en-IN" sz="2000" u="none" strike="noStrike" dirty="0">
                <a:solidFill>
                  <a:schemeClr val="tx1"/>
                </a:solidFill>
                <a:effectLst/>
                <a:latin typeface="Inter"/>
                <a:ea typeface="Times New Roman" panose="02020603050405020304" pitchFamily="18" charset="0"/>
              </a:rPr>
              <a:t>Initial Inflation Spike, Then Deflation: Commodity prices surged before the downturn; later, deflationary pressures affected consumer spending and reduced demand for premium software in a recessionary environment.</a:t>
            </a:r>
            <a:endParaRPr lang="en-IN" sz="2000" b="1" dirty="0">
              <a:solidFill>
                <a:schemeClr val="tx1"/>
              </a:solidFill>
              <a:effectLst/>
              <a:latin typeface="Inter"/>
            </a:endParaRPr>
          </a:p>
          <a:p>
            <a:pPr marL="0" indent="0" algn="just">
              <a:lnSpc>
                <a:spcPct val="115000"/>
              </a:lnSpc>
              <a:spcBef>
                <a:spcPts val="1200"/>
              </a:spcBef>
              <a:spcAft>
                <a:spcPts val="200"/>
              </a:spcAft>
              <a:buNone/>
            </a:pPr>
            <a:r>
              <a:rPr lang="en-IN" sz="2000" b="1" dirty="0">
                <a:solidFill>
                  <a:srgbClr val="FFFF00"/>
                </a:solidFill>
                <a:effectLst/>
                <a:latin typeface="Inter"/>
                <a:ea typeface="Times New Roman" panose="02020603050405020304" pitchFamily="18" charset="0"/>
              </a:rPr>
              <a:t>Recession</a:t>
            </a:r>
            <a:r>
              <a:rPr lang="en-IN" sz="2000" b="1" dirty="0">
                <a:solidFill>
                  <a:schemeClr val="tx1"/>
                </a:solidFill>
                <a:effectLst/>
                <a:latin typeface="Inter"/>
                <a:ea typeface="Times New Roman" panose="02020603050405020304" pitchFamily="18" charset="0"/>
              </a:rPr>
              <a:t> </a:t>
            </a:r>
            <a:r>
              <a:rPr lang="en-IN" sz="2000" b="1" dirty="0">
                <a:solidFill>
                  <a:schemeClr val="tx1"/>
                </a:solidFill>
                <a:latin typeface="Inter"/>
              </a:rPr>
              <a:t>- </a:t>
            </a:r>
            <a:r>
              <a:rPr lang="en-IN" sz="2000" u="none" strike="noStrike" dirty="0">
                <a:solidFill>
                  <a:schemeClr val="tx1"/>
                </a:solidFill>
                <a:effectLst/>
                <a:latin typeface="Inter"/>
                <a:ea typeface="Times New Roman" panose="02020603050405020304" pitchFamily="18" charset="0"/>
              </a:rPr>
              <a:t>Global Contraction: Adobe faced a significant slowdown as companies cut non-essential spending, impacting software sales and decreased demand from key sectors like advertising, publishing, and media.</a:t>
            </a:r>
            <a:endParaRPr lang="en-IN" sz="2000" u="none" strike="noStrike" dirty="0">
              <a:solidFill>
                <a:schemeClr val="tx1"/>
              </a:solidFill>
              <a:effectLst/>
              <a:latin typeface="Inter"/>
              <a:ea typeface="Arial" panose="020B0604020202020204" pitchFamily="34" charset="0"/>
            </a:endParaRPr>
          </a:p>
          <a:p>
            <a:pPr marL="0" indent="0" algn="just">
              <a:lnSpc>
                <a:spcPct val="115000"/>
              </a:lnSpc>
              <a:spcBef>
                <a:spcPts val="1200"/>
              </a:spcBef>
              <a:spcAft>
                <a:spcPts val="200"/>
              </a:spcAft>
              <a:buNone/>
            </a:pPr>
            <a:r>
              <a:rPr lang="en-IN" sz="2000" b="1" dirty="0">
                <a:solidFill>
                  <a:srgbClr val="FFFF00"/>
                </a:solidFill>
                <a:effectLst/>
                <a:latin typeface="Inter"/>
                <a:ea typeface="Times New Roman" panose="02020603050405020304" pitchFamily="18" charset="0"/>
              </a:rPr>
              <a:t>Unemployment</a:t>
            </a:r>
            <a:r>
              <a:rPr lang="en-IN" sz="2000" b="1" dirty="0">
                <a:solidFill>
                  <a:schemeClr val="tx1"/>
                </a:solidFill>
                <a:latin typeface="Inter"/>
              </a:rPr>
              <a:t> - </a:t>
            </a:r>
            <a:r>
              <a:rPr lang="en-IN" sz="2000" u="none" strike="noStrike" dirty="0">
                <a:solidFill>
                  <a:schemeClr val="tx1"/>
                </a:solidFill>
                <a:effectLst/>
                <a:latin typeface="Inter"/>
                <a:ea typeface="Times New Roman" panose="02020603050405020304" pitchFamily="18" charset="0"/>
              </a:rPr>
              <a:t>Rising Unemployment (10% Peak):</a:t>
            </a:r>
            <a:r>
              <a:rPr lang="en-IN" sz="2000" dirty="0">
                <a:solidFill>
                  <a:schemeClr val="tx1"/>
                </a:solidFill>
                <a:latin typeface="Inter"/>
                <a:ea typeface="Times New Roman" panose="02020603050405020304" pitchFamily="18" charset="0"/>
              </a:rPr>
              <a:t> </a:t>
            </a:r>
            <a:r>
              <a:rPr lang="en-IN" sz="2000" u="none" strike="noStrike" dirty="0">
                <a:solidFill>
                  <a:schemeClr val="tx1"/>
                </a:solidFill>
                <a:effectLst/>
                <a:latin typeface="Inter"/>
                <a:ea typeface="Times New Roman" panose="02020603050405020304" pitchFamily="18" charset="0"/>
              </a:rPr>
              <a:t>High unemployment led to reduced discretionary spending, affecting Adobe’s customer base and creative professionals still needed software, but companies were cautious with spending.</a:t>
            </a:r>
            <a:endParaRPr lang="en-IN" sz="2000" u="none" strike="noStrike" dirty="0">
              <a:solidFill>
                <a:schemeClr val="tx1"/>
              </a:solidFill>
              <a:effectLst/>
              <a:latin typeface="Inter"/>
              <a:ea typeface="Arial" panose="020B0604020202020204" pitchFamily="34" charset="0"/>
            </a:endParaRPr>
          </a:p>
          <a:p>
            <a:pPr marL="0" indent="0" algn="just">
              <a:lnSpc>
                <a:spcPct val="115000"/>
              </a:lnSpc>
              <a:spcBef>
                <a:spcPts val="1200"/>
              </a:spcBef>
              <a:spcAft>
                <a:spcPts val="200"/>
              </a:spcAft>
              <a:buNone/>
            </a:pPr>
            <a:r>
              <a:rPr lang="en-IN" sz="2000" b="1" dirty="0">
                <a:solidFill>
                  <a:srgbClr val="FFFF00"/>
                </a:solidFill>
                <a:effectLst/>
                <a:latin typeface="Inter"/>
                <a:ea typeface="Times New Roman" panose="02020603050405020304" pitchFamily="18" charset="0"/>
              </a:rPr>
              <a:t>Taxes on the Industry</a:t>
            </a:r>
            <a:r>
              <a:rPr lang="en-IN" sz="2000" b="1" dirty="0">
                <a:solidFill>
                  <a:srgbClr val="FFFF00"/>
                </a:solidFill>
                <a:latin typeface="Inter"/>
              </a:rPr>
              <a:t> </a:t>
            </a:r>
            <a:r>
              <a:rPr lang="en-IN" sz="2000" b="1" dirty="0">
                <a:solidFill>
                  <a:schemeClr val="tx1"/>
                </a:solidFill>
                <a:latin typeface="Inter"/>
              </a:rPr>
              <a:t>- </a:t>
            </a:r>
            <a:r>
              <a:rPr lang="en-IN" sz="2000" u="none" strike="noStrike" dirty="0">
                <a:solidFill>
                  <a:schemeClr val="tx1"/>
                </a:solidFill>
                <a:effectLst/>
                <a:latin typeface="Inter"/>
                <a:ea typeface="Times New Roman" panose="02020603050405020304" pitchFamily="18" charset="0"/>
              </a:rPr>
              <a:t>Government Stimulus:</a:t>
            </a:r>
            <a:r>
              <a:rPr lang="en-IN" sz="2000" dirty="0">
                <a:solidFill>
                  <a:schemeClr val="tx1"/>
                </a:solidFill>
                <a:latin typeface="Inter"/>
                <a:ea typeface="Times New Roman" panose="02020603050405020304" pitchFamily="18" charset="0"/>
              </a:rPr>
              <a:t> </a:t>
            </a:r>
            <a:r>
              <a:rPr lang="en-IN" sz="2000" u="none" strike="noStrike" dirty="0">
                <a:solidFill>
                  <a:schemeClr val="tx1"/>
                </a:solidFill>
                <a:effectLst/>
                <a:latin typeface="Inter"/>
                <a:ea typeface="Times New Roman" panose="02020603050405020304" pitchFamily="18" charset="0"/>
              </a:rPr>
              <a:t>Some tax relief measures, but overall reduced corporate profits and government spending and reduced opportunities for Adobe in public sector contracts.</a:t>
            </a:r>
            <a:endParaRPr lang="en-IN" sz="2000" u="none" strike="noStrike" dirty="0">
              <a:solidFill>
                <a:schemeClr val="tx1"/>
              </a:solidFill>
              <a:effectLst/>
              <a:latin typeface="Inter"/>
              <a:ea typeface="Arial" panose="020B0604020202020204" pitchFamily="34" charset="0"/>
            </a:endParaRPr>
          </a:p>
          <a:p>
            <a:pPr marL="0" indent="0">
              <a:buNone/>
            </a:pPr>
            <a:endParaRPr lang="en-IN" dirty="0"/>
          </a:p>
        </p:txBody>
      </p:sp>
    </p:spTree>
    <p:extLst>
      <p:ext uri="{BB962C8B-B14F-4D97-AF65-F5344CB8AC3E}">
        <p14:creationId xmlns:p14="http://schemas.microsoft.com/office/powerpoint/2010/main" val="26026988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443D1-EECC-730F-1A95-623B7DB3C130}"/>
              </a:ext>
            </a:extLst>
          </p:cNvPr>
          <p:cNvSpPr>
            <a:spLocks noGrp="1"/>
          </p:cNvSpPr>
          <p:nvPr>
            <p:ph type="title"/>
          </p:nvPr>
        </p:nvSpPr>
        <p:spPr/>
        <p:txBody>
          <a:bodyPr>
            <a:normAutofit/>
          </a:bodyPr>
          <a:lstStyle/>
          <a:p>
            <a:r>
              <a:rPr lang="en-IN" dirty="0">
                <a:solidFill>
                  <a:srgbClr val="00FFFF"/>
                </a:solidFill>
                <a:effectLst/>
                <a:ea typeface="Times New Roman" panose="02020603050405020304" pitchFamily="18" charset="0"/>
              </a:rPr>
              <a:t>Post-2008 Recovery &amp; Subscription Transition (2010–2024)</a:t>
            </a:r>
            <a:endParaRPr lang="en-IN" dirty="0">
              <a:solidFill>
                <a:srgbClr val="00FFFF"/>
              </a:solidFill>
            </a:endParaRPr>
          </a:p>
        </p:txBody>
      </p:sp>
      <p:sp>
        <p:nvSpPr>
          <p:cNvPr id="3" name="Content Placeholder 2">
            <a:extLst>
              <a:ext uri="{FF2B5EF4-FFF2-40B4-BE49-F238E27FC236}">
                <a16:creationId xmlns:a16="http://schemas.microsoft.com/office/drawing/2014/main" id="{96887779-B1B4-D04B-B583-5A96E374147C}"/>
              </a:ext>
            </a:extLst>
          </p:cNvPr>
          <p:cNvSpPr>
            <a:spLocks noGrp="1"/>
          </p:cNvSpPr>
          <p:nvPr>
            <p:ph idx="1"/>
          </p:nvPr>
        </p:nvSpPr>
        <p:spPr>
          <a:xfrm>
            <a:off x="677334" y="1930400"/>
            <a:ext cx="8596668" cy="4696541"/>
          </a:xfrm>
        </p:spPr>
        <p:txBody>
          <a:bodyPr>
            <a:normAutofit fontScale="85000" lnSpcReduction="10000"/>
          </a:bodyPr>
          <a:lstStyle/>
          <a:p>
            <a:pPr marL="0" indent="0" algn="just">
              <a:lnSpc>
                <a:spcPct val="115000"/>
              </a:lnSpc>
              <a:spcBef>
                <a:spcPts val="1200"/>
              </a:spcBef>
              <a:spcAft>
                <a:spcPts val="200"/>
              </a:spcAft>
              <a:buNone/>
            </a:pPr>
            <a:r>
              <a:rPr lang="en-IN" sz="2200" b="1" dirty="0">
                <a:solidFill>
                  <a:srgbClr val="FFFF00"/>
                </a:solidFill>
                <a:effectLst/>
                <a:latin typeface="Inter"/>
                <a:ea typeface="Times New Roman" panose="02020603050405020304" pitchFamily="18" charset="0"/>
              </a:rPr>
              <a:t>Inflation</a:t>
            </a:r>
            <a:r>
              <a:rPr lang="en-IN" sz="2200" b="1" dirty="0">
                <a:solidFill>
                  <a:schemeClr val="tx1"/>
                </a:solidFill>
                <a:latin typeface="Inter"/>
              </a:rPr>
              <a:t> - </a:t>
            </a:r>
            <a:r>
              <a:rPr lang="en-IN" sz="2200" u="none" strike="noStrike" dirty="0">
                <a:solidFill>
                  <a:schemeClr val="tx1"/>
                </a:solidFill>
                <a:effectLst/>
                <a:latin typeface="Inter"/>
                <a:ea typeface="Times New Roman" panose="02020603050405020304" pitchFamily="18" charset="0"/>
              </a:rPr>
              <a:t>Stable Inflation, with COVID-related Spike (2020-2021):</a:t>
            </a:r>
            <a:r>
              <a:rPr lang="en-IN" sz="2200" dirty="0">
                <a:solidFill>
                  <a:schemeClr val="tx1"/>
                </a:solidFill>
                <a:latin typeface="Inter"/>
                <a:ea typeface="Times New Roman" panose="02020603050405020304" pitchFamily="18" charset="0"/>
              </a:rPr>
              <a:t> </a:t>
            </a:r>
            <a:r>
              <a:rPr lang="en-IN" sz="2200" u="none" strike="noStrike" dirty="0">
                <a:solidFill>
                  <a:schemeClr val="tx1"/>
                </a:solidFill>
                <a:effectLst/>
                <a:latin typeface="Inter"/>
                <a:ea typeface="Times New Roman" panose="02020603050405020304" pitchFamily="18" charset="0"/>
              </a:rPr>
              <a:t>Post-crisis, inflation remained moderate, but surged during the pandemic due to supply chain disruptions and Adobe managed inflationary pressures through its subscription model.</a:t>
            </a:r>
          </a:p>
          <a:p>
            <a:pPr marL="0" indent="0" algn="just">
              <a:lnSpc>
                <a:spcPct val="115000"/>
              </a:lnSpc>
              <a:spcBef>
                <a:spcPts val="1200"/>
              </a:spcBef>
              <a:spcAft>
                <a:spcPts val="200"/>
              </a:spcAft>
              <a:buNone/>
            </a:pPr>
            <a:r>
              <a:rPr lang="en-IN" sz="2200" b="1" dirty="0">
                <a:solidFill>
                  <a:srgbClr val="FFFF00"/>
                </a:solidFill>
                <a:effectLst/>
                <a:latin typeface="Inter"/>
                <a:ea typeface="Times New Roman" panose="02020603050405020304" pitchFamily="18" charset="0"/>
              </a:rPr>
              <a:t>Recession</a:t>
            </a:r>
            <a:r>
              <a:rPr lang="en-IN" sz="2200" b="1" dirty="0">
                <a:solidFill>
                  <a:schemeClr val="tx1"/>
                </a:solidFill>
                <a:latin typeface="Inter"/>
              </a:rPr>
              <a:t> - </a:t>
            </a:r>
            <a:r>
              <a:rPr lang="en-IN" sz="2200" u="none" strike="noStrike" dirty="0">
                <a:solidFill>
                  <a:schemeClr val="tx1"/>
                </a:solidFill>
                <a:effectLst/>
                <a:latin typeface="Inter"/>
                <a:ea typeface="Times New Roman" panose="02020603050405020304" pitchFamily="18" charset="0"/>
              </a:rPr>
              <a:t>Pandemic Recession (2020):</a:t>
            </a:r>
            <a:r>
              <a:rPr lang="en-IN" sz="2200" dirty="0">
                <a:solidFill>
                  <a:schemeClr val="tx1"/>
                </a:solidFill>
                <a:latin typeface="Inter"/>
                <a:ea typeface="Times New Roman" panose="02020603050405020304" pitchFamily="18" charset="0"/>
              </a:rPr>
              <a:t> </a:t>
            </a:r>
            <a:r>
              <a:rPr lang="en-IN" sz="2200" u="none" strike="noStrike" dirty="0">
                <a:solidFill>
                  <a:schemeClr val="tx1"/>
                </a:solidFill>
                <a:effectLst/>
                <a:latin typeface="Inter"/>
                <a:ea typeface="Times New Roman" panose="02020603050405020304" pitchFamily="18" charset="0"/>
              </a:rPr>
              <a:t>Adobe benefited from increased demand for digital tools as remote work, online education, and content creation grew and the shift to a cloud-based, subscription model proved resilient during economic downturns.</a:t>
            </a:r>
            <a:endParaRPr lang="en-IN" sz="2200" u="none" strike="noStrike" dirty="0">
              <a:solidFill>
                <a:schemeClr val="tx1"/>
              </a:solidFill>
              <a:effectLst/>
              <a:latin typeface="Inter"/>
              <a:ea typeface="Arial" panose="020B0604020202020204" pitchFamily="34" charset="0"/>
            </a:endParaRPr>
          </a:p>
          <a:p>
            <a:pPr marL="0" indent="0" algn="just">
              <a:lnSpc>
                <a:spcPct val="115000"/>
              </a:lnSpc>
              <a:spcBef>
                <a:spcPts val="1200"/>
              </a:spcBef>
              <a:spcAft>
                <a:spcPts val="200"/>
              </a:spcAft>
              <a:buNone/>
            </a:pPr>
            <a:r>
              <a:rPr lang="en-IN" sz="2200" b="1" dirty="0">
                <a:solidFill>
                  <a:srgbClr val="FFFF00"/>
                </a:solidFill>
                <a:effectLst/>
                <a:latin typeface="Inter"/>
                <a:ea typeface="Times New Roman" panose="02020603050405020304" pitchFamily="18" charset="0"/>
              </a:rPr>
              <a:t>Unemployment</a:t>
            </a:r>
            <a:r>
              <a:rPr lang="en-IN" sz="2200" b="1" dirty="0">
                <a:solidFill>
                  <a:schemeClr val="tx1"/>
                </a:solidFill>
                <a:latin typeface="Inter"/>
              </a:rPr>
              <a:t> - </a:t>
            </a:r>
            <a:r>
              <a:rPr lang="en-IN" sz="2200" u="none" strike="noStrike" dirty="0">
                <a:solidFill>
                  <a:schemeClr val="tx1"/>
                </a:solidFill>
                <a:effectLst/>
                <a:latin typeface="Inter"/>
                <a:ea typeface="Times New Roman" panose="02020603050405020304" pitchFamily="18" charset="0"/>
              </a:rPr>
              <a:t>Gradual Recovery, Pandemic Spike:</a:t>
            </a:r>
            <a:r>
              <a:rPr lang="en-IN" sz="2200" dirty="0">
                <a:solidFill>
                  <a:schemeClr val="tx1"/>
                </a:solidFill>
                <a:latin typeface="Inter"/>
                <a:ea typeface="Times New Roman" panose="02020603050405020304" pitchFamily="18" charset="0"/>
              </a:rPr>
              <a:t> </a:t>
            </a:r>
            <a:r>
              <a:rPr lang="en-IN" sz="2200" u="none" strike="noStrike" dirty="0">
                <a:solidFill>
                  <a:schemeClr val="tx1"/>
                </a:solidFill>
                <a:effectLst/>
                <a:latin typeface="Inter"/>
                <a:ea typeface="Times New Roman" panose="02020603050405020304" pitchFamily="18" charset="0"/>
              </a:rPr>
              <a:t>Unemployment rates gradually decreased, but the pandemic caused a temporary spike and Adobe’s transition to a more flexible, remote-work model helped retain a skilled workforce.</a:t>
            </a:r>
            <a:endParaRPr lang="en-IN" sz="2200" u="none" strike="noStrike" dirty="0">
              <a:solidFill>
                <a:schemeClr val="tx1"/>
              </a:solidFill>
              <a:effectLst/>
              <a:latin typeface="Inter"/>
              <a:ea typeface="Arial" panose="020B0604020202020204" pitchFamily="34" charset="0"/>
            </a:endParaRPr>
          </a:p>
          <a:p>
            <a:pPr marL="0" indent="0" algn="just">
              <a:lnSpc>
                <a:spcPct val="115000"/>
              </a:lnSpc>
              <a:spcBef>
                <a:spcPts val="1200"/>
              </a:spcBef>
              <a:spcAft>
                <a:spcPts val="200"/>
              </a:spcAft>
              <a:buNone/>
            </a:pPr>
            <a:r>
              <a:rPr lang="en-IN" sz="2200" b="1" dirty="0">
                <a:solidFill>
                  <a:srgbClr val="FFFF00"/>
                </a:solidFill>
                <a:effectLst/>
                <a:latin typeface="Inter"/>
                <a:ea typeface="Times New Roman" panose="02020603050405020304" pitchFamily="18" charset="0"/>
              </a:rPr>
              <a:t>Taxes on the Industry</a:t>
            </a:r>
            <a:r>
              <a:rPr lang="en-IN" sz="2200" b="1" dirty="0">
                <a:solidFill>
                  <a:srgbClr val="FFFF00"/>
                </a:solidFill>
                <a:latin typeface="Inter"/>
              </a:rPr>
              <a:t> </a:t>
            </a:r>
            <a:r>
              <a:rPr lang="en-IN" sz="2200" b="1" dirty="0">
                <a:solidFill>
                  <a:schemeClr val="tx1"/>
                </a:solidFill>
                <a:latin typeface="Inter"/>
              </a:rPr>
              <a:t>- </a:t>
            </a:r>
            <a:r>
              <a:rPr lang="en-IN" sz="2200" u="none" strike="noStrike" dirty="0">
                <a:solidFill>
                  <a:schemeClr val="tx1"/>
                </a:solidFill>
                <a:effectLst/>
                <a:latin typeface="Inter"/>
                <a:ea typeface="Times New Roman" panose="02020603050405020304" pitchFamily="18" charset="0"/>
              </a:rPr>
              <a:t>Corporate Tax Cuts (2017):</a:t>
            </a:r>
            <a:r>
              <a:rPr lang="en-IN" sz="2200" dirty="0">
                <a:solidFill>
                  <a:schemeClr val="tx1"/>
                </a:solidFill>
                <a:latin typeface="Inter"/>
                <a:ea typeface="Times New Roman" panose="02020603050405020304" pitchFamily="18" charset="0"/>
              </a:rPr>
              <a:t> </a:t>
            </a:r>
            <a:r>
              <a:rPr lang="en-IN" sz="2200" u="none" strike="noStrike" dirty="0">
                <a:solidFill>
                  <a:schemeClr val="tx1"/>
                </a:solidFill>
                <a:effectLst/>
                <a:latin typeface="Inter"/>
                <a:ea typeface="Times New Roman" panose="02020603050405020304" pitchFamily="18" charset="0"/>
              </a:rPr>
              <a:t>U.S. corporate tax rates reduced from 35% to 21%, providing tax savings for Adobe and tax savings allowed for increased investment in innovation and global expansion.</a:t>
            </a:r>
            <a:endParaRPr lang="en-IN" sz="2200" u="none" strike="noStrike" dirty="0">
              <a:solidFill>
                <a:schemeClr val="tx1"/>
              </a:solidFill>
              <a:effectLst/>
              <a:latin typeface="Inter"/>
              <a:ea typeface="Arial" panose="020B0604020202020204" pitchFamily="34" charset="0"/>
            </a:endParaRPr>
          </a:p>
          <a:p>
            <a:pPr marL="0" indent="0">
              <a:lnSpc>
                <a:spcPct val="115000"/>
              </a:lnSpc>
              <a:spcBef>
                <a:spcPts val="1200"/>
              </a:spcBef>
              <a:spcAft>
                <a:spcPts val="200"/>
              </a:spcAft>
              <a:buNone/>
            </a:pPr>
            <a:endParaRPr lang="en-IN" sz="1100" u="none" strike="noStrike"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6706529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B8982-3CB9-D498-395B-8D749854C34F}"/>
              </a:ext>
            </a:extLst>
          </p:cNvPr>
          <p:cNvSpPr>
            <a:spLocks noGrp="1"/>
          </p:cNvSpPr>
          <p:nvPr>
            <p:ph type="title"/>
          </p:nvPr>
        </p:nvSpPr>
        <p:spPr/>
        <p:txBody>
          <a:bodyPr/>
          <a:lstStyle/>
          <a:p>
            <a:r>
              <a:rPr lang="en-US" dirty="0">
                <a:solidFill>
                  <a:srgbClr val="00FFFF"/>
                </a:solidFill>
              </a:rPr>
              <a:t>Main Insights</a:t>
            </a:r>
            <a:endParaRPr lang="en-IN" dirty="0">
              <a:solidFill>
                <a:srgbClr val="00FFFF"/>
              </a:solidFill>
            </a:endParaRPr>
          </a:p>
        </p:txBody>
      </p:sp>
      <p:sp>
        <p:nvSpPr>
          <p:cNvPr id="3" name="Content Placeholder 2">
            <a:extLst>
              <a:ext uri="{FF2B5EF4-FFF2-40B4-BE49-F238E27FC236}">
                <a16:creationId xmlns:a16="http://schemas.microsoft.com/office/drawing/2014/main" id="{4A4CFC34-011A-4D66-E42E-420A03794E5C}"/>
              </a:ext>
            </a:extLst>
          </p:cNvPr>
          <p:cNvSpPr>
            <a:spLocks noGrp="1"/>
          </p:cNvSpPr>
          <p:nvPr>
            <p:ph idx="1"/>
          </p:nvPr>
        </p:nvSpPr>
        <p:spPr>
          <a:xfrm>
            <a:off x="677334" y="1750142"/>
            <a:ext cx="8596668" cy="4291220"/>
          </a:xfrm>
        </p:spPr>
        <p:txBody>
          <a:bodyPr>
            <a:normAutofit/>
          </a:bodyPr>
          <a:lstStyle/>
          <a:p>
            <a:pPr marL="0" indent="0" algn="just">
              <a:buNone/>
            </a:pPr>
            <a:r>
              <a:rPr lang="en-US" sz="2000" b="1" dirty="0">
                <a:solidFill>
                  <a:srgbClr val="FFFF00"/>
                </a:solidFill>
                <a:latin typeface="Inter"/>
              </a:rPr>
              <a:t>Pre-2008:</a:t>
            </a:r>
            <a:r>
              <a:rPr lang="en-US" sz="2000" dirty="0">
                <a:solidFill>
                  <a:srgbClr val="FFFF00"/>
                </a:solidFill>
                <a:latin typeface="Inter"/>
              </a:rPr>
              <a:t> </a:t>
            </a:r>
            <a:r>
              <a:rPr lang="en-US" sz="2000" dirty="0">
                <a:solidFill>
                  <a:schemeClr val="tx1"/>
                </a:solidFill>
                <a:latin typeface="Inter"/>
              </a:rPr>
              <a:t>A strong and stable economy fostered consistent growth, with Adobe benefiting from low inflation, low unemployment, and supportive tax policies.</a:t>
            </a:r>
          </a:p>
          <a:p>
            <a:pPr marL="0" indent="0" algn="just">
              <a:buNone/>
            </a:pPr>
            <a:r>
              <a:rPr lang="en-US" sz="2000" b="1" dirty="0">
                <a:solidFill>
                  <a:srgbClr val="FFFF00"/>
                </a:solidFill>
                <a:latin typeface="Inter"/>
              </a:rPr>
              <a:t>2008 Financial Crisis:</a:t>
            </a:r>
            <a:r>
              <a:rPr lang="en-US" sz="2000" dirty="0">
                <a:solidFill>
                  <a:srgbClr val="FFFF00"/>
                </a:solidFill>
                <a:latin typeface="Inter"/>
              </a:rPr>
              <a:t> </a:t>
            </a:r>
            <a:r>
              <a:rPr lang="en-US" sz="2000" dirty="0">
                <a:solidFill>
                  <a:schemeClr val="tx1"/>
                </a:solidFill>
                <a:latin typeface="Inter"/>
              </a:rPr>
              <a:t>The recession prompted Adobe to quickly adapt as demand for high-end products declined. However, the company’s shift to subscription-based models started to generate more stable, recurring revenue.</a:t>
            </a:r>
          </a:p>
          <a:p>
            <a:pPr marL="0" indent="0" algn="just">
              <a:buNone/>
            </a:pPr>
            <a:r>
              <a:rPr lang="en-US" sz="2000" b="1" dirty="0">
                <a:solidFill>
                  <a:srgbClr val="FFFF00"/>
                </a:solidFill>
                <a:latin typeface="Inter"/>
              </a:rPr>
              <a:t>Post-2008 Recovery:</a:t>
            </a:r>
            <a:r>
              <a:rPr lang="en-US" sz="2000" dirty="0">
                <a:solidFill>
                  <a:srgbClr val="FFFF00"/>
                </a:solidFill>
                <a:latin typeface="Inter"/>
              </a:rPr>
              <a:t> </a:t>
            </a:r>
            <a:r>
              <a:rPr lang="en-US" sz="2000" dirty="0">
                <a:solidFill>
                  <a:schemeClr val="tx1"/>
                </a:solidFill>
                <a:latin typeface="Inter"/>
              </a:rPr>
              <a:t>Adobe’s transition to a cloud-based subscription model (Creative Cloud) positioned the company for long-term success, enabling it to remain resilient even through economic challenges such as the COVID-19 pandemic.</a:t>
            </a:r>
            <a:endParaRPr lang="en-IN" sz="2000" dirty="0">
              <a:solidFill>
                <a:schemeClr val="tx1"/>
              </a:solidFill>
              <a:latin typeface="Inter"/>
            </a:endParaRPr>
          </a:p>
        </p:txBody>
      </p:sp>
    </p:spTree>
    <p:extLst>
      <p:ext uri="{BB962C8B-B14F-4D97-AF65-F5344CB8AC3E}">
        <p14:creationId xmlns:p14="http://schemas.microsoft.com/office/powerpoint/2010/main" val="33576619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34F1D99-3A43-693D-F5D3-473033B951F8}"/>
              </a:ext>
            </a:extLst>
          </p:cNvPr>
          <p:cNvGraphicFramePr>
            <a:graphicFrameLocks noGrp="1"/>
          </p:cNvGraphicFramePr>
          <p:nvPr>
            <p:extLst>
              <p:ext uri="{D42A27DB-BD31-4B8C-83A1-F6EECF244321}">
                <p14:modId xmlns:p14="http://schemas.microsoft.com/office/powerpoint/2010/main" val="3512410077"/>
              </p:ext>
            </p:extLst>
          </p:nvPr>
        </p:nvGraphicFramePr>
        <p:xfrm>
          <a:off x="1047750" y="719665"/>
          <a:ext cx="8248648" cy="5500160"/>
        </p:xfrm>
        <a:graphic>
          <a:graphicData uri="http://schemas.openxmlformats.org/drawingml/2006/table">
            <a:tbl>
              <a:tblPr firstRow="1" bandRow="1">
                <a:tableStyleId>{5C22544A-7EE6-4342-B048-85BDC9FD1C3A}</a:tableStyleId>
              </a:tblPr>
              <a:tblGrid>
                <a:gridCol w="2062162">
                  <a:extLst>
                    <a:ext uri="{9D8B030D-6E8A-4147-A177-3AD203B41FA5}">
                      <a16:colId xmlns:a16="http://schemas.microsoft.com/office/drawing/2014/main" val="1147638359"/>
                    </a:ext>
                  </a:extLst>
                </a:gridCol>
                <a:gridCol w="2062162">
                  <a:extLst>
                    <a:ext uri="{9D8B030D-6E8A-4147-A177-3AD203B41FA5}">
                      <a16:colId xmlns:a16="http://schemas.microsoft.com/office/drawing/2014/main" val="4066798827"/>
                    </a:ext>
                  </a:extLst>
                </a:gridCol>
                <a:gridCol w="2062162">
                  <a:extLst>
                    <a:ext uri="{9D8B030D-6E8A-4147-A177-3AD203B41FA5}">
                      <a16:colId xmlns:a16="http://schemas.microsoft.com/office/drawing/2014/main" val="2069559673"/>
                    </a:ext>
                  </a:extLst>
                </a:gridCol>
                <a:gridCol w="2062162">
                  <a:extLst>
                    <a:ext uri="{9D8B030D-6E8A-4147-A177-3AD203B41FA5}">
                      <a16:colId xmlns:a16="http://schemas.microsoft.com/office/drawing/2014/main" val="2000271457"/>
                    </a:ext>
                  </a:extLst>
                </a:gridCol>
              </a:tblGrid>
              <a:tr h="1100032">
                <a:tc>
                  <a:txBody>
                    <a:bodyPr/>
                    <a:lstStyle/>
                    <a:p>
                      <a:r>
                        <a:rPr lang="en-US" dirty="0"/>
                        <a:t>Factors</a:t>
                      </a:r>
                      <a:endParaRPr lang="en-IN" dirty="0"/>
                    </a:p>
                  </a:txBody>
                  <a:tcPr/>
                </a:tc>
                <a:tc>
                  <a:txBody>
                    <a:bodyPr/>
                    <a:lstStyle/>
                    <a:p>
                      <a:r>
                        <a:rPr lang="en-US" dirty="0"/>
                        <a:t>Pre-2008</a:t>
                      </a:r>
                      <a:endParaRPr lang="en-IN" dirty="0"/>
                    </a:p>
                  </a:txBody>
                  <a:tcPr/>
                </a:tc>
                <a:tc>
                  <a:txBody>
                    <a:bodyPr/>
                    <a:lstStyle/>
                    <a:p>
                      <a:r>
                        <a:rPr lang="en-US" dirty="0"/>
                        <a:t>During crisis (2008-2009)</a:t>
                      </a:r>
                      <a:endParaRPr lang="en-IN" dirty="0"/>
                    </a:p>
                  </a:txBody>
                  <a:tcPr/>
                </a:tc>
                <a:tc>
                  <a:txBody>
                    <a:bodyPr/>
                    <a:lstStyle/>
                    <a:p>
                      <a:r>
                        <a:rPr lang="en-US" dirty="0"/>
                        <a:t>Post crisis  (2010-2024)</a:t>
                      </a:r>
                      <a:endParaRPr lang="en-IN" dirty="0"/>
                    </a:p>
                  </a:txBody>
                  <a:tcPr/>
                </a:tc>
                <a:extLst>
                  <a:ext uri="{0D108BD9-81ED-4DB2-BD59-A6C34878D82A}">
                    <a16:rowId xmlns:a16="http://schemas.microsoft.com/office/drawing/2014/main" val="1423840094"/>
                  </a:ext>
                </a:extLst>
              </a:tr>
              <a:tr h="1100032">
                <a:tc>
                  <a:txBody>
                    <a:bodyPr/>
                    <a:lstStyle/>
                    <a:p>
                      <a:r>
                        <a:rPr lang="en-US" dirty="0"/>
                        <a:t>Inflation</a:t>
                      </a:r>
                      <a:endParaRPr lang="en-IN" dirty="0"/>
                    </a:p>
                  </a:txBody>
                  <a:tcPr/>
                </a:tc>
                <a:tc>
                  <a:txBody>
                    <a:bodyPr/>
                    <a:lstStyle/>
                    <a:p>
                      <a:r>
                        <a:rPr lang="en-US" dirty="0"/>
                        <a:t>Stable 2-4%</a:t>
                      </a:r>
                      <a:endParaRPr lang="en-IN" dirty="0"/>
                    </a:p>
                  </a:txBody>
                  <a:tcPr/>
                </a:tc>
                <a:tc>
                  <a:txBody>
                    <a:bodyPr/>
                    <a:lstStyle/>
                    <a:p>
                      <a:r>
                        <a:rPr lang="en-US" dirty="0"/>
                        <a:t>Deflationary pressures</a:t>
                      </a:r>
                      <a:endParaRPr lang="en-IN" dirty="0"/>
                    </a:p>
                  </a:txBody>
                  <a:tcPr/>
                </a:tc>
                <a:tc>
                  <a:txBody>
                    <a:bodyPr/>
                    <a:lstStyle/>
                    <a:p>
                      <a:r>
                        <a:rPr lang="en-US" dirty="0"/>
                        <a:t>Moderate with pandemic spike</a:t>
                      </a:r>
                      <a:endParaRPr lang="en-IN" dirty="0"/>
                    </a:p>
                  </a:txBody>
                  <a:tcPr/>
                </a:tc>
                <a:extLst>
                  <a:ext uri="{0D108BD9-81ED-4DB2-BD59-A6C34878D82A}">
                    <a16:rowId xmlns:a16="http://schemas.microsoft.com/office/drawing/2014/main" val="4206095452"/>
                  </a:ext>
                </a:extLst>
              </a:tr>
              <a:tr h="1100032">
                <a:tc>
                  <a:txBody>
                    <a:bodyPr/>
                    <a:lstStyle/>
                    <a:p>
                      <a:r>
                        <a:rPr lang="en-US" dirty="0"/>
                        <a:t>Recession</a:t>
                      </a:r>
                      <a:endParaRPr lang="en-IN" dirty="0"/>
                    </a:p>
                  </a:txBody>
                  <a:tcPr/>
                </a:tc>
                <a:tc>
                  <a:txBody>
                    <a:bodyPr/>
                    <a:lstStyle/>
                    <a:p>
                      <a:r>
                        <a:rPr lang="en-US" dirty="0"/>
                        <a:t>Tech boom growth</a:t>
                      </a:r>
                      <a:endParaRPr lang="en-IN" dirty="0"/>
                    </a:p>
                  </a:txBody>
                  <a:tcPr/>
                </a:tc>
                <a:tc>
                  <a:txBody>
                    <a:bodyPr/>
                    <a:lstStyle/>
                    <a:p>
                      <a:r>
                        <a:rPr lang="en-US" dirty="0"/>
                        <a:t>Economic contraction</a:t>
                      </a:r>
                      <a:endParaRPr lang="en-IN" dirty="0"/>
                    </a:p>
                  </a:txBody>
                  <a:tcPr/>
                </a:tc>
                <a:tc>
                  <a:txBody>
                    <a:bodyPr/>
                    <a:lstStyle/>
                    <a:p>
                      <a:r>
                        <a:rPr lang="en-US" dirty="0"/>
                        <a:t>Resilient due to cloud shift</a:t>
                      </a:r>
                      <a:endParaRPr lang="en-IN" dirty="0"/>
                    </a:p>
                  </a:txBody>
                  <a:tcPr/>
                </a:tc>
                <a:extLst>
                  <a:ext uri="{0D108BD9-81ED-4DB2-BD59-A6C34878D82A}">
                    <a16:rowId xmlns:a16="http://schemas.microsoft.com/office/drawing/2014/main" val="3631439169"/>
                  </a:ext>
                </a:extLst>
              </a:tr>
              <a:tr h="1100032">
                <a:tc>
                  <a:txBody>
                    <a:bodyPr/>
                    <a:lstStyle/>
                    <a:p>
                      <a:r>
                        <a:rPr lang="en-US" dirty="0"/>
                        <a:t>Unemployment</a:t>
                      </a:r>
                      <a:endParaRPr lang="en-IN" dirty="0"/>
                    </a:p>
                  </a:txBody>
                  <a:tcPr/>
                </a:tc>
                <a:tc>
                  <a:txBody>
                    <a:bodyPr/>
                    <a:lstStyle/>
                    <a:p>
                      <a:r>
                        <a:rPr lang="en-US" dirty="0"/>
                        <a:t>Low 4.5-5%</a:t>
                      </a:r>
                      <a:endParaRPr lang="en-IN" dirty="0"/>
                    </a:p>
                  </a:txBody>
                  <a:tcPr/>
                </a:tc>
                <a:tc>
                  <a:txBody>
                    <a:bodyPr/>
                    <a:lstStyle/>
                    <a:p>
                      <a:r>
                        <a:rPr lang="en-US" dirty="0"/>
                        <a:t>High 10%</a:t>
                      </a:r>
                      <a:endParaRPr lang="en-IN" dirty="0"/>
                    </a:p>
                  </a:txBody>
                  <a:tcPr/>
                </a:tc>
                <a:tc>
                  <a:txBody>
                    <a:bodyPr/>
                    <a:lstStyle/>
                    <a:p>
                      <a:r>
                        <a:rPr lang="en-US" dirty="0"/>
                        <a:t>Gradual recovery, pandemic impact</a:t>
                      </a:r>
                      <a:endParaRPr lang="en-IN" dirty="0"/>
                    </a:p>
                  </a:txBody>
                  <a:tcPr/>
                </a:tc>
                <a:extLst>
                  <a:ext uri="{0D108BD9-81ED-4DB2-BD59-A6C34878D82A}">
                    <a16:rowId xmlns:a16="http://schemas.microsoft.com/office/drawing/2014/main" val="743729408"/>
                  </a:ext>
                </a:extLst>
              </a:tr>
              <a:tr h="1100032">
                <a:tc>
                  <a:txBody>
                    <a:bodyPr/>
                    <a:lstStyle/>
                    <a:p>
                      <a:r>
                        <a:rPr lang="en-US" dirty="0"/>
                        <a:t>Taxes on the Industry</a:t>
                      </a:r>
                      <a:endParaRPr lang="en-IN" dirty="0"/>
                    </a:p>
                  </a:txBody>
                  <a:tcPr/>
                </a:tc>
                <a:tc>
                  <a:txBody>
                    <a:bodyPr/>
                    <a:lstStyle/>
                    <a:p>
                      <a:r>
                        <a:rPr lang="en-US" dirty="0"/>
                        <a:t>Stable, favorable for R&amp;D</a:t>
                      </a:r>
                      <a:endParaRPr lang="en-IN" dirty="0"/>
                    </a:p>
                  </a:txBody>
                  <a:tcPr/>
                </a:tc>
                <a:tc>
                  <a:txBody>
                    <a:bodyPr/>
                    <a:lstStyle/>
                    <a:p>
                      <a:r>
                        <a:rPr lang="en-US" dirty="0"/>
                        <a:t>Stimulus but high corporate tax</a:t>
                      </a:r>
                      <a:endParaRPr lang="en-IN" dirty="0"/>
                    </a:p>
                  </a:txBody>
                  <a:tcPr/>
                </a:tc>
                <a:tc>
                  <a:txBody>
                    <a:bodyPr/>
                    <a:lstStyle/>
                    <a:p>
                      <a:r>
                        <a:rPr lang="en-US" dirty="0"/>
                        <a:t>Lower taxes 21% corporate</a:t>
                      </a:r>
                      <a:endParaRPr lang="en-IN" dirty="0"/>
                    </a:p>
                  </a:txBody>
                  <a:tcPr/>
                </a:tc>
                <a:extLst>
                  <a:ext uri="{0D108BD9-81ED-4DB2-BD59-A6C34878D82A}">
                    <a16:rowId xmlns:a16="http://schemas.microsoft.com/office/drawing/2014/main" val="1273717281"/>
                  </a:ext>
                </a:extLst>
              </a:tr>
            </a:tbl>
          </a:graphicData>
        </a:graphic>
      </p:graphicFrame>
    </p:spTree>
    <p:extLst>
      <p:ext uri="{BB962C8B-B14F-4D97-AF65-F5344CB8AC3E}">
        <p14:creationId xmlns:p14="http://schemas.microsoft.com/office/powerpoint/2010/main" val="17296568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B3939-B960-BD35-4FBB-D3B5F87E7A9A}"/>
              </a:ext>
            </a:extLst>
          </p:cNvPr>
          <p:cNvSpPr>
            <a:spLocks noGrp="1"/>
          </p:cNvSpPr>
          <p:nvPr>
            <p:ph type="title"/>
          </p:nvPr>
        </p:nvSpPr>
        <p:spPr/>
        <p:txBody>
          <a:bodyPr>
            <a:normAutofit fontScale="90000"/>
          </a:bodyPr>
          <a:lstStyle/>
          <a:p>
            <a:pPr algn="ctr"/>
            <a:r>
              <a:rPr lang="en-US" sz="4000" u="sng" dirty="0">
                <a:solidFill>
                  <a:srgbClr val="00FFFF"/>
                </a:solidFill>
                <a:effectLst/>
                <a:ea typeface="Calibri" panose="020F0502020204030204" pitchFamily="34" charset="0"/>
              </a:rPr>
              <a:t>International</a:t>
            </a:r>
            <a:r>
              <a:rPr lang="en-US" sz="4000" u="sng" spc="120" dirty="0">
                <a:solidFill>
                  <a:srgbClr val="00FFFF"/>
                </a:solidFill>
                <a:effectLst/>
                <a:ea typeface="Calibri" panose="020F0502020204030204" pitchFamily="34" charset="0"/>
              </a:rPr>
              <a:t> </a:t>
            </a:r>
            <a:r>
              <a:rPr lang="en-US" sz="4000" u="sng" dirty="0">
                <a:solidFill>
                  <a:srgbClr val="00FFFF"/>
                </a:solidFill>
                <a:effectLst/>
                <a:ea typeface="Calibri" panose="020F0502020204030204" pitchFamily="34" charset="0"/>
              </a:rPr>
              <a:t>Issues</a:t>
            </a:r>
            <a:r>
              <a:rPr lang="en-US" sz="4000" u="sng" spc="100" dirty="0">
                <a:solidFill>
                  <a:srgbClr val="00FFFF"/>
                </a:solidFill>
                <a:effectLst/>
                <a:ea typeface="Calibri" panose="020F0502020204030204" pitchFamily="34" charset="0"/>
              </a:rPr>
              <a:t> </a:t>
            </a:r>
            <a:r>
              <a:rPr lang="en-US" sz="4000" u="sng" dirty="0">
                <a:solidFill>
                  <a:srgbClr val="00FFFF"/>
                </a:solidFill>
                <a:effectLst/>
                <a:ea typeface="Calibri" panose="020F0502020204030204" pitchFamily="34" charset="0"/>
              </a:rPr>
              <a:t>and</a:t>
            </a:r>
            <a:r>
              <a:rPr lang="en-US" sz="4000" u="sng" spc="105" dirty="0">
                <a:solidFill>
                  <a:srgbClr val="00FFFF"/>
                </a:solidFill>
                <a:effectLst/>
                <a:ea typeface="Calibri" panose="020F0502020204030204" pitchFamily="34" charset="0"/>
              </a:rPr>
              <a:t> </a:t>
            </a:r>
            <a:r>
              <a:rPr lang="en-US" sz="4000" u="sng" dirty="0">
                <a:solidFill>
                  <a:srgbClr val="00FFFF"/>
                </a:solidFill>
                <a:effectLst/>
                <a:ea typeface="Calibri" panose="020F0502020204030204" pitchFamily="34" charset="0"/>
              </a:rPr>
              <a:t>Developments</a:t>
            </a:r>
            <a:r>
              <a:rPr lang="en-US" sz="4000" u="sng" spc="100" dirty="0">
                <a:solidFill>
                  <a:srgbClr val="00FFFF"/>
                </a:solidFill>
                <a:effectLst/>
                <a:ea typeface="Calibri" panose="020F0502020204030204" pitchFamily="34" charset="0"/>
              </a:rPr>
              <a:t> </a:t>
            </a:r>
            <a:r>
              <a:rPr lang="en-US" sz="4000" u="sng" dirty="0">
                <a:solidFill>
                  <a:srgbClr val="00FFFF"/>
                </a:solidFill>
                <a:effectLst/>
                <a:ea typeface="Calibri" panose="020F0502020204030204" pitchFamily="34" charset="0"/>
              </a:rPr>
              <a:t>that</a:t>
            </a:r>
            <a:r>
              <a:rPr lang="en-US" sz="4000" u="sng" spc="120" dirty="0">
                <a:solidFill>
                  <a:srgbClr val="00FFFF"/>
                </a:solidFill>
                <a:effectLst/>
                <a:ea typeface="Calibri" panose="020F0502020204030204" pitchFamily="34" charset="0"/>
              </a:rPr>
              <a:t> </a:t>
            </a:r>
            <a:r>
              <a:rPr lang="en-US" sz="4000" u="sng" dirty="0">
                <a:solidFill>
                  <a:srgbClr val="00FFFF"/>
                </a:solidFill>
                <a:effectLst/>
                <a:ea typeface="Calibri" panose="020F0502020204030204" pitchFamily="34" charset="0"/>
              </a:rPr>
              <a:t>Affected</a:t>
            </a:r>
            <a:r>
              <a:rPr lang="en-US" sz="4000" u="sng" spc="105" dirty="0">
                <a:solidFill>
                  <a:srgbClr val="00FFFF"/>
                </a:solidFill>
                <a:effectLst/>
                <a:ea typeface="Calibri" panose="020F0502020204030204" pitchFamily="34" charset="0"/>
              </a:rPr>
              <a:t> </a:t>
            </a:r>
            <a:r>
              <a:rPr lang="en-US" sz="4000" u="sng" dirty="0">
                <a:solidFill>
                  <a:srgbClr val="00FFFF"/>
                </a:solidFill>
                <a:effectLst/>
                <a:ea typeface="Calibri" panose="020F0502020204030204" pitchFamily="34" charset="0"/>
              </a:rPr>
              <a:t>Adobe</a:t>
            </a:r>
            <a:r>
              <a:rPr lang="en-US" sz="4000" u="sng" spc="125" dirty="0">
                <a:solidFill>
                  <a:srgbClr val="00FFFF"/>
                </a:solidFill>
                <a:effectLst/>
                <a:ea typeface="Calibri" panose="020F0502020204030204" pitchFamily="34" charset="0"/>
              </a:rPr>
              <a:t> </a:t>
            </a:r>
            <a:r>
              <a:rPr lang="en-US" sz="4000" u="sng" spc="-25" dirty="0">
                <a:solidFill>
                  <a:srgbClr val="00FFFF"/>
                </a:solidFill>
                <a:effectLst/>
                <a:ea typeface="Calibri" panose="020F0502020204030204" pitchFamily="34" charset="0"/>
              </a:rPr>
              <a:t>Inc</a:t>
            </a:r>
            <a:br>
              <a:rPr lang="en-IN" sz="1800" dirty="0">
                <a:effectLst/>
                <a:latin typeface="Calibri" panose="020F0502020204030204" pitchFamily="34" charset="0"/>
                <a:ea typeface="Calibri" panose="020F0502020204030204" pitchFamily="34" charset="0"/>
              </a:rPr>
            </a:br>
            <a:endParaRPr lang="en-IN" dirty="0"/>
          </a:p>
        </p:txBody>
      </p:sp>
      <p:sp>
        <p:nvSpPr>
          <p:cNvPr id="3" name="Content Placeholder 2">
            <a:extLst>
              <a:ext uri="{FF2B5EF4-FFF2-40B4-BE49-F238E27FC236}">
                <a16:creationId xmlns:a16="http://schemas.microsoft.com/office/drawing/2014/main" id="{E05EDF44-06A9-8D05-F80E-DA36C1A07CAF}"/>
              </a:ext>
            </a:extLst>
          </p:cNvPr>
          <p:cNvSpPr>
            <a:spLocks noGrp="1"/>
          </p:cNvSpPr>
          <p:nvPr>
            <p:ph idx="1"/>
          </p:nvPr>
        </p:nvSpPr>
        <p:spPr/>
        <p:txBody>
          <a:bodyPr/>
          <a:lstStyle/>
          <a:p>
            <a:pPr marL="0" indent="0" algn="just">
              <a:lnSpc>
                <a:spcPct val="111000"/>
              </a:lnSpc>
              <a:spcBef>
                <a:spcPts val="955"/>
              </a:spcBef>
              <a:buNone/>
            </a:pPr>
            <a:r>
              <a:rPr lang="en-US" sz="2000" dirty="0">
                <a:solidFill>
                  <a:schemeClr val="tx1"/>
                </a:solidFill>
                <a:effectLst/>
                <a:latin typeface="Inter"/>
                <a:ea typeface="Calibri" panose="020F0502020204030204" pitchFamily="34" charset="0"/>
              </a:rPr>
              <a:t>There</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are</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some</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international</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issues</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and</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developments</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that</a:t>
            </a:r>
            <a:r>
              <a:rPr lang="en-US" sz="2000" spc="-55"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could</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potentially</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affect</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Adobe</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and</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are</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noted below for reference.</a:t>
            </a:r>
          </a:p>
          <a:p>
            <a:pPr marL="193040" algn="just">
              <a:lnSpc>
                <a:spcPct val="111000"/>
              </a:lnSpc>
              <a:spcBef>
                <a:spcPts val="955"/>
              </a:spcBef>
              <a:buFont typeface="Arial" panose="020B0604020202020204" pitchFamily="34" charset="0"/>
              <a:buChar char="•"/>
            </a:pPr>
            <a:endParaRPr lang="en-IN" sz="2000" dirty="0">
              <a:solidFill>
                <a:schemeClr val="tx1"/>
              </a:solidFill>
              <a:effectLst/>
              <a:latin typeface="Inter"/>
              <a:ea typeface="Calibri" panose="020F0502020204030204" pitchFamily="34" charset="0"/>
            </a:endParaRPr>
          </a:p>
          <a:p>
            <a:pPr lvl="0" algn="just">
              <a:spcBef>
                <a:spcPts val="735"/>
              </a:spcBef>
              <a:buSzPts val="1100"/>
              <a:buFont typeface="Wingdings" panose="05000000000000000000" pitchFamily="2" charset="2"/>
              <a:buChar char="Ø"/>
              <a:tabLst>
                <a:tab pos="279400" algn="l"/>
              </a:tabLst>
            </a:pPr>
            <a:r>
              <a:rPr lang="en-US" sz="2000" u="sng" spc="-10" dirty="0">
                <a:solidFill>
                  <a:schemeClr val="tx1"/>
                </a:solidFill>
                <a:effectLst/>
                <a:latin typeface="Inter"/>
                <a:ea typeface="Calibri" panose="020F0502020204030204" pitchFamily="34" charset="0"/>
              </a:rPr>
              <a:t>Geopolitical</a:t>
            </a:r>
            <a:r>
              <a:rPr lang="en-US" sz="2000" u="sng" spc="100" dirty="0">
                <a:solidFill>
                  <a:schemeClr val="tx1"/>
                </a:solidFill>
                <a:effectLst/>
                <a:latin typeface="Inter"/>
                <a:ea typeface="Calibri" panose="020F0502020204030204" pitchFamily="34" charset="0"/>
              </a:rPr>
              <a:t> </a:t>
            </a:r>
            <a:r>
              <a:rPr lang="en-US" sz="2000" u="sng" spc="-10" dirty="0">
                <a:solidFill>
                  <a:schemeClr val="tx1"/>
                </a:solidFill>
                <a:effectLst/>
                <a:latin typeface="Inter"/>
                <a:ea typeface="Calibri" panose="020F0502020204030204" pitchFamily="34" charset="0"/>
              </a:rPr>
              <a:t>Uncertainties</a:t>
            </a:r>
          </a:p>
          <a:p>
            <a:pPr lvl="0" algn="just">
              <a:spcBef>
                <a:spcPts val="735"/>
              </a:spcBef>
              <a:buSzPts val="1100"/>
              <a:buFont typeface="Wingdings" panose="05000000000000000000" pitchFamily="2" charset="2"/>
              <a:buChar char="Ø"/>
              <a:tabLst>
                <a:tab pos="279400" algn="l"/>
              </a:tabLst>
            </a:pPr>
            <a:endParaRPr lang="en-IN" sz="2000" u="sng" spc="-10" dirty="0">
              <a:solidFill>
                <a:schemeClr val="tx1"/>
              </a:solidFill>
              <a:effectLst/>
              <a:latin typeface="Inter"/>
              <a:ea typeface="Calibri" panose="020F0502020204030204" pitchFamily="34" charset="0"/>
            </a:endParaRPr>
          </a:p>
          <a:p>
            <a:pPr lvl="0" algn="just">
              <a:spcBef>
                <a:spcPts val="145"/>
              </a:spcBef>
              <a:buSzPts val="1100"/>
              <a:buFont typeface="Wingdings" panose="05000000000000000000" pitchFamily="2" charset="2"/>
              <a:buChar char="Ø"/>
              <a:tabLst>
                <a:tab pos="279400" algn="l"/>
              </a:tabLst>
            </a:pPr>
            <a:r>
              <a:rPr lang="en-US" sz="2000" u="sng" spc="-10" dirty="0">
                <a:solidFill>
                  <a:schemeClr val="tx1"/>
                </a:solidFill>
                <a:effectLst/>
                <a:latin typeface="Inter"/>
                <a:ea typeface="Calibri" panose="020F0502020204030204" pitchFamily="34" charset="0"/>
              </a:rPr>
              <a:t>Regulatory</a:t>
            </a:r>
            <a:r>
              <a:rPr lang="en-US" sz="2000" u="sng" spc="90" dirty="0">
                <a:solidFill>
                  <a:schemeClr val="tx1"/>
                </a:solidFill>
                <a:effectLst/>
                <a:latin typeface="Inter"/>
                <a:ea typeface="Calibri" panose="020F0502020204030204" pitchFamily="34" charset="0"/>
              </a:rPr>
              <a:t> </a:t>
            </a:r>
            <a:r>
              <a:rPr lang="en-US" sz="2000" u="sng" spc="-10" dirty="0">
                <a:solidFill>
                  <a:schemeClr val="tx1"/>
                </a:solidFill>
                <a:effectLst/>
                <a:latin typeface="Inter"/>
                <a:ea typeface="Calibri" panose="020F0502020204030204" pitchFamily="34" charset="0"/>
              </a:rPr>
              <a:t>Changes</a:t>
            </a:r>
          </a:p>
          <a:p>
            <a:pPr lvl="0" algn="just">
              <a:spcBef>
                <a:spcPts val="145"/>
              </a:spcBef>
              <a:buSzPts val="1100"/>
              <a:buFont typeface="Wingdings" panose="05000000000000000000" pitchFamily="2" charset="2"/>
              <a:buChar char="Ø"/>
              <a:tabLst>
                <a:tab pos="279400" algn="l"/>
              </a:tabLst>
            </a:pPr>
            <a:endParaRPr lang="en-IN" sz="2000" u="sng" spc="-10" dirty="0">
              <a:solidFill>
                <a:schemeClr val="tx1"/>
              </a:solidFill>
              <a:effectLst/>
              <a:latin typeface="Inter"/>
              <a:ea typeface="Calibri" panose="020F0502020204030204" pitchFamily="34" charset="0"/>
            </a:endParaRPr>
          </a:p>
          <a:p>
            <a:pPr lvl="0" algn="just">
              <a:spcBef>
                <a:spcPts val="145"/>
              </a:spcBef>
              <a:buSzPts val="1100"/>
              <a:buFont typeface="Wingdings" panose="05000000000000000000" pitchFamily="2" charset="2"/>
              <a:buChar char="Ø"/>
              <a:tabLst>
                <a:tab pos="279400" algn="l"/>
              </a:tabLst>
            </a:pPr>
            <a:r>
              <a:rPr lang="en-US" sz="2000" u="sng" spc="-10" dirty="0">
                <a:solidFill>
                  <a:schemeClr val="tx1"/>
                </a:solidFill>
                <a:effectLst/>
                <a:latin typeface="Inter"/>
                <a:ea typeface="Calibri" panose="020F0502020204030204" pitchFamily="34" charset="0"/>
              </a:rPr>
              <a:t>Economic</a:t>
            </a:r>
            <a:r>
              <a:rPr lang="en-US" sz="2000" u="sng" spc="85" dirty="0">
                <a:solidFill>
                  <a:schemeClr val="tx1"/>
                </a:solidFill>
                <a:effectLst/>
                <a:latin typeface="Inter"/>
                <a:ea typeface="Calibri" panose="020F0502020204030204" pitchFamily="34" charset="0"/>
              </a:rPr>
              <a:t> </a:t>
            </a:r>
            <a:r>
              <a:rPr lang="en-US" sz="2000" u="sng" spc="-10" dirty="0">
                <a:solidFill>
                  <a:schemeClr val="tx1"/>
                </a:solidFill>
                <a:effectLst/>
                <a:latin typeface="Inter"/>
                <a:ea typeface="Calibri" panose="020F0502020204030204" pitchFamily="34" charset="0"/>
              </a:rPr>
              <a:t>Conditions</a:t>
            </a:r>
          </a:p>
          <a:p>
            <a:pPr lvl="0" algn="just">
              <a:spcBef>
                <a:spcPts val="145"/>
              </a:spcBef>
              <a:buSzPts val="1100"/>
              <a:buFont typeface="Wingdings" panose="05000000000000000000" pitchFamily="2" charset="2"/>
              <a:buChar char="Ø"/>
              <a:tabLst>
                <a:tab pos="279400" algn="l"/>
              </a:tabLst>
            </a:pPr>
            <a:endParaRPr lang="en-IN" sz="2000" u="sng" spc="-10" dirty="0">
              <a:solidFill>
                <a:schemeClr val="tx1"/>
              </a:solidFill>
              <a:effectLst/>
              <a:latin typeface="Inter"/>
              <a:ea typeface="Calibri" panose="020F0502020204030204" pitchFamily="34" charset="0"/>
            </a:endParaRPr>
          </a:p>
          <a:p>
            <a:pPr lvl="0" algn="just">
              <a:spcBef>
                <a:spcPts val="135"/>
              </a:spcBef>
              <a:buSzPts val="1100"/>
              <a:buFont typeface="Wingdings" panose="05000000000000000000" pitchFamily="2" charset="2"/>
              <a:buChar char="Ø"/>
              <a:tabLst>
                <a:tab pos="279400" algn="l"/>
              </a:tabLst>
            </a:pPr>
            <a:r>
              <a:rPr lang="en-US" sz="2000" u="sng" spc="-10" dirty="0">
                <a:solidFill>
                  <a:schemeClr val="tx1"/>
                </a:solidFill>
                <a:effectLst/>
                <a:latin typeface="Inter"/>
                <a:ea typeface="Calibri" panose="020F0502020204030204" pitchFamily="34" charset="0"/>
              </a:rPr>
              <a:t>Competition</a:t>
            </a:r>
            <a:endParaRPr lang="en-IN" sz="2000" u="sng" spc="-10" dirty="0">
              <a:solidFill>
                <a:schemeClr val="tx1"/>
              </a:solidFill>
              <a:effectLst/>
              <a:latin typeface="Inter"/>
              <a:ea typeface="Calibri" panose="020F0502020204030204" pitchFamily="34" charset="0"/>
            </a:endParaRPr>
          </a:p>
          <a:p>
            <a:pPr marL="0" indent="0">
              <a:buNone/>
            </a:pPr>
            <a:endParaRPr lang="en-IN" dirty="0"/>
          </a:p>
        </p:txBody>
      </p:sp>
    </p:spTree>
    <p:extLst>
      <p:ext uri="{BB962C8B-B14F-4D97-AF65-F5344CB8AC3E}">
        <p14:creationId xmlns:p14="http://schemas.microsoft.com/office/powerpoint/2010/main" val="22833152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A9E5E-EE56-5ED8-AABC-6F60864E10FC}"/>
              </a:ext>
            </a:extLst>
          </p:cNvPr>
          <p:cNvSpPr>
            <a:spLocks noGrp="1"/>
          </p:cNvSpPr>
          <p:nvPr>
            <p:ph type="title"/>
          </p:nvPr>
        </p:nvSpPr>
        <p:spPr/>
        <p:txBody>
          <a:bodyPr/>
          <a:lstStyle/>
          <a:p>
            <a:r>
              <a:rPr lang="en-US" sz="3600" kern="0" spc="-15" dirty="0">
                <a:solidFill>
                  <a:srgbClr val="00FFFF"/>
                </a:solidFill>
                <a:effectLst/>
                <a:ea typeface="Calibri" panose="020F0502020204030204" pitchFamily="34" charset="0"/>
              </a:rPr>
              <a:t>Geopolitical</a:t>
            </a:r>
            <a:r>
              <a:rPr lang="en-US" sz="3600" kern="0" spc="-80" dirty="0">
                <a:solidFill>
                  <a:srgbClr val="00FFFF"/>
                </a:solidFill>
                <a:effectLst/>
                <a:ea typeface="Calibri" panose="020F0502020204030204" pitchFamily="34" charset="0"/>
              </a:rPr>
              <a:t> </a:t>
            </a:r>
            <a:r>
              <a:rPr lang="en-US" sz="3600" kern="0" spc="-10" dirty="0">
                <a:solidFill>
                  <a:srgbClr val="00FFFF"/>
                </a:solidFill>
                <a:effectLst/>
                <a:ea typeface="Calibri" panose="020F0502020204030204" pitchFamily="34" charset="0"/>
              </a:rPr>
              <a:t>Uncertainties</a:t>
            </a:r>
            <a:br>
              <a:rPr lang="en-IN" sz="3600" b="1" kern="0" spc="-15" dirty="0">
                <a:effectLst/>
                <a:latin typeface="Calibri" panose="020F0502020204030204" pitchFamily="34" charset="0"/>
                <a:ea typeface="Calibri" panose="020F0502020204030204" pitchFamily="34" charset="0"/>
              </a:rPr>
            </a:br>
            <a:endParaRPr lang="en-IN" dirty="0"/>
          </a:p>
        </p:txBody>
      </p:sp>
      <p:sp>
        <p:nvSpPr>
          <p:cNvPr id="3" name="Content Placeholder 2">
            <a:extLst>
              <a:ext uri="{FF2B5EF4-FFF2-40B4-BE49-F238E27FC236}">
                <a16:creationId xmlns:a16="http://schemas.microsoft.com/office/drawing/2014/main" id="{E44FEE3E-FA0F-2358-BEB4-3A8B84931677}"/>
              </a:ext>
            </a:extLst>
          </p:cNvPr>
          <p:cNvSpPr>
            <a:spLocks noGrp="1"/>
          </p:cNvSpPr>
          <p:nvPr>
            <p:ph idx="1"/>
          </p:nvPr>
        </p:nvSpPr>
        <p:spPr>
          <a:xfrm>
            <a:off x="677333" y="1474839"/>
            <a:ext cx="8879621" cy="5102942"/>
          </a:xfrm>
        </p:spPr>
        <p:txBody>
          <a:bodyPr>
            <a:noAutofit/>
          </a:bodyPr>
          <a:lstStyle/>
          <a:p>
            <a:pPr marL="65405" indent="0" algn="just">
              <a:spcBef>
                <a:spcPts val="940"/>
              </a:spcBef>
              <a:buNone/>
            </a:pPr>
            <a:r>
              <a:rPr lang="en-US" sz="2000" dirty="0">
                <a:solidFill>
                  <a:schemeClr val="tx1"/>
                </a:solidFill>
                <a:effectLst/>
                <a:latin typeface="Inter"/>
                <a:ea typeface="Calibri" panose="020F0502020204030204" pitchFamily="34" charset="0"/>
              </a:rPr>
              <a:t>Here</a:t>
            </a:r>
            <a:r>
              <a:rPr lang="en-US" sz="2000" spc="8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are</a:t>
            </a:r>
            <a:r>
              <a:rPr lang="en-US" sz="2000" spc="5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some</a:t>
            </a:r>
            <a:r>
              <a:rPr lang="en-US" sz="2000" spc="85"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examples</a:t>
            </a:r>
            <a:r>
              <a:rPr lang="en-US" sz="2000" spc="8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of</a:t>
            </a:r>
            <a:r>
              <a:rPr lang="en-US" sz="2000" spc="8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geopolitical</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uncertainties</a:t>
            </a:r>
            <a:r>
              <a:rPr lang="en-US" sz="2000" spc="8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that</a:t>
            </a:r>
            <a:r>
              <a:rPr lang="en-US" sz="2000" spc="95"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have</a:t>
            </a:r>
            <a:r>
              <a:rPr lang="en-US" sz="2000" spc="5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affected</a:t>
            </a:r>
            <a:r>
              <a:rPr lang="en-US" sz="2000" spc="7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companies</a:t>
            </a:r>
            <a:r>
              <a:rPr lang="en-US" sz="2000" spc="65"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like</a:t>
            </a:r>
            <a:r>
              <a:rPr lang="en-US" sz="2000" spc="70" dirty="0">
                <a:solidFill>
                  <a:schemeClr val="tx1"/>
                </a:solidFill>
                <a:effectLst/>
                <a:latin typeface="Inter"/>
                <a:ea typeface="Calibri" panose="020F0502020204030204" pitchFamily="34" charset="0"/>
              </a:rPr>
              <a:t> </a:t>
            </a:r>
            <a:r>
              <a:rPr lang="en-US" sz="2000" spc="-10" dirty="0">
                <a:solidFill>
                  <a:schemeClr val="tx1"/>
                </a:solidFill>
                <a:effectLst/>
                <a:latin typeface="Inter"/>
                <a:ea typeface="Calibri" panose="020F0502020204030204" pitchFamily="34" charset="0"/>
              </a:rPr>
              <a:t>Adobe.</a:t>
            </a:r>
          </a:p>
          <a:p>
            <a:pPr marL="65405" indent="0" algn="just">
              <a:spcBef>
                <a:spcPts val="940"/>
              </a:spcBef>
              <a:buNone/>
            </a:pPr>
            <a:endParaRPr lang="en-IN" sz="2000" dirty="0">
              <a:solidFill>
                <a:schemeClr val="tx1"/>
              </a:solidFill>
              <a:effectLst/>
              <a:latin typeface="Inter"/>
              <a:ea typeface="Calibri" panose="020F0502020204030204" pitchFamily="34" charset="0"/>
            </a:endParaRPr>
          </a:p>
          <a:p>
            <a:pPr marR="228600" lvl="2" algn="just">
              <a:lnSpc>
                <a:spcPct val="110000"/>
              </a:lnSpc>
              <a:spcBef>
                <a:spcPts val="890"/>
              </a:spcBef>
              <a:buSzPts val="1000"/>
              <a:buFont typeface="Arial" panose="020B0604020202020204" pitchFamily="34" charset="0"/>
              <a:buChar char="•"/>
              <a:tabLst>
                <a:tab pos="709295" algn="l"/>
                <a:tab pos="710565" algn="l"/>
              </a:tabLst>
            </a:pPr>
            <a:r>
              <a:rPr lang="en-US" sz="2000" b="1" spc="-10" dirty="0">
                <a:solidFill>
                  <a:srgbClr val="FFFF00"/>
                </a:solidFill>
                <a:effectLst/>
                <a:latin typeface="Inter"/>
                <a:ea typeface="Calibri" panose="020F0502020204030204" pitchFamily="34" charset="0"/>
              </a:rPr>
              <a:t>US-China Trade War: </a:t>
            </a:r>
            <a:r>
              <a:rPr lang="en-US" sz="2000" dirty="0">
                <a:solidFill>
                  <a:schemeClr val="tx1"/>
                </a:solidFill>
                <a:latin typeface="Inter"/>
              </a:rPr>
              <a:t>US-China trade tensions, with tariffs and restrictions, have disrupted Adobe's sales in China and supply chain, creating uncertainty for future revenue planning.</a:t>
            </a:r>
          </a:p>
          <a:p>
            <a:pPr marR="228600" lvl="2" algn="just">
              <a:lnSpc>
                <a:spcPct val="110000"/>
              </a:lnSpc>
              <a:spcBef>
                <a:spcPts val="890"/>
              </a:spcBef>
              <a:buSzPts val="1000"/>
              <a:buFont typeface="Arial" panose="020B0604020202020204" pitchFamily="34" charset="0"/>
              <a:buChar char="•"/>
              <a:tabLst>
                <a:tab pos="709295" algn="l"/>
                <a:tab pos="710565" algn="l"/>
              </a:tabLst>
            </a:pPr>
            <a:endParaRPr lang="en-US" sz="2000" dirty="0">
              <a:solidFill>
                <a:schemeClr val="tx1"/>
              </a:solidFill>
              <a:latin typeface="Inter"/>
            </a:endParaRPr>
          </a:p>
          <a:p>
            <a:pPr marR="228600" lvl="2" algn="just">
              <a:lnSpc>
                <a:spcPct val="110000"/>
              </a:lnSpc>
              <a:spcBef>
                <a:spcPts val="890"/>
              </a:spcBef>
              <a:buSzPts val="1000"/>
              <a:buFont typeface="Arial" panose="020B0604020202020204" pitchFamily="34" charset="0"/>
              <a:buChar char="•"/>
              <a:tabLst>
                <a:tab pos="709295" algn="l"/>
                <a:tab pos="710565" algn="l"/>
              </a:tabLst>
            </a:pPr>
            <a:r>
              <a:rPr lang="en-US" sz="2000" b="1" spc="-10" dirty="0">
                <a:solidFill>
                  <a:srgbClr val="FFFF00"/>
                </a:solidFill>
                <a:effectLst/>
                <a:latin typeface="Inter"/>
                <a:ea typeface="Calibri" panose="020F0502020204030204" pitchFamily="34" charset="0"/>
              </a:rPr>
              <a:t>Russia-Ukraine Conflict</a:t>
            </a:r>
            <a:r>
              <a:rPr lang="en-US" sz="2000" b="1" spc="-10" dirty="0">
                <a:solidFill>
                  <a:schemeClr val="tx1"/>
                </a:solidFill>
                <a:effectLst/>
                <a:latin typeface="Inter"/>
                <a:ea typeface="Calibri" panose="020F0502020204030204" pitchFamily="34" charset="0"/>
              </a:rPr>
              <a:t>: </a:t>
            </a:r>
            <a:r>
              <a:rPr lang="en-US" sz="2000" dirty="0">
                <a:solidFill>
                  <a:schemeClr val="tx1"/>
                </a:solidFill>
                <a:latin typeface="Inter"/>
              </a:rPr>
              <a:t>The Russia-Ukraine conflict has disrupted supply chains and raised energy prices, increasing Adobe's operational costs and reducing consumer spending on software.</a:t>
            </a:r>
          </a:p>
          <a:p>
            <a:pPr marL="1143000" marR="228600" lvl="2" indent="-228600">
              <a:lnSpc>
                <a:spcPct val="110000"/>
              </a:lnSpc>
              <a:spcBef>
                <a:spcPts val="890"/>
              </a:spcBef>
              <a:buSzPts val="1000"/>
              <a:buFont typeface="Calibri" panose="020F0502020204030204" pitchFamily="34" charset="0"/>
              <a:buAutoNum type="alphaLcParenR"/>
              <a:tabLst>
                <a:tab pos="709295" algn="l"/>
                <a:tab pos="710565" algn="l"/>
              </a:tabLst>
            </a:pPr>
            <a:endParaRPr lang="en-US" sz="2000" dirty="0"/>
          </a:p>
        </p:txBody>
      </p:sp>
    </p:spTree>
    <p:extLst>
      <p:ext uri="{BB962C8B-B14F-4D97-AF65-F5344CB8AC3E}">
        <p14:creationId xmlns:p14="http://schemas.microsoft.com/office/powerpoint/2010/main" val="40205259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47DC29-E3A3-5D30-C662-375F9FCC943F}"/>
              </a:ext>
            </a:extLst>
          </p:cNvPr>
          <p:cNvSpPr>
            <a:spLocks noGrp="1"/>
          </p:cNvSpPr>
          <p:nvPr>
            <p:ph idx="1"/>
          </p:nvPr>
        </p:nvSpPr>
        <p:spPr>
          <a:xfrm>
            <a:off x="677334" y="855407"/>
            <a:ext cx="8596668" cy="5185956"/>
          </a:xfrm>
        </p:spPr>
        <p:txBody>
          <a:bodyPr>
            <a:normAutofit/>
          </a:bodyPr>
          <a:lstStyle/>
          <a:p>
            <a:pPr marL="1143000" marR="228600" lvl="2" indent="-228600">
              <a:lnSpc>
                <a:spcPct val="110000"/>
              </a:lnSpc>
              <a:spcBef>
                <a:spcPts val="890"/>
              </a:spcBef>
              <a:buSzPts val="1000"/>
              <a:buFont typeface="Calibri" panose="020F0502020204030204" pitchFamily="34" charset="0"/>
              <a:buAutoNum type="alphaLcParenR"/>
              <a:tabLst>
                <a:tab pos="709295" algn="l"/>
                <a:tab pos="710565" algn="l"/>
              </a:tabLst>
            </a:pPr>
            <a:endParaRPr lang="en-US" sz="2000" b="1" spc="-10" dirty="0">
              <a:effectLst/>
              <a:latin typeface="Calibri" panose="020F0502020204030204" pitchFamily="34" charset="0"/>
              <a:ea typeface="Calibri" panose="020F0502020204030204" pitchFamily="34" charset="0"/>
            </a:endParaRPr>
          </a:p>
          <a:p>
            <a:pPr marR="228600" lvl="2" algn="just">
              <a:lnSpc>
                <a:spcPct val="110000"/>
              </a:lnSpc>
              <a:spcBef>
                <a:spcPts val="890"/>
              </a:spcBef>
              <a:buSzPts val="1000"/>
              <a:buFont typeface="Arial" panose="020B0604020202020204" pitchFamily="34" charset="0"/>
              <a:buChar char="•"/>
              <a:tabLst>
                <a:tab pos="709295" algn="l"/>
                <a:tab pos="710565" algn="l"/>
              </a:tabLst>
            </a:pPr>
            <a:r>
              <a:rPr lang="en-US" sz="2000" b="1" spc="-10" dirty="0">
                <a:solidFill>
                  <a:srgbClr val="FFFF00"/>
                </a:solidFill>
                <a:effectLst/>
                <a:latin typeface="Inter"/>
                <a:ea typeface="Calibri" panose="020F0502020204030204" pitchFamily="34" charset="0"/>
              </a:rPr>
              <a:t>Cybersecurity Threats: </a:t>
            </a:r>
            <a:r>
              <a:rPr lang="en-US" sz="2000" dirty="0">
                <a:solidFill>
                  <a:schemeClr val="tx1"/>
                </a:solidFill>
                <a:latin typeface="Inter"/>
              </a:rPr>
              <a:t>Geopolitical tensions have increased cyberattacks, with Adobe facing threats that could compromise customer data and harm its reputation.</a:t>
            </a:r>
          </a:p>
          <a:p>
            <a:pPr marR="228600" lvl="2" algn="just">
              <a:lnSpc>
                <a:spcPct val="110000"/>
              </a:lnSpc>
              <a:spcBef>
                <a:spcPts val="890"/>
              </a:spcBef>
              <a:buSzPts val="1000"/>
              <a:buFont typeface="Arial" panose="020B0604020202020204" pitchFamily="34" charset="0"/>
              <a:buChar char="•"/>
              <a:tabLst>
                <a:tab pos="709295" algn="l"/>
                <a:tab pos="710565" algn="l"/>
              </a:tabLst>
            </a:pPr>
            <a:endParaRPr lang="en-US" sz="2000" b="1" spc="-10" dirty="0">
              <a:solidFill>
                <a:schemeClr val="tx1"/>
              </a:solidFill>
              <a:latin typeface="Inter"/>
              <a:ea typeface="Calibri" panose="020F0502020204030204" pitchFamily="34" charset="0"/>
            </a:endParaRPr>
          </a:p>
          <a:p>
            <a:pPr marR="228600" lvl="2" algn="just">
              <a:lnSpc>
                <a:spcPct val="110000"/>
              </a:lnSpc>
              <a:spcBef>
                <a:spcPts val="890"/>
              </a:spcBef>
              <a:buSzPts val="1000"/>
              <a:buFont typeface="Arial" panose="020B0604020202020204" pitchFamily="34" charset="0"/>
              <a:buChar char="•"/>
              <a:tabLst>
                <a:tab pos="709295" algn="l"/>
                <a:tab pos="710565" algn="l"/>
              </a:tabLst>
            </a:pPr>
            <a:r>
              <a:rPr lang="en-US" sz="2000" b="1" spc="-10" dirty="0">
                <a:solidFill>
                  <a:srgbClr val="FFFF00"/>
                </a:solidFill>
                <a:effectLst/>
                <a:latin typeface="Inter"/>
                <a:ea typeface="Calibri" panose="020F0502020204030204" pitchFamily="34" charset="0"/>
              </a:rPr>
              <a:t>Economic</a:t>
            </a:r>
            <a:r>
              <a:rPr lang="en-US" sz="2000" b="1" spc="-60" dirty="0">
                <a:solidFill>
                  <a:srgbClr val="FFFF00"/>
                </a:solidFill>
                <a:effectLst/>
                <a:latin typeface="Inter"/>
                <a:ea typeface="Calibri" panose="020F0502020204030204" pitchFamily="34" charset="0"/>
              </a:rPr>
              <a:t> </a:t>
            </a:r>
            <a:r>
              <a:rPr lang="en-US" sz="2000" b="1" spc="-10" dirty="0">
                <a:solidFill>
                  <a:srgbClr val="FFFF00"/>
                </a:solidFill>
                <a:effectLst/>
                <a:latin typeface="Inter"/>
                <a:ea typeface="Calibri" panose="020F0502020204030204" pitchFamily="34" charset="0"/>
              </a:rPr>
              <a:t>Sanctions:</a:t>
            </a:r>
            <a:r>
              <a:rPr lang="en-US" sz="2000" b="1" spc="-60" dirty="0">
                <a:solidFill>
                  <a:srgbClr val="FFFF00"/>
                </a:solidFill>
                <a:effectLst/>
                <a:latin typeface="Inter"/>
                <a:ea typeface="Calibri" panose="020F0502020204030204" pitchFamily="34" charset="0"/>
              </a:rPr>
              <a:t> </a:t>
            </a:r>
            <a:r>
              <a:rPr lang="en-US" sz="2000" dirty="0">
                <a:solidFill>
                  <a:schemeClr val="tx1"/>
                </a:solidFill>
                <a:latin typeface="Inter"/>
              </a:rPr>
              <a:t>Sanctions on countries like Russia and Iran limit Adobe's market access and create legal and financial challenges.</a:t>
            </a:r>
            <a:endParaRPr lang="en-US" sz="2000" spc="-10" dirty="0">
              <a:solidFill>
                <a:schemeClr val="tx1"/>
              </a:solidFill>
              <a:latin typeface="Inter"/>
              <a:ea typeface="Calibri" panose="020F0502020204030204" pitchFamily="34" charset="0"/>
            </a:endParaRPr>
          </a:p>
          <a:p>
            <a:pPr marR="228600" lvl="2" algn="just">
              <a:lnSpc>
                <a:spcPct val="110000"/>
              </a:lnSpc>
              <a:spcBef>
                <a:spcPts val="890"/>
              </a:spcBef>
              <a:buSzPts val="1000"/>
              <a:buFont typeface="Arial" panose="020B0604020202020204" pitchFamily="34" charset="0"/>
              <a:buChar char="•"/>
              <a:tabLst>
                <a:tab pos="709295" algn="l"/>
                <a:tab pos="710565" algn="l"/>
              </a:tabLst>
            </a:pPr>
            <a:endParaRPr lang="en-IN" sz="2000" spc="-10" dirty="0">
              <a:solidFill>
                <a:schemeClr val="tx1"/>
              </a:solidFill>
              <a:effectLst/>
              <a:latin typeface="Inter"/>
              <a:ea typeface="Calibri" panose="020F0502020204030204" pitchFamily="34" charset="0"/>
            </a:endParaRPr>
          </a:p>
          <a:p>
            <a:pPr marR="194945" lvl="2" algn="just">
              <a:lnSpc>
                <a:spcPct val="111000"/>
              </a:lnSpc>
              <a:buSzPts val="1000"/>
              <a:buFont typeface="Arial" panose="020B0604020202020204" pitchFamily="34" charset="0"/>
              <a:buChar char="•"/>
              <a:tabLst>
                <a:tab pos="709295" algn="l"/>
                <a:tab pos="710565" algn="l"/>
              </a:tabLst>
            </a:pPr>
            <a:r>
              <a:rPr lang="en-US" sz="2000" b="1" spc="-10" dirty="0">
                <a:solidFill>
                  <a:srgbClr val="FFFF00"/>
                </a:solidFill>
                <a:effectLst/>
                <a:latin typeface="Inter"/>
                <a:ea typeface="Calibri" panose="020F0502020204030204" pitchFamily="34" charset="0"/>
              </a:rPr>
              <a:t>COVID-19</a:t>
            </a:r>
            <a:r>
              <a:rPr lang="en-US" sz="2000" b="1" spc="-60" dirty="0">
                <a:solidFill>
                  <a:srgbClr val="FFFF00"/>
                </a:solidFill>
                <a:effectLst/>
                <a:latin typeface="Inter"/>
                <a:ea typeface="Calibri" panose="020F0502020204030204" pitchFamily="34" charset="0"/>
              </a:rPr>
              <a:t> </a:t>
            </a:r>
            <a:r>
              <a:rPr lang="en-US" sz="2000" b="1" spc="-10" dirty="0">
                <a:solidFill>
                  <a:srgbClr val="FFFF00"/>
                </a:solidFill>
                <a:effectLst/>
                <a:latin typeface="Inter"/>
                <a:ea typeface="Calibri" panose="020F0502020204030204" pitchFamily="34" charset="0"/>
              </a:rPr>
              <a:t>Pandemic:</a:t>
            </a:r>
            <a:r>
              <a:rPr lang="en-US" sz="2000" b="1" spc="-60" dirty="0">
                <a:solidFill>
                  <a:srgbClr val="FFFF00"/>
                </a:solidFill>
                <a:effectLst/>
                <a:latin typeface="Inter"/>
                <a:ea typeface="Calibri" panose="020F0502020204030204" pitchFamily="34" charset="0"/>
              </a:rPr>
              <a:t> </a:t>
            </a:r>
            <a:r>
              <a:rPr lang="en-US" sz="2000" dirty="0">
                <a:solidFill>
                  <a:schemeClr val="tx1"/>
                </a:solidFill>
                <a:latin typeface="Inter"/>
              </a:rPr>
              <a:t>The global pandemic disrupted Adobe's operations, with travel restrictions, lockdowns, and shifting consumer behavior affecting sales in multiple markets.</a:t>
            </a:r>
            <a:endParaRPr lang="en-IN" sz="2000" dirty="0">
              <a:solidFill>
                <a:schemeClr val="tx1"/>
              </a:solidFill>
              <a:latin typeface="Inter"/>
            </a:endParaRPr>
          </a:p>
          <a:p>
            <a:endParaRPr lang="en-IN" dirty="0"/>
          </a:p>
        </p:txBody>
      </p:sp>
    </p:spTree>
    <p:extLst>
      <p:ext uri="{BB962C8B-B14F-4D97-AF65-F5344CB8AC3E}">
        <p14:creationId xmlns:p14="http://schemas.microsoft.com/office/powerpoint/2010/main" val="14238049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E6DCA-5CA4-526F-FA24-357A5A31811E}"/>
              </a:ext>
            </a:extLst>
          </p:cNvPr>
          <p:cNvSpPr>
            <a:spLocks noGrp="1"/>
          </p:cNvSpPr>
          <p:nvPr>
            <p:ph type="title"/>
          </p:nvPr>
        </p:nvSpPr>
        <p:spPr/>
        <p:txBody>
          <a:bodyPr/>
          <a:lstStyle/>
          <a:p>
            <a:r>
              <a:rPr lang="en-US" kern="0" spc="-15" dirty="0">
                <a:solidFill>
                  <a:srgbClr val="00FFFF"/>
                </a:solidFill>
                <a:effectLst/>
                <a:ea typeface="Calibri" panose="020F0502020204030204" pitchFamily="34" charset="0"/>
              </a:rPr>
              <a:t>Regulatory</a:t>
            </a:r>
            <a:r>
              <a:rPr lang="en-US" kern="0" spc="-85" dirty="0">
                <a:solidFill>
                  <a:srgbClr val="00FFFF"/>
                </a:solidFill>
                <a:effectLst/>
                <a:ea typeface="Calibri" panose="020F0502020204030204" pitchFamily="34" charset="0"/>
              </a:rPr>
              <a:t> </a:t>
            </a:r>
            <a:r>
              <a:rPr lang="en-US" kern="0" spc="-10" dirty="0">
                <a:solidFill>
                  <a:srgbClr val="00FFFF"/>
                </a:solidFill>
                <a:effectLst/>
                <a:ea typeface="Calibri" panose="020F0502020204030204" pitchFamily="34" charset="0"/>
              </a:rPr>
              <a:t>Changes</a:t>
            </a:r>
            <a:br>
              <a:rPr lang="en-IN" sz="1800" b="1" kern="0" spc="-15" dirty="0">
                <a:effectLst/>
                <a:latin typeface="Calibri" panose="020F0502020204030204" pitchFamily="34" charset="0"/>
                <a:ea typeface="Calibri" panose="020F0502020204030204" pitchFamily="34" charset="0"/>
              </a:rPr>
            </a:br>
            <a:endParaRPr lang="en-IN" dirty="0"/>
          </a:p>
        </p:txBody>
      </p:sp>
      <p:sp>
        <p:nvSpPr>
          <p:cNvPr id="3" name="Content Placeholder 2">
            <a:extLst>
              <a:ext uri="{FF2B5EF4-FFF2-40B4-BE49-F238E27FC236}">
                <a16:creationId xmlns:a16="http://schemas.microsoft.com/office/drawing/2014/main" id="{55CA401E-47EC-55DB-93E1-9F427C42AEE1}"/>
              </a:ext>
            </a:extLst>
          </p:cNvPr>
          <p:cNvSpPr>
            <a:spLocks noGrp="1"/>
          </p:cNvSpPr>
          <p:nvPr>
            <p:ph idx="1"/>
          </p:nvPr>
        </p:nvSpPr>
        <p:spPr>
          <a:xfrm>
            <a:off x="677334" y="1356852"/>
            <a:ext cx="8596668" cy="5191431"/>
          </a:xfrm>
        </p:spPr>
        <p:txBody>
          <a:bodyPr>
            <a:normAutofit lnSpcReduction="10000"/>
          </a:bodyPr>
          <a:lstStyle/>
          <a:p>
            <a:pPr marL="118745" marR="167005" indent="0" algn="just">
              <a:lnSpc>
                <a:spcPct val="111000"/>
              </a:lnSpc>
              <a:spcBef>
                <a:spcPts val="905"/>
              </a:spcBef>
              <a:buNone/>
            </a:pPr>
            <a:r>
              <a:rPr lang="en-US" sz="2000" dirty="0">
                <a:solidFill>
                  <a:schemeClr val="tx1"/>
                </a:solidFill>
                <a:effectLst/>
                <a:latin typeface="Inter"/>
                <a:ea typeface="Calibri" panose="020F0502020204030204" pitchFamily="34" charset="0"/>
              </a:rPr>
              <a:t>Adobe</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has</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had</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to</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navigate</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various</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regulatory</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changes</a:t>
            </a:r>
            <a:r>
              <a:rPr lang="en-US" sz="2000" spc="-55"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across</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different</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regions,</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which</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have</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impacted on its operations and compliance efforts. Here are a few examples:</a:t>
            </a:r>
          </a:p>
          <a:p>
            <a:pPr marL="118745" marR="167005" indent="0" algn="just">
              <a:lnSpc>
                <a:spcPct val="111000"/>
              </a:lnSpc>
              <a:spcBef>
                <a:spcPts val="905"/>
              </a:spcBef>
              <a:buNone/>
            </a:pPr>
            <a:endParaRPr lang="en-IN" sz="2000" dirty="0">
              <a:solidFill>
                <a:schemeClr val="tx1"/>
              </a:solidFill>
              <a:effectLst/>
              <a:latin typeface="Inter"/>
              <a:ea typeface="Calibri" panose="020F0502020204030204" pitchFamily="34" charset="0"/>
            </a:endParaRPr>
          </a:p>
          <a:p>
            <a:pPr marL="342900" marR="109855" lvl="0" indent="-342900" algn="just">
              <a:lnSpc>
                <a:spcPct val="111000"/>
              </a:lnSpc>
              <a:spcBef>
                <a:spcPts val="740"/>
              </a:spcBef>
              <a:buSzPts val="1000"/>
              <a:buFont typeface="Symbol" panose="05050102010706020507" pitchFamily="18" charset="2"/>
              <a:buChar char=""/>
              <a:tabLst>
                <a:tab pos="763905" algn="l"/>
              </a:tabLst>
            </a:pPr>
            <a:r>
              <a:rPr lang="en-US" sz="2000" b="1" spc="0" dirty="0">
                <a:solidFill>
                  <a:srgbClr val="FFFF00"/>
                </a:solidFill>
                <a:effectLst/>
                <a:latin typeface="Inter"/>
                <a:ea typeface="Symbol" panose="05050102010706020507" pitchFamily="18" charset="2"/>
                <a:cs typeface="Symbol" panose="05050102010706020507" pitchFamily="18" charset="2"/>
              </a:rPr>
              <a:t>General Data Protection Regulation (GDPR): </a:t>
            </a:r>
            <a:r>
              <a:rPr lang="en-US" sz="2000" spc="0" dirty="0">
                <a:solidFill>
                  <a:schemeClr val="tx1"/>
                </a:solidFill>
                <a:effectLst/>
                <a:latin typeface="Inter"/>
                <a:ea typeface="Symbol" panose="05050102010706020507" pitchFamily="18" charset="2"/>
                <a:cs typeface="Symbol" panose="05050102010706020507" pitchFamily="18" charset="2"/>
              </a:rPr>
              <a:t>Adobe has had to ensure</a:t>
            </a:r>
            <a:r>
              <a:rPr lang="en-US" sz="2000" spc="-15"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compliance with GDPR,</a:t>
            </a:r>
            <a:r>
              <a:rPr lang="en-US" sz="2000" spc="-1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which</a:t>
            </a:r>
            <a:r>
              <a:rPr lang="en-US" sz="2000" spc="-1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imposes strict</a:t>
            </a:r>
            <a:r>
              <a:rPr lang="en-US" sz="2000" spc="-15"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rules on data protection and privacy</a:t>
            </a:r>
            <a:r>
              <a:rPr lang="en-US" sz="2000" spc="-5"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for individuals within the European</a:t>
            </a:r>
            <a:r>
              <a:rPr lang="en-US" sz="2000" spc="-6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Union.</a:t>
            </a:r>
            <a:r>
              <a:rPr lang="en-US" sz="2000" spc="-6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This</a:t>
            </a:r>
            <a:r>
              <a:rPr lang="en-US" sz="2000" spc="-6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has</a:t>
            </a:r>
            <a:r>
              <a:rPr lang="en-US" sz="2000" spc="-6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required</a:t>
            </a:r>
            <a:r>
              <a:rPr lang="en-US" sz="2000" spc="-6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Adobe</a:t>
            </a:r>
            <a:r>
              <a:rPr lang="en-US" sz="2000" spc="-6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to</a:t>
            </a:r>
            <a:r>
              <a:rPr lang="en-US" sz="2000" spc="-6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implement</a:t>
            </a:r>
            <a:r>
              <a:rPr lang="en-US" sz="2000" spc="-55"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robust</a:t>
            </a:r>
            <a:r>
              <a:rPr lang="en-US" sz="2000" spc="-6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data</a:t>
            </a:r>
            <a:r>
              <a:rPr lang="en-US" sz="2000" spc="-6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protection</a:t>
            </a:r>
            <a:r>
              <a:rPr lang="en-US" sz="2000" spc="-6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measures</a:t>
            </a:r>
            <a:r>
              <a:rPr lang="en-US" sz="2000" spc="-6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and provide transparency in how it handles user data.</a:t>
            </a:r>
          </a:p>
          <a:p>
            <a:pPr marL="342900" marR="109855" lvl="0" indent="-342900" algn="just">
              <a:lnSpc>
                <a:spcPct val="111000"/>
              </a:lnSpc>
              <a:spcBef>
                <a:spcPts val="740"/>
              </a:spcBef>
              <a:buSzPts val="1000"/>
              <a:buFont typeface="Symbol" panose="05050102010706020507" pitchFamily="18" charset="2"/>
              <a:buChar char=""/>
              <a:tabLst>
                <a:tab pos="763905" algn="l"/>
              </a:tabLst>
            </a:pPr>
            <a:endParaRPr lang="en-IN" sz="2000" spc="0" dirty="0">
              <a:solidFill>
                <a:schemeClr val="tx1"/>
              </a:solidFill>
              <a:effectLst/>
              <a:latin typeface="Inter"/>
              <a:ea typeface="Symbol" panose="05050102010706020507" pitchFamily="18" charset="2"/>
              <a:cs typeface="Symbol" panose="05050102010706020507" pitchFamily="18" charset="2"/>
            </a:endParaRPr>
          </a:p>
          <a:p>
            <a:pPr marL="342900" marR="157480" lvl="0" indent="-342900" algn="just">
              <a:lnSpc>
                <a:spcPct val="110000"/>
              </a:lnSpc>
              <a:buSzPts val="1000"/>
              <a:buFont typeface="Symbol" panose="05050102010706020507" pitchFamily="18" charset="2"/>
              <a:buChar char=""/>
              <a:tabLst>
                <a:tab pos="763905" algn="l"/>
              </a:tabLst>
            </a:pPr>
            <a:r>
              <a:rPr lang="en-US" sz="2000" b="1" spc="0" dirty="0">
                <a:solidFill>
                  <a:srgbClr val="FFFF00"/>
                </a:solidFill>
                <a:effectLst/>
                <a:latin typeface="Inter"/>
                <a:ea typeface="Symbol" panose="05050102010706020507" pitchFamily="18" charset="2"/>
                <a:cs typeface="Symbol" panose="05050102010706020507" pitchFamily="18" charset="2"/>
              </a:rPr>
              <a:t>California Consumer Privacy Act (CCPA): </a:t>
            </a:r>
            <a:r>
              <a:rPr lang="en-US" sz="2000" spc="0" dirty="0">
                <a:solidFill>
                  <a:schemeClr val="tx1"/>
                </a:solidFill>
                <a:effectLst/>
                <a:latin typeface="Inter"/>
                <a:ea typeface="Symbol" panose="05050102010706020507" pitchFamily="18" charset="2"/>
                <a:cs typeface="Symbol" panose="05050102010706020507" pitchFamily="18" charset="2"/>
              </a:rPr>
              <a:t>Like GDPR, the CCPA</a:t>
            </a:r>
            <a:r>
              <a:rPr lang="en-US" sz="2000" spc="-5"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grants California</a:t>
            </a:r>
            <a:r>
              <a:rPr lang="en-US" sz="2000" spc="-5"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residents’ new</a:t>
            </a:r>
            <a:r>
              <a:rPr lang="en-US" sz="2000" spc="-6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rights</a:t>
            </a:r>
            <a:r>
              <a:rPr lang="en-US" sz="2000" spc="-6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regarding</a:t>
            </a:r>
            <a:r>
              <a:rPr lang="en-US" sz="2000" spc="-6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their</a:t>
            </a:r>
            <a:r>
              <a:rPr lang="en-US" sz="2000" spc="-6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personal</a:t>
            </a:r>
            <a:r>
              <a:rPr lang="en-US" sz="2000" spc="-6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information.</a:t>
            </a:r>
            <a:r>
              <a:rPr lang="en-US" sz="2000" spc="-6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Adobe</a:t>
            </a:r>
            <a:r>
              <a:rPr lang="en-US" sz="2000" spc="-6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has</a:t>
            </a:r>
            <a:r>
              <a:rPr lang="en-US" sz="2000" spc="-55"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had</a:t>
            </a:r>
            <a:r>
              <a:rPr lang="en-US" sz="2000" spc="-6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to</a:t>
            </a:r>
            <a:r>
              <a:rPr lang="en-US" sz="2000" spc="-6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update</a:t>
            </a:r>
            <a:r>
              <a:rPr lang="en-US" sz="2000" spc="-6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its</a:t>
            </a:r>
            <a:r>
              <a:rPr lang="en-US" sz="2000" spc="-6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privacy</a:t>
            </a:r>
            <a:r>
              <a:rPr lang="en-US" sz="2000" spc="-6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policies and practices to comply</a:t>
            </a:r>
            <a:r>
              <a:rPr lang="en-US" sz="2000" spc="-5"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with these regulations, ensuring that users</a:t>
            </a:r>
            <a:r>
              <a:rPr lang="en-US" sz="2000" spc="-1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have control</a:t>
            </a:r>
            <a:r>
              <a:rPr lang="en-US" sz="2000" spc="-1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over their </a:t>
            </a:r>
            <a:r>
              <a:rPr lang="en-US" sz="2000" spc="-10" dirty="0">
                <a:solidFill>
                  <a:schemeClr val="tx1"/>
                </a:solidFill>
                <a:effectLst/>
                <a:latin typeface="Inter"/>
                <a:ea typeface="Symbol" panose="05050102010706020507" pitchFamily="18" charset="2"/>
                <a:cs typeface="Symbol" panose="05050102010706020507" pitchFamily="18" charset="2"/>
              </a:rPr>
              <a:t>data.</a:t>
            </a:r>
            <a:endParaRPr lang="en-IN" sz="2000" spc="0" dirty="0">
              <a:solidFill>
                <a:schemeClr val="tx1"/>
              </a:solidFill>
              <a:effectLst/>
              <a:latin typeface="Inter"/>
              <a:ea typeface="Symbol" panose="05050102010706020507" pitchFamily="18" charset="2"/>
              <a:cs typeface="Symbol" panose="05050102010706020507" pitchFamily="18" charset="2"/>
            </a:endParaRPr>
          </a:p>
          <a:p>
            <a:endParaRPr lang="en-IN" dirty="0"/>
          </a:p>
        </p:txBody>
      </p:sp>
    </p:spTree>
    <p:extLst>
      <p:ext uri="{BB962C8B-B14F-4D97-AF65-F5344CB8AC3E}">
        <p14:creationId xmlns:p14="http://schemas.microsoft.com/office/powerpoint/2010/main" val="9905441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4C1A4F-9199-799D-F571-BDA15DC3AD00}"/>
              </a:ext>
            </a:extLst>
          </p:cNvPr>
          <p:cNvSpPr>
            <a:spLocks noGrp="1"/>
          </p:cNvSpPr>
          <p:nvPr>
            <p:ph idx="1"/>
          </p:nvPr>
        </p:nvSpPr>
        <p:spPr>
          <a:xfrm>
            <a:off x="677334" y="973395"/>
            <a:ext cx="8596668" cy="5329082"/>
          </a:xfrm>
        </p:spPr>
        <p:txBody>
          <a:bodyPr>
            <a:normAutofit/>
          </a:bodyPr>
          <a:lstStyle/>
          <a:p>
            <a:pPr marL="342900" marR="184150" lvl="0" indent="-342900" algn="just">
              <a:lnSpc>
                <a:spcPct val="110000"/>
              </a:lnSpc>
              <a:spcBef>
                <a:spcPts val="20"/>
              </a:spcBef>
              <a:buSzPts val="1000"/>
              <a:buFont typeface="Symbol" panose="05050102010706020507" pitchFamily="18" charset="2"/>
              <a:buChar char=""/>
              <a:tabLst>
                <a:tab pos="763905" algn="l"/>
              </a:tabLst>
            </a:pPr>
            <a:r>
              <a:rPr lang="en-US" sz="2000" b="1" spc="0" dirty="0">
                <a:solidFill>
                  <a:srgbClr val="FFFF00"/>
                </a:solidFill>
                <a:effectLst/>
                <a:latin typeface="Inter"/>
                <a:ea typeface="Symbol" panose="05050102010706020507" pitchFamily="18" charset="2"/>
                <a:cs typeface="Symbol" panose="05050102010706020507" pitchFamily="18" charset="2"/>
              </a:rPr>
              <a:t>Digital</a:t>
            </a:r>
            <a:r>
              <a:rPr lang="en-US" sz="2000" b="1" spc="-15" dirty="0">
                <a:solidFill>
                  <a:srgbClr val="FFFF00"/>
                </a:solidFill>
                <a:effectLst/>
                <a:latin typeface="Inter"/>
                <a:ea typeface="Symbol" panose="05050102010706020507" pitchFamily="18" charset="2"/>
                <a:cs typeface="Symbol" panose="05050102010706020507" pitchFamily="18" charset="2"/>
              </a:rPr>
              <a:t> </a:t>
            </a:r>
            <a:r>
              <a:rPr lang="en-US" sz="2000" b="1" spc="0" dirty="0">
                <a:solidFill>
                  <a:srgbClr val="FFFF00"/>
                </a:solidFill>
                <a:effectLst/>
                <a:latin typeface="Inter"/>
                <a:ea typeface="Symbol" panose="05050102010706020507" pitchFamily="18" charset="2"/>
                <a:cs typeface="Symbol" panose="05050102010706020507" pitchFamily="18" charset="2"/>
              </a:rPr>
              <a:t>Services</a:t>
            </a:r>
            <a:r>
              <a:rPr lang="en-US" sz="2000" b="1" spc="-25" dirty="0">
                <a:solidFill>
                  <a:srgbClr val="FFFF00"/>
                </a:solidFill>
                <a:effectLst/>
                <a:latin typeface="Inter"/>
                <a:ea typeface="Symbol" panose="05050102010706020507" pitchFamily="18" charset="2"/>
                <a:cs typeface="Symbol" panose="05050102010706020507" pitchFamily="18" charset="2"/>
              </a:rPr>
              <a:t> </a:t>
            </a:r>
            <a:r>
              <a:rPr lang="en-US" sz="2000" b="1" spc="0" dirty="0">
                <a:solidFill>
                  <a:srgbClr val="FFFF00"/>
                </a:solidFill>
                <a:effectLst/>
                <a:latin typeface="Inter"/>
                <a:ea typeface="Symbol" panose="05050102010706020507" pitchFamily="18" charset="2"/>
                <a:cs typeface="Symbol" panose="05050102010706020507" pitchFamily="18" charset="2"/>
              </a:rPr>
              <a:t>Act</a:t>
            </a:r>
            <a:r>
              <a:rPr lang="en-US" sz="2000" b="1" spc="-10" dirty="0">
                <a:solidFill>
                  <a:srgbClr val="FFFF00"/>
                </a:solidFill>
                <a:effectLst/>
                <a:latin typeface="Inter"/>
                <a:ea typeface="Symbol" panose="05050102010706020507" pitchFamily="18" charset="2"/>
                <a:cs typeface="Symbol" panose="05050102010706020507" pitchFamily="18" charset="2"/>
              </a:rPr>
              <a:t> </a:t>
            </a:r>
            <a:r>
              <a:rPr lang="en-US" sz="2000" b="1" spc="0" dirty="0">
                <a:solidFill>
                  <a:srgbClr val="FFFF00"/>
                </a:solidFill>
                <a:effectLst/>
                <a:latin typeface="Inter"/>
                <a:ea typeface="Symbol" panose="05050102010706020507" pitchFamily="18" charset="2"/>
                <a:cs typeface="Symbol" panose="05050102010706020507" pitchFamily="18" charset="2"/>
              </a:rPr>
              <a:t>(DSA):</a:t>
            </a:r>
            <a:r>
              <a:rPr lang="en-US" sz="2000" b="1" spc="-10" dirty="0">
                <a:solidFill>
                  <a:srgbClr val="FFFF00"/>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Adobe</a:t>
            </a:r>
            <a:r>
              <a:rPr lang="en-US" sz="2000" spc="-1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has</a:t>
            </a:r>
            <a:r>
              <a:rPr lang="en-US" sz="2000" spc="-15"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adapted</a:t>
            </a:r>
            <a:r>
              <a:rPr lang="en-US" sz="2000" spc="-15"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to</a:t>
            </a:r>
            <a:r>
              <a:rPr lang="en-US" sz="2000" spc="-1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comply</a:t>
            </a:r>
            <a:r>
              <a:rPr lang="en-US" sz="2000" spc="-1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with</a:t>
            </a:r>
            <a:r>
              <a:rPr lang="en-US" sz="2000" spc="-15"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the</a:t>
            </a:r>
            <a:r>
              <a:rPr lang="en-US" sz="2000" spc="-1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EU's</a:t>
            </a:r>
            <a:r>
              <a:rPr lang="en-US" sz="2000" spc="-15"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Digital Services</a:t>
            </a:r>
            <a:r>
              <a:rPr lang="en-US" sz="2000" spc="-25"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Act, which</a:t>
            </a:r>
            <a:r>
              <a:rPr lang="en-US" sz="2000" spc="-6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aims</a:t>
            </a:r>
            <a:r>
              <a:rPr lang="en-US" sz="2000" spc="-6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to</a:t>
            </a:r>
            <a:r>
              <a:rPr lang="en-US" sz="2000" spc="-6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create</a:t>
            </a:r>
            <a:r>
              <a:rPr lang="en-US" sz="2000" spc="-6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a</a:t>
            </a:r>
            <a:r>
              <a:rPr lang="en-US" sz="2000" spc="-6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safer</a:t>
            </a:r>
            <a:r>
              <a:rPr lang="en-US" sz="2000" spc="-6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digital</a:t>
            </a:r>
            <a:r>
              <a:rPr lang="en-US" sz="2000" spc="-6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space</a:t>
            </a:r>
            <a:r>
              <a:rPr lang="en-US" sz="2000" spc="-55"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with</a:t>
            </a:r>
            <a:r>
              <a:rPr lang="en-US" sz="2000" spc="-55"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more</a:t>
            </a:r>
            <a:r>
              <a:rPr lang="en-US" sz="2000" spc="-6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accountability</a:t>
            </a:r>
            <a:r>
              <a:rPr lang="en-US" sz="2000" spc="-55"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for</a:t>
            </a:r>
            <a:r>
              <a:rPr lang="en-US" sz="2000" spc="-6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online</a:t>
            </a:r>
            <a:r>
              <a:rPr lang="en-US" sz="2000" spc="-55"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platforms.</a:t>
            </a:r>
            <a:r>
              <a:rPr lang="en-US" sz="2000" spc="-6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This</a:t>
            </a:r>
            <a:r>
              <a:rPr lang="en-US" sz="2000" spc="0" dirty="0">
                <a:solidFill>
                  <a:schemeClr val="tx1"/>
                </a:solidFill>
                <a:latin typeface="Inter"/>
                <a:ea typeface="Calibri" panose="020F0502020204030204" pitchFamily="34" charset="0"/>
                <a:cs typeface="Symbol" panose="05050102010706020507" pitchFamily="18" charset="2"/>
              </a:rPr>
              <a:t> </a:t>
            </a:r>
            <a:r>
              <a:rPr lang="en-US" sz="2000" dirty="0">
                <a:solidFill>
                  <a:schemeClr val="tx1"/>
                </a:solidFill>
                <a:effectLst/>
                <a:latin typeface="Inter"/>
                <a:ea typeface="Calibri" panose="020F0502020204030204" pitchFamily="34" charset="0"/>
              </a:rPr>
              <a:t>has</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involved</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updating</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terms</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of</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use</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and</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implementing</a:t>
            </a:r>
            <a:r>
              <a:rPr lang="en-US" sz="2000" spc="-55"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measures</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to</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combat</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illegal</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content and protect user rights.</a:t>
            </a:r>
          </a:p>
          <a:p>
            <a:pPr marL="342900" marR="184150" lvl="0" indent="-342900" algn="just">
              <a:lnSpc>
                <a:spcPct val="110000"/>
              </a:lnSpc>
              <a:spcBef>
                <a:spcPts val="20"/>
              </a:spcBef>
              <a:buSzPts val="1000"/>
              <a:buFont typeface="Symbol" panose="05050102010706020507" pitchFamily="18" charset="2"/>
              <a:buChar char=""/>
              <a:tabLst>
                <a:tab pos="763905" algn="l"/>
              </a:tabLst>
            </a:pPr>
            <a:endParaRPr lang="en-IN" sz="2000" dirty="0">
              <a:solidFill>
                <a:schemeClr val="tx1"/>
              </a:solidFill>
              <a:effectLst/>
              <a:latin typeface="Inter"/>
              <a:ea typeface="Calibri" panose="020F0502020204030204" pitchFamily="34" charset="0"/>
            </a:endParaRPr>
          </a:p>
          <a:p>
            <a:pPr marL="342900" marR="133985" lvl="0" indent="-342900" algn="just">
              <a:lnSpc>
                <a:spcPct val="110000"/>
              </a:lnSpc>
              <a:spcBef>
                <a:spcPts val="30"/>
              </a:spcBef>
              <a:buSzPts val="1000"/>
              <a:buFont typeface="Symbol" panose="05050102010706020507" pitchFamily="18" charset="2"/>
              <a:buChar char=""/>
              <a:tabLst>
                <a:tab pos="763905" algn="l"/>
              </a:tabLst>
            </a:pPr>
            <a:r>
              <a:rPr lang="en-US" sz="2000" b="1" spc="-10" dirty="0">
                <a:solidFill>
                  <a:srgbClr val="FFFF00"/>
                </a:solidFill>
                <a:effectLst/>
                <a:latin typeface="Inter"/>
                <a:ea typeface="Symbol" panose="05050102010706020507" pitchFamily="18" charset="2"/>
                <a:cs typeface="Symbol" panose="05050102010706020507" pitchFamily="18" charset="2"/>
              </a:rPr>
              <a:t>Health Insurance Portability and Accountability Act (HIPAA): </a:t>
            </a:r>
            <a:r>
              <a:rPr lang="en-US" sz="2000" spc="-10" dirty="0">
                <a:solidFill>
                  <a:schemeClr val="tx1"/>
                </a:solidFill>
                <a:effectLst/>
                <a:latin typeface="Inter"/>
                <a:ea typeface="Symbol" panose="05050102010706020507" pitchFamily="18" charset="2"/>
                <a:cs typeface="Symbol" panose="05050102010706020507" pitchFamily="18" charset="2"/>
              </a:rPr>
              <a:t>For Adobe's healthcare-related </a:t>
            </a:r>
            <a:r>
              <a:rPr lang="en-US" sz="2000" spc="0" dirty="0">
                <a:solidFill>
                  <a:schemeClr val="tx1"/>
                </a:solidFill>
                <a:effectLst/>
                <a:latin typeface="Inter"/>
                <a:ea typeface="Symbol" panose="05050102010706020507" pitchFamily="18" charset="2"/>
                <a:cs typeface="Symbol" panose="05050102010706020507" pitchFamily="18" charset="2"/>
              </a:rPr>
              <a:t>products, compliance with HIPAA is crucial. This involves ensuring that</a:t>
            </a:r>
            <a:r>
              <a:rPr lang="en-US" sz="2000" spc="-5"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protected health information (PHI) is handled securely and in accordance with regulatory requirements.</a:t>
            </a:r>
          </a:p>
          <a:p>
            <a:pPr marL="342900" marR="133985" lvl="0" indent="-342900" algn="just">
              <a:lnSpc>
                <a:spcPct val="110000"/>
              </a:lnSpc>
              <a:spcBef>
                <a:spcPts val="30"/>
              </a:spcBef>
              <a:buSzPts val="1000"/>
              <a:buFont typeface="Symbol" panose="05050102010706020507" pitchFamily="18" charset="2"/>
              <a:buChar char=""/>
              <a:tabLst>
                <a:tab pos="763905" algn="l"/>
              </a:tabLst>
            </a:pPr>
            <a:endParaRPr lang="en-IN" sz="2000" spc="0" dirty="0">
              <a:solidFill>
                <a:schemeClr val="tx1"/>
              </a:solidFill>
              <a:effectLst/>
              <a:latin typeface="Inter"/>
              <a:ea typeface="Symbol" panose="05050102010706020507" pitchFamily="18" charset="2"/>
              <a:cs typeface="Symbol" panose="05050102010706020507" pitchFamily="18" charset="2"/>
            </a:endParaRPr>
          </a:p>
          <a:p>
            <a:pPr marL="342900" marR="167640" lvl="0" indent="-342900" algn="just">
              <a:lnSpc>
                <a:spcPct val="110000"/>
              </a:lnSpc>
              <a:spcBef>
                <a:spcPts val="25"/>
              </a:spcBef>
              <a:buSzPts val="1000"/>
              <a:buFont typeface="Symbol" panose="05050102010706020507" pitchFamily="18" charset="2"/>
              <a:buChar char=""/>
              <a:tabLst>
                <a:tab pos="763905" algn="l"/>
              </a:tabLst>
            </a:pPr>
            <a:r>
              <a:rPr lang="en-US" sz="2000" b="1" spc="0" dirty="0">
                <a:solidFill>
                  <a:srgbClr val="FFFF00"/>
                </a:solidFill>
                <a:effectLst/>
                <a:latin typeface="Inter"/>
                <a:ea typeface="Symbol" panose="05050102010706020507" pitchFamily="18" charset="2"/>
                <a:cs typeface="Symbol" panose="05050102010706020507" pitchFamily="18" charset="2"/>
              </a:rPr>
              <a:t>Terms</a:t>
            </a:r>
            <a:r>
              <a:rPr lang="en-US" sz="2000" b="1" spc="-40" dirty="0">
                <a:solidFill>
                  <a:srgbClr val="FFFF00"/>
                </a:solidFill>
                <a:effectLst/>
                <a:latin typeface="Inter"/>
                <a:ea typeface="Symbol" panose="05050102010706020507" pitchFamily="18" charset="2"/>
                <a:cs typeface="Symbol" panose="05050102010706020507" pitchFamily="18" charset="2"/>
              </a:rPr>
              <a:t> </a:t>
            </a:r>
            <a:r>
              <a:rPr lang="en-US" sz="2000" b="1" spc="0" dirty="0">
                <a:solidFill>
                  <a:srgbClr val="FFFF00"/>
                </a:solidFill>
                <a:effectLst/>
                <a:latin typeface="Inter"/>
                <a:ea typeface="Symbol" panose="05050102010706020507" pitchFamily="18" charset="2"/>
                <a:cs typeface="Symbol" panose="05050102010706020507" pitchFamily="18" charset="2"/>
              </a:rPr>
              <a:t>of</a:t>
            </a:r>
            <a:r>
              <a:rPr lang="en-US" sz="2000" b="1" spc="-55" dirty="0">
                <a:solidFill>
                  <a:srgbClr val="FFFF00"/>
                </a:solidFill>
                <a:effectLst/>
                <a:latin typeface="Inter"/>
                <a:ea typeface="Symbol" panose="05050102010706020507" pitchFamily="18" charset="2"/>
                <a:cs typeface="Symbol" panose="05050102010706020507" pitchFamily="18" charset="2"/>
              </a:rPr>
              <a:t> </a:t>
            </a:r>
            <a:r>
              <a:rPr lang="en-US" sz="2000" b="1" spc="0" dirty="0">
                <a:solidFill>
                  <a:srgbClr val="FFFF00"/>
                </a:solidFill>
                <a:effectLst/>
                <a:latin typeface="Inter"/>
                <a:ea typeface="Symbol" panose="05050102010706020507" pitchFamily="18" charset="2"/>
                <a:cs typeface="Symbol" panose="05050102010706020507" pitchFamily="18" charset="2"/>
              </a:rPr>
              <a:t>Use</a:t>
            </a:r>
            <a:r>
              <a:rPr lang="en-US" sz="2000" b="1" spc="-55" dirty="0">
                <a:solidFill>
                  <a:srgbClr val="FFFF00"/>
                </a:solidFill>
                <a:effectLst/>
                <a:latin typeface="Inter"/>
                <a:ea typeface="Symbol" panose="05050102010706020507" pitchFamily="18" charset="2"/>
                <a:cs typeface="Symbol" panose="05050102010706020507" pitchFamily="18" charset="2"/>
              </a:rPr>
              <a:t> </a:t>
            </a:r>
            <a:r>
              <a:rPr lang="en-US" sz="2000" b="1" spc="0" dirty="0">
                <a:solidFill>
                  <a:srgbClr val="FFFF00"/>
                </a:solidFill>
                <a:effectLst/>
                <a:latin typeface="Inter"/>
                <a:ea typeface="Symbol" panose="05050102010706020507" pitchFamily="18" charset="2"/>
                <a:cs typeface="Symbol" panose="05050102010706020507" pitchFamily="18" charset="2"/>
              </a:rPr>
              <a:t>Updates:</a:t>
            </a:r>
            <a:r>
              <a:rPr lang="en-US" sz="2000" b="1" spc="-45" dirty="0">
                <a:solidFill>
                  <a:srgbClr val="FFFF00"/>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Adobe</a:t>
            </a:r>
            <a:r>
              <a:rPr lang="en-US" sz="2000" spc="-45"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has</a:t>
            </a:r>
            <a:r>
              <a:rPr lang="en-US" sz="2000" spc="-45"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faced</a:t>
            </a:r>
            <a:r>
              <a:rPr lang="en-US" sz="2000" spc="-55"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backlash</a:t>
            </a:r>
            <a:r>
              <a:rPr lang="en-US" sz="2000" spc="-55"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and</a:t>
            </a:r>
            <a:r>
              <a:rPr lang="en-US" sz="2000" spc="-6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had</a:t>
            </a:r>
            <a:r>
              <a:rPr lang="en-US" sz="2000" spc="-5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to</a:t>
            </a:r>
            <a:r>
              <a:rPr lang="en-US" sz="2000" spc="-5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revise</a:t>
            </a:r>
            <a:r>
              <a:rPr lang="en-US" sz="2000" spc="-5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its</a:t>
            </a:r>
            <a:r>
              <a:rPr lang="en-US" sz="2000" spc="-55"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terms</a:t>
            </a:r>
            <a:r>
              <a:rPr lang="en-US" sz="2000" spc="-55"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of</a:t>
            </a:r>
            <a:r>
              <a:rPr lang="en-US" sz="2000" spc="-4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use</a:t>
            </a:r>
            <a:r>
              <a:rPr lang="en-US" sz="2000" spc="-5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to</a:t>
            </a:r>
            <a:r>
              <a:rPr lang="en-US" sz="2000" spc="-5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clarify how it</a:t>
            </a:r>
            <a:r>
              <a:rPr lang="en-US" sz="2000" spc="-15"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handles</a:t>
            </a:r>
            <a:r>
              <a:rPr lang="en-US" sz="2000" spc="-1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user content and addresses</a:t>
            </a:r>
            <a:r>
              <a:rPr lang="en-US" sz="2000" spc="-5"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concerns</a:t>
            </a:r>
            <a:r>
              <a:rPr lang="en-US" sz="2000" spc="-1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about privacy and data usage. These updates are part</a:t>
            </a:r>
            <a:r>
              <a:rPr lang="en-US" sz="2000" spc="-5"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of</a:t>
            </a:r>
            <a:r>
              <a:rPr lang="en-US" sz="2000" spc="-5"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Adobe's efforts</a:t>
            </a:r>
            <a:r>
              <a:rPr lang="en-US" sz="2000" spc="-10"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to maintain</a:t>
            </a:r>
            <a:r>
              <a:rPr lang="en-US" sz="2000" spc="-5"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transparency and</a:t>
            </a:r>
            <a:r>
              <a:rPr lang="en-US" sz="2000" spc="-5"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build</a:t>
            </a:r>
            <a:r>
              <a:rPr lang="en-US" sz="2000" spc="-5"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trust with</a:t>
            </a:r>
            <a:r>
              <a:rPr lang="en-US" sz="2000" spc="-5" dirty="0">
                <a:solidFill>
                  <a:schemeClr val="tx1"/>
                </a:solidFill>
                <a:effectLst/>
                <a:latin typeface="Inter"/>
                <a:ea typeface="Symbol" panose="05050102010706020507" pitchFamily="18" charset="2"/>
                <a:cs typeface="Symbol" panose="05050102010706020507" pitchFamily="18" charset="2"/>
              </a:rPr>
              <a:t> </a:t>
            </a:r>
            <a:r>
              <a:rPr lang="en-US" sz="2000" spc="0" dirty="0">
                <a:solidFill>
                  <a:schemeClr val="tx1"/>
                </a:solidFill>
                <a:effectLst/>
                <a:latin typeface="Inter"/>
                <a:ea typeface="Symbol" panose="05050102010706020507" pitchFamily="18" charset="2"/>
                <a:cs typeface="Symbol" panose="05050102010706020507" pitchFamily="18" charset="2"/>
              </a:rPr>
              <a:t>its users.</a:t>
            </a:r>
            <a:endParaRPr lang="en-IN" sz="2000" spc="0" dirty="0">
              <a:solidFill>
                <a:schemeClr val="tx1"/>
              </a:solidFill>
              <a:effectLst/>
              <a:latin typeface="Inter"/>
              <a:ea typeface="Symbol" panose="05050102010706020507" pitchFamily="18" charset="2"/>
              <a:cs typeface="Symbol" panose="05050102010706020507" pitchFamily="18" charset="2"/>
            </a:endParaRPr>
          </a:p>
          <a:p>
            <a:pPr marL="0" indent="0">
              <a:buNone/>
            </a:pPr>
            <a:endParaRPr lang="en-IN" dirty="0"/>
          </a:p>
        </p:txBody>
      </p:sp>
    </p:spTree>
    <p:extLst>
      <p:ext uri="{BB962C8B-B14F-4D97-AF65-F5344CB8AC3E}">
        <p14:creationId xmlns:p14="http://schemas.microsoft.com/office/powerpoint/2010/main" val="9986280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AE169-46AB-807C-E46C-AB0D184A8DC3}"/>
              </a:ext>
            </a:extLst>
          </p:cNvPr>
          <p:cNvSpPr>
            <a:spLocks noGrp="1"/>
          </p:cNvSpPr>
          <p:nvPr>
            <p:ph type="title"/>
          </p:nvPr>
        </p:nvSpPr>
        <p:spPr/>
        <p:txBody>
          <a:bodyPr/>
          <a:lstStyle/>
          <a:p>
            <a:r>
              <a:rPr lang="en-US" kern="0" spc="-15" dirty="0">
                <a:solidFill>
                  <a:srgbClr val="00FFFF"/>
                </a:solidFill>
                <a:effectLst/>
                <a:ea typeface="Calibri" panose="020F0502020204030204" pitchFamily="34" charset="0"/>
              </a:rPr>
              <a:t>Economic</a:t>
            </a:r>
            <a:r>
              <a:rPr lang="en-US" kern="0" spc="-45" dirty="0">
                <a:solidFill>
                  <a:srgbClr val="00FFFF"/>
                </a:solidFill>
                <a:effectLst/>
                <a:ea typeface="Calibri" panose="020F0502020204030204" pitchFamily="34" charset="0"/>
              </a:rPr>
              <a:t> </a:t>
            </a:r>
            <a:r>
              <a:rPr lang="en-US" kern="0" spc="-10" dirty="0">
                <a:solidFill>
                  <a:srgbClr val="00FFFF"/>
                </a:solidFill>
                <a:effectLst/>
                <a:ea typeface="Calibri" panose="020F0502020204030204" pitchFamily="34" charset="0"/>
              </a:rPr>
              <a:t>Conditions</a:t>
            </a:r>
            <a:br>
              <a:rPr lang="en-IN" sz="1800" b="1" kern="0" spc="-15" dirty="0">
                <a:effectLst/>
                <a:latin typeface="Calibri" panose="020F0502020204030204" pitchFamily="34" charset="0"/>
                <a:ea typeface="Calibri" panose="020F0502020204030204" pitchFamily="34" charset="0"/>
              </a:rPr>
            </a:br>
            <a:endParaRPr lang="en-IN" dirty="0"/>
          </a:p>
        </p:txBody>
      </p:sp>
      <p:sp>
        <p:nvSpPr>
          <p:cNvPr id="3" name="Content Placeholder 2">
            <a:extLst>
              <a:ext uri="{FF2B5EF4-FFF2-40B4-BE49-F238E27FC236}">
                <a16:creationId xmlns:a16="http://schemas.microsoft.com/office/drawing/2014/main" id="{0772C54A-C995-E12E-0CEE-5A03C1814FDD}"/>
              </a:ext>
            </a:extLst>
          </p:cNvPr>
          <p:cNvSpPr>
            <a:spLocks noGrp="1"/>
          </p:cNvSpPr>
          <p:nvPr>
            <p:ph idx="1"/>
          </p:nvPr>
        </p:nvSpPr>
        <p:spPr>
          <a:xfrm>
            <a:off x="677334" y="1419225"/>
            <a:ext cx="8596668" cy="4622137"/>
          </a:xfrm>
        </p:spPr>
        <p:txBody>
          <a:bodyPr>
            <a:normAutofit/>
          </a:bodyPr>
          <a:lstStyle/>
          <a:p>
            <a:pPr marL="280035" marR="88900" indent="0" algn="just">
              <a:lnSpc>
                <a:spcPct val="110000"/>
              </a:lnSpc>
              <a:spcBef>
                <a:spcPts val="180"/>
              </a:spcBef>
              <a:buNone/>
            </a:pPr>
            <a:r>
              <a:rPr lang="en-US" sz="2000" dirty="0">
                <a:solidFill>
                  <a:schemeClr val="tx1"/>
                </a:solidFill>
                <a:effectLst/>
                <a:latin typeface="Inter"/>
                <a:ea typeface="Calibri" panose="020F0502020204030204" pitchFamily="34" charset="0"/>
              </a:rPr>
              <a:t>Economic</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instability</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can</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have</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various</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impacts</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on</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companies</a:t>
            </a:r>
            <a:r>
              <a:rPr lang="en-US" sz="2000" spc="-55"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like</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Adobe.</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Here</a:t>
            </a:r>
            <a:r>
              <a:rPr lang="en-US" sz="2000" spc="-5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are</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some</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ways</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it might affect them:</a:t>
            </a:r>
          </a:p>
          <a:p>
            <a:pPr marL="280035" marR="88900" indent="0" algn="just">
              <a:lnSpc>
                <a:spcPct val="110000"/>
              </a:lnSpc>
              <a:spcBef>
                <a:spcPts val="180"/>
              </a:spcBef>
              <a:buNone/>
            </a:pPr>
            <a:endParaRPr lang="en-IN" sz="2000" dirty="0">
              <a:solidFill>
                <a:schemeClr val="tx1"/>
              </a:solidFill>
              <a:effectLst/>
              <a:latin typeface="Inter"/>
              <a:ea typeface="Calibri" panose="020F0502020204030204" pitchFamily="34" charset="0"/>
            </a:endParaRPr>
          </a:p>
          <a:p>
            <a:pPr marR="172085" lvl="0" algn="just">
              <a:lnSpc>
                <a:spcPct val="111000"/>
              </a:lnSpc>
              <a:spcBef>
                <a:spcPts val="15"/>
              </a:spcBef>
              <a:buSzPts val="1000"/>
              <a:buFont typeface="Arial" panose="020B0604020202020204" pitchFamily="34" charset="0"/>
              <a:buChar char="•"/>
              <a:tabLst>
                <a:tab pos="657225" algn="l"/>
                <a:tab pos="774700" algn="l"/>
              </a:tabLst>
            </a:pPr>
            <a:r>
              <a:rPr lang="en-US" sz="2000" b="1" spc="-10" dirty="0">
                <a:solidFill>
                  <a:srgbClr val="FFFF00"/>
                </a:solidFill>
                <a:effectLst/>
                <a:latin typeface="Inter"/>
                <a:ea typeface="Calibri" panose="020F0502020204030204" pitchFamily="34" charset="0"/>
              </a:rPr>
              <a:t>COVID-19 Pandemic: </a:t>
            </a:r>
            <a:r>
              <a:rPr lang="en-US" sz="2000" spc="-10" dirty="0">
                <a:solidFill>
                  <a:schemeClr val="tx1"/>
                </a:solidFill>
                <a:effectLst/>
                <a:latin typeface="Inter"/>
                <a:ea typeface="Calibri" panose="020F0502020204030204" pitchFamily="34" charset="0"/>
              </a:rPr>
              <a:t>The pandemic caused significant economic disruptions globally. Adobe </a:t>
            </a:r>
            <a:r>
              <a:rPr lang="en-US" sz="2000" spc="0" dirty="0">
                <a:solidFill>
                  <a:schemeClr val="tx1"/>
                </a:solidFill>
                <a:effectLst/>
                <a:latin typeface="Inter"/>
                <a:ea typeface="Calibri" panose="020F0502020204030204" pitchFamily="34" charset="0"/>
              </a:rPr>
              <a:t>saw</a:t>
            </a:r>
            <a:r>
              <a:rPr lang="en-US" sz="2000" spc="-25"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a</a:t>
            </a:r>
            <a:r>
              <a:rPr lang="en-US" sz="2000" spc="-25"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surge</a:t>
            </a:r>
            <a:r>
              <a:rPr lang="en-US" sz="2000" spc="-2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in</a:t>
            </a:r>
            <a:r>
              <a:rPr lang="en-US" sz="2000" spc="-25"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demand</a:t>
            </a:r>
            <a:r>
              <a:rPr lang="en-US" sz="2000" spc="-25"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for</a:t>
            </a:r>
            <a:r>
              <a:rPr lang="en-US" sz="2000" spc="-25"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its</a:t>
            </a:r>
            <a:r>
              <a:rPr lang="en-US" sz="2000" spc="-15"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digital</a:t>
            </a:r>
            <a:r>
              <a:rPr lang="en-US" sz="2000" spc="-3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solutions</a:t>
            </a:r>
            <a:r>
              <a:rPr lang="en-US" sz="2000" spc="-25"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as</a:t>
            </a:r>
            <a:r>
              <a:rPr lang="en-US" sz="2000" spc="-25"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businesses</a:t>
            </a:r>
            <a:r>
              <a:rPr lang="en-US" sz="2000" spc="-35"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and</a:t>
            </a:r>
            <a:r>
              <a:rPr lang="en-US" sz="2000" spc="-25"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individuals</a:t>
            </a:r>
            <a:r>
              <a:rPr lang="en-US" sz="2000" spc="-25"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shifted</a:t>
            </a:r>
            <a:r>
              <a:rPr lang="en-US" sz="2000" spc="-25"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to</a:t>
            </a:r>
            <a:r>
              <a:rPr lang="en-US" sz="2000" spc="-1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remote work</a:t>
            </a:r>
            <a:r>
              <a:rPr lang="en-US" sz="2000" spc="-5"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and online collaboration.</a:t>
            </a:r>
            <a:r>
              <a:rPr lang="en-US" sz="2000" spc="-5"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However, the</a:t>
            </a:r>
            <a:r>
              <a:rPr lang="en-US" sz="2000" spc="-1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economic uncertainty also led</a:t>
            </a:r>
            <a:r>
              <a:rPr lang="en-US" sz="2000" spc="-5"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to budget constraints for some customers, affecting their</a:t>
            </a:r>
            <a:r>
              <a:rPr lang="en-US" sz="2000" spc="-1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purchasing decisions. During economic downturns, both individuals and businesses</a:t>
            </a:r>
            <a:r>
              <a:rPr lang="en-US" sz="2000" spc="-5"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tend</a:t>
            </a:r>
            <a:r>
              <a:rPr lang="en-US" sz="2000" spc="-5"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to</a:t>
            </a:r>
            <a:r>
              <a:rPr lang="en-US" sz="2000" spc="-15"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cut back on spending. This can lead</a:t>
            </a:r>
            <a:r>
              <a:rPr lang="en-US" sz="2000" spc="-5"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to a decrease in sales of Adobe's products and services, as customers may delay or cancel their </a:t>
            </a:r>
            <a:r>
              <a:rPr lang="en-US" sz="2000" spc="-10" dirty="0">
                <a:solidFill>
                  <a:schemeClr val="tx1"/>
                </a:solidFill>
                <a:effectLst/>
                <a:latin typeface="Inter"/>
                <a:ea typeface="Calibri" panose="020F0502020204030204" pitchFamily="34" charset="0"/>
              </a:rPr>
              <a:t>purchases.</a:t>
            </a:r>
            <a:endParaRPr lang="en-IN" sz="2000" spc="0" dirty="0">
              <a:solidFill>
                <a:schemeClr val="tx1"/>
              </a:solidFill>
              <a:effectLst/>
              <a:latin typeface="Inter"/>
              <a:ea typeface="Calibri" panose="020F0502020204030204" pitchFamily="34" charset="0"/>
            </a:endParaRPr>
          </a:p>
          <a:p>
            <a:endParaRPr lang="en-IN" dirty="0"/>
          </a:p>
        </p:txBody>
      </p:sp>
    </p:spTree>
    <p:extLst>
      <p:ext uri="{BB962C8B-B14F-4D97-AF65-F5344CB8AC3E}">
        <p14:creationId xmlns:p14="http://schemas.microsoft.com/office/powerpoint/2010/main" val="9516025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D38553-596B-5AD7-A358-A9A3CA2F79D1}"/>
              </a:ext>
            </a:extLst>
          </p:cNvPr>
          <p:cNvSpPr>
            <a:spLocks noGrp="1"/>
          </p:cNvSpPr>
          <p:nvPr>
            <p:ph idx="1"/>
          </p:nvPr>
        </p:nvSpPr>
        <p:spPr>
          <a:xfrm>
            <a:off x="677334" y="657225"/>
            <a:ext cx="8596668" cy="5686425"/>
          </a:xfrm>
        </p:spPr>
        <p:txBody>
          <a:bodyPr/>
          <a:lstStyle/>
          <a:p>
            <a:pPr marR="200025" lvl="0" algn="just">
              <a:lnSpc>
                <a:spcPct val="111000"/>
              </a:lnSpc>
              <a:buSzPts val="1000"/>
              <a:buFont typeface="Arial" panose="020B0604020202020204" pitchFamily="34" charset="0"/>
              <a:buChar char="•"/>
              <a:tabLst>
                <a:tab pos="925195" algn="l"/>
              </a:tabLst>
            </a:pPr>
            <a:r>
              <a:rPr lang="en-US" sz="2000" b="1" spc="0" dirty="0">
                <a:solidFill>
                  <a:srgbClr val="FFFF00"/>
                </a:solidFill>
                <a:effectLst/>
                <a:latin typeface="Inter"/>
                <a:ea typeface="Calibri" panose="020F0502020204030204" pitchFamily="34" charset="0"/>
              </a:rPr>
              <a:t>Supply Chain Disruptions: </a:t>
            </a:r>
            <a:r>
              <a:rPr lang="en-US" sz="2000" spc="0" dirty="0">
                <a:solidFill>
                  <a:schemeClr val="tx1"/>
                </a:solidFill>
                <a:effectLst/>
                <a:latin typeface="Inter"/>
                <a:ea typeface="Calibri" panose="020F0502020204030204" pitchFamily="34" charset="0"/>
              </a:rPr>
              <a:t>Economic instability can disrupt supply chains, affecting the availability</a:t>
            </a:r>
            <a:r>
              <a:rPr lang="en-US" sz="2000" spc="-6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and</a:t>
            </a:r>
            <a:r>
              <a:rPr lang="en-US" sz="2000" spc="-6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cost</a:t>
            </a:r>
            <a:r>
              <a:rPr lang="en-US" sz="2000" spc="-6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of</a:t>
            </a:r>
            <a:r>
              <a:rPr lang="en-US" sz="2000" spc="-6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materials</a:t>
            </a:r>
            <a:r>
              <a:rPr lang="en-US" sz="2000" spc="-6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and</a:t>
            </a:r>
            <a:r>
              <a:rPr lang="en-US" sz="2000" spc="-6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components</a:t>
            </a:r>
            <a:r>
              <a:rPr lang="en-US" sz="2000" spc="-6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needed</a:t>
            </a:r>
            <a:r>
              <a:rPr lang="en-US" sz="2000" spc="-55"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for</a:t>
            </a:r>
            <a:r>
              <a:rPr lang="en-US" sz="2000" spc="-6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Adobe's</a:t>
            </a:r>
            <a:r>
              <a:rPr lang="en-US" sz="2000" spc="-6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products.</a:t>
            </a:r>
            <a:r>
              <a:rPr lang="en-US" sz="2000" spc="-6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This</a:t>
            </a:r>
            <a:r>
              <a:rPr lang="en-US" sz="2000" spc="-55"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can</a:t>
            </a:r>
            <a:r>
              <a:rPr lang="en-US" sz="2000" spc="-5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lead</a:t>
            </a:r>
            <a:r>
              <a:rPr lang="en-US" sz="2000" spc="-6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to increased production costs and potential delays in product delivery.</a:t>
            </a:r>
          </a:p>
          <a:p>
            <a:pPr marR="200025" lvl="0" algn="just">
              <a:lnSpc>
                <a:spcPct val="111000"/>
              </a:lnSpc>
              <a:buSzPts val="1000"/>
              <a:buFont typeface="Arial" panose="020B0604020202020204" pitchFamily="34" charset="0"/>
              <a:buChar char="•"/>
              <a:tabLst>
                <a:tab pos="925195" algn="l"/>
              </a:tabLst>
            </a:pPr>
            <a:endParaRPr lang="en-IN" sz="2000" spc="0" dirty="0">
              <a:solidFill>
                <a:schemeClr val="tx1"/>
              </a:solidFill>
              <a:effectLst/>
              <a:latin typeface="Inter"/>
              <a:ea typeface="Calibri" panose="020F0502020204030204" pitchFamily="34" charset="0"/>
            </a:endParaRPr>
          </a:p>
          <a:p>
            <a:pPr marR="390525" lvl="0" algn="just">
              <a:lnSpc>
                <a:spcPct val="111000"/>
              </a:lnSpc>
              <a:buSzPts val="1000"/>
              <a:buFont typeface="Arial" panose="020B0604020202020204" pitchFamily="34" charset="0"/>
              <a:buChar char="•"/>
              <a:tabLst>
                <a:tab pos="657225" algn="l"/>
                <a:tab pos="746125" algn="l"/>
              </a:tabLst>
            </a:pPr>
            <a:r>
              <a:rPr lang="en-US" sz="2000" b="1" spc="-10" dirty="0">
                <a:solidFill>
                  <a:srgbClr val="FFFF00"/>
                </a:solidFill>
                <a:effectLst/>
                <a:latin typeface="Inter"/>
                <a:ea typeface="Calibri" panose="020F0502020204030204" pitchFamily="34" charset="0"/>
              </a:rPr>
              <a:t>Currency Fluctuations</a:t>
            </a:r>
            <a:r>
              <a:rPr lang="en-US" sz="2000" spc="-10" dirty="0">
                <a:solidFill>
                  <a:srgbClr val="FFFF00"/>
                </a:solidFill>
                <a:effectLst/>
                <a:latin typeface="Inter"/>
                <a:ea typeface="Calibri" panose="020F0502020204030204" pitchFamily="34" charset="0"/>
              </a:rPr>
              <a:t>: </a:t>
            </a:r>
            <a:r>
              <a:rPr lang="en-US" sz="2000" spc="-10" dirty="0">
                <a:solidFill>
                  <a:schemeClr val="tx1"/>
                </a:solidFill>
                <a:effectLst/>
                <a:latin typeface="Inter"/>
                <a:ea typeface="Calibri" panose="020F0502020204030204" pitchFamily="34" charset="0"/>
              </a:rPr>
              <a:t>Changes in currency exchange rates</a:t>
            </a:r>
            <a:r>
              <a:rPr lang="en-US" sz="2000" spc="-25" dirty="0">
                <a:solidFill>
                  <a:schemeClr val="tx1"/>
                </a:solidFill>
                <a:effectLst/>
                <a:latin typeface="Inter"/>
                <a:ea typeface="Calibri" panose="020F0502020204030204" pitchFamily="34" charset="0"/>
              </a:rPr>
              <a:t> </a:t>
            </a:r>
            <a:r>
              <a:rPr lang="en-US" sz="2000" spc="-10" dirty="0">
                <a:solidFill>
                  <a:schemeClr val="tx1"/>
                </a:solidFill>
                <a:effectLst/>
                <a:latin typeface="Inter"/>
                <a:ea typeface="Calibri" panose="020F0502020204030204" pitchFamily="34" charset="0"/>
              </a:rPr>
              <a:t>can impact</a:t>
            </a:r>
            <a:r>
              <a:rPr lang="en-US" sz="2000" spc="-15" dirty="0">
                <a:solidFill>
                  <a:schemeClr val="tx1"/>
                </a:solidFill>
                <a:effectLst/>
                <a:latin typeface="Inter"/>
                <a:ea typeface="Calibri" panose="020F0502020204030204" pitchFamily="34" charset="0"/>
              </a:rPr>
              <a:t> </a:t>
            </a:r>
            <a:r>
              <a:rPr lang="en-US" sz="2000" spc="-10" dirty="0">
                <a:solidFill>
                  <a:schemeClr val="tx1"/>
                </a:solidFill>
                <a:effectLst/>
                <a:latin typeface="Inter"/>
                <a:ea typeface="Calibri" panose="020F0502020204030204" pitchFamily="34" charset="0"/>
              </a:rPr>
              <a:t>Adobe's revenue, </a:t>
            </a:r>
            <a:r>
              <a:rPr lang="en-US" sz="2000" spc="0" dirty="0">
                <a:solidFill>
                  <a:schemeClr val="tx1"/>
                </a:solidFill>
                <a:effectLst/>
                <a:latin typeface="Inter"/>
                <a:ea typeface="Calibri" panose="020F0502020204030204" pitchFamily="34" charset="0"/>
              </a:rPr>
              <a:t>especially</a:t>
            </a:r>
            <a:r>
              <a:rPr lang="en-US" sz="2000" spc="-6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since</a:t>
            </a:r>
            <a:r>
              <a:rPr lang="en-US" sz="2000" spc="-6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it</a:t>
            </a:r>
            <a:r>
              <a:rPr lang="en-US" sz="2000" spc="-6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operates</a:t>
            </a:r>
            <a:r>
              <a:rPr lang="en-US" sz="2000" spc="-6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globally.</a:t>
            </a:r>
            <a:r>
              <a:rPr lang="en-US" sz="2000" spc="-6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A</a:t>
            </a:r>
            <a:r>
              <a:rPr lang="en-US" sz="2000" spc="-6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stronger</a:t>
            </a:r>
            <a:r>
              <a:rPr lang="en-US" sz="2000" spc="-6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US</a:t>
            </a:r>
            <a:r>
              <a:rPr lang="en-US" sz="2000" spc="-55"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dollar</a:t>
            </a:r>
            <a:r>
              <a:rPr lang="en-US" sz="2000" spc="-6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can</a:t>
            </a:r>
            <a:r>
              <a:rPr lang="en-US" sz="2000" spc="-6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make</a:t>
            </a:r>
            <a:r>
              <a:rPr lang="en-US" sz="2000" spc="-6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Adobe's</a:t>
            </a:r>
            <a:r>
              <a:rPr lang="en-US" sz="2000" spc="-6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products</a:t>
            </a:r>
            <a:r>
              <a:rPr lang="en-US" sz="2000" spc="-55"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more expensive in other countries, potentially reducing sales.</a:t>
            </a:r>
          </a:p>
          <a:p>
            <a:pPr marR="390525" lvl="0" algn="just">
              <a:lnSpc>
                <a:spcPct val="111000"/>
              </a:lnSpc>
              <a:buSzPts val="1000"/>
              <a:buFont typeface="Arial" panose="020B0604020202020204" pitchFamily="34" charset="0"/>
              <a:buChar char="•"/>
              <a:tabLst>
                <a:tab pos="657225" algn="l"/>
                <a:tab pos="746125" algn="l"/>
              </a:tabLst>
            </a:pPr>
            <a:endParaRPr lang="en-IN" sz="2000" spc="0" dirty="0">
              <a:solidFill>
                <a:schemeClr val="tx1"/>
              </a:solidFill>
              <a:effectLst/>
              <a:latin typeface="Inter"/>
              <a:ea typeface="Calibri" panose="020F0502020204030204" pitchFamily="34" charset="0"/>
            </a:endParaRPr>
          </a:p>
          <a:p>
            <a:pPr marR="443230" lvl="0" algn="just">
              <a:lnSpc>
                <a:spcPct val="111000"/>
              </a:lnSpc>
              <a:buSzPts val="1000"/>
              <a:buFont typeface="Arial" panose="020B0604020202020204" pitchFamily="34" charset="0"/>
              <a:buChar char="•"/>
              <a:tabLst>
                <a:tab pos="657225" algn="l"/>
                <a:tab pos="746125" algn="l"/>
              </a:tabLst>
            </a:pPr>
            <a:r>
              <a:rPr lang="en-US" sz="2000" b="1" spc="0" dirty="0">
                <a:solidFill>
                  <a:srgbClr val="FFFF00"/>
                </a:solidFill>
                <a:effectLst/>
                <a:latin typeface="Inter"/>
                <a:ea typeface="Calibri" panose="020F0502020204030204" pitchFamily="34" charset="0"/>
              </a:rPr>
              <a:t>Investment</a:t>
            </a:r>
            <a:r>
              <a:rPr lang="en-US" sz="2000" b="1" spc="-60" dirty="0">
                <a:solidFill>
                  <a:srgbClr val="FFFF00"/>
                </a:solidFill>
                <a:effectLst/>
                <a:latin typeface="Inter"/>
                <a:ea typeface="Calibri" panose="020F0502020204030204" pitchFamily="34" charset="0"/>
              </a:rPr>
              <a:t> </a:t>
            </a:r>
            <a:r>
              <a:rPr lang="en-US" sz="2000" b="1" spc="0" dirty="0">
                <a:solidFill>
                  <a:srgbClr val="FFFF00"/>
                </a:solidFill>
                <a:effectLst/>
                <a:latin typeface="Inter"/>
                <a:ea typeface="Calibri" panose="020F0502020204030204" pitchFamily="34" charset="0"/>
              </a:rPr>
              <a:t>and</a:t>
            </a:r>
            <a:r>
              <a:rPr lang="en-US" sz="2000" b="1" spc="-60" dirty="0">
                <a:solidFill>
                  <a:srgbClr val="FFFF00"/>
                </a:solidFill>
                <a:effectLst/>
                <a:latin typeface="Inter"/>
                <a:ea typeface="Calibri" panose="020F0502020204030204" pitchFamily="34" charset="0"/>
              </a:rPr>
              <a:t> </a:t>
            </a:r>
            <a:r>
              <a:rPr lang="en-US" sz="2000" b="1" spc="0" dirty="0">
                <a:solidFill>
                  <a:srgbClr val="FFFF00"/>
                </a:solidFill>
                <a:effectLst/>
                <a:latin typeface="Inter"/>
                <a:ea typeface="Calibri" panose="020F0502020204030204" pitchFamily="34" charset="0"/>
              </a:rPr>
              <a:t>Growth:</a:t>
            </a:r>
            <a:r>
              <a:rPr lang="en-US" sz="2000" b="1" spc="-60" dirty="0">
                <a:solidFill>
                  <a:srgbClr val="FFFF00"/>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Economic</a:t>
            </a:r>
            <a:r>
              <a:rPr lang="en-US" sz="2000" spc="-6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instability</a:t>
            </a:r>
            <a:r>
              <a:rPr lang="en-US" sz="2000" spc="-6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can</a:t>
            </a:r>
            <a:r>
              <a:rPr lang="en-US" sz="2000" spc="-6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affect</a:t>
            </a:r>
            <a:r>
              <a:rPr lang="en-US" sz="2000" spc="-6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Adobe's</a:t>
            </a:r>
            <a:r>
              <a:rPr lang="en-US" sz="2000" spc="-55"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ability</a:t>
            </a:r>
            <a:r>
              <a:rPr lang="en-US" sz="2000" spc="-6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to</a:t>
            </a:r>
            <a:r>
              <a:rPr lang="en-US" sz="2000" spc="-6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invest</a:t>
            </a:r>
            <a:r>
              <a:rPr lang="en-US" sz="2000" spc="-6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in</a:t>
            </a:r>
            <a:r>
              <a:rPr lang="en-US" sz="2000" spc="-60"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new projects and technologies. Uncertainty in the market can lead to cautious spending</a:t>
            </a:r>
            <a:r>
              <a:rPr lang="en-US" sz="2000" spc="-5" dirty="0">
                <a:solidFill>
                  <a:schemeClr val="tx1"/>
                </a:solidFill>
                <a:effectLst/>
                <a:latin typeface="Inter"/>
                <a:ea typeface="Calibri" panose="020F0502020204030204" pitchFamily="34" charset="0"/>
              </a:rPr>
              <a:t> </a:t>
            </a:r>
            <a:r>
              <a:rPr lang="en-US" sz="2000" spc="0" dirty="0">
                <a:solidFill>
                  <a:schemeClr val="tx1"/>
                </a:solidFill>
                <a:effectLst/>
                <a:latin typeface="Inter"/>
                <a:ea typeface="Calibri" panose="020F0502020204030204" pitchFamily="34" charset="0"/>
              </a:rPr>
              <a:t>and reduced investment in research and development.</a:t>
            </a:r>
            <a:endParaRPr lang="en-IN" sz="2000" spc="0" dirty="0">
              <a:solidFill>
                <a:schemeClr val="tx1"/>
              </a:solidFill>
              <a:effectLst/>
              <a:latin typeface="Inter"/>
              <a:ea typeface="Calibri" panose="020F0502020204030204" pitchFamily="34" charset="0"/>
            </a:endParaRPr>
          </a:p>
          <a:p>
            <a:endParaRPr lang="en-IN" dirty="0"/>
          </a:p>
        </p:txBody>
      </p:sp>
    </p:spTree>
    <p:extLst>
      <p:ext uri="{BB962C8B-B14F-4D97-AF65-F5344CB8AC3E}">
        <p14:creationId xmlns:p14="http://schemas.microsoft.com/office/powerpoint/2010/main" val="4293530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E87A0-877B-1072-D1DE-DEBEED4FCE95}"/>
              </a:ext>
            </a:extLst>
          </p:cNvPr>
          <p:cNvSpPr>
            <a:spLocks noGrp="1"/>
          </p:cNvSpPr>
          <p:nvPr>
            <p:ph type="title"/>
          </p:nvPr>
        </p:nvSpPr>
        <p:spPr/>
        <p:txBody>
          <a:bodyPr/>
          <a:lstStyle/>
          <a:p>
            <a:r>
              <a:rPr lang="en-US" kern="0" spc="-10" dirty="0">
                <a:solidFill>
                  <a:srgbClr val="00FFFF"/>
                </a:solidFill>
                <a:effectLst/>
                <a:ea typeface="Calibri" panose="020F0502020204030204" pitchFamily="34" charset="0"/>
              </a:rPr>
              <a:t>Competition</a:t>
            </a:r>
            <a:br>
              <a:rPr lang="en-IN" sz="1800" b="1" kern="0" spc="-15" dirty="0">
                <a:effectLst/>
                <a:latin typeface="Calibri" panose="020F0502020204030204" pitchFamily="34" charset="0"/>
                <a:ea typeface="Calibri" panose="020F0502020204030204" pitchFamily="34" charset="0"/>
              </a:rPr>
            </a:br>
            <a:endParaRPr lang="en-IN" dirty="0"/>
          </a:p>
        </p:txBody>
      </p:sp>
      <p:sp>
        <p:nvSpPr>
          <p:cNvPr id="3" name="Content Placeholder 2">
            <a:extLst>
              <a:ext uri="{FF2B5EF4-FFF2-40B4-BE49-F238E27FC236}">
                <a16:creationId xmlns:a16="http://schemas.microsoft.com/office/drawing/2014/main" id="{9B00790C-3400-F8D9-545A-C03833515236}"/>
              </a:ext>
            </a:extLst>
          </p:cNvPr>
          <p:cNvSpPr>
            <a:spLocks noGrp="1"/>
          </p:cNvSpPr>
          <p:nvPr>
            <p:ph idx="1"/>
          </p:nvPr>
        </p:nvSpPr>
        <p:spPr>
          <a:xfrm>
            <a:off x="677334" y="1457325"/>
            <a:ext cx="8596668" cy="4953000"/>
          </a:xfrm>
        </p:spPr>
        <p:txBody>
          <a:bodyPr/>
          <a:lstStyle/>
          <a:p>
            <a:pPr marL="118745" marR="88900" indent="0" algn="just">
              <a:lnSpc>
                <a:spcPct val="111000"/>
              </a:lnSpc>
              <a:spcBef>
                <a:spcPts val="925"/>
              </a:spcBef>
              <a:buNone/>
            </a:pPr>
            <a:r>
              <a:rPr lang="en-US" sz="2000" spc="-10" dirty="0">
                <a:solidFill>
                  <a:schemeClr val="tx1"/>
                </a:solidFill>
                <a:effectLst/>
                <a:latin typeface="Inter"/>
                <a:ea typeface="Calibri" panose="020F0502020204030204" pitchFamily="34" charset="0"/>
              </a:rPr>
              <a:t>Adobe faces competition from</a:t>
            </a:r>
            <a:r>
              <a:rPr lang="en-US" sz="2000" spc="-15" dirty="0">
                <a:solidFill>
                  <a:schemeClr val="tx1"/>
                </a:solidFill>
                <a:effectLst/>
                <a:latin typeface="Inter"/>
                <a:ea typeface="Calibri" panose="020F0502020204030204" pitchFamily="34" charset="0"/>
              </a:rPr>
              <a:t> </a:t>
            </a:r>
            <a:r>
              <a:rPr lang="en-US" sz="2000" spc="-10" dirty="0">
                <a:solidFill>
                  <a:schemeClr val="tx1"/>
                </a:solidFill>
                <a:effectLst/>
                <a:latin typeface="Inter"/>
                <a:ea typeface="Calibri" panose="020F0502020204030204" pitchFamily="34" charset="0"/>
              </a:rPr>
              <a:t>various international</a:t>
            </a:r>
            <a:r>
              <a:rPr lang="en-US" sz="2000" spc="-20" dirty="0">
                <a:solidFill>
                  <a:schemeClr val="tx1"/>
                </a:solidFill>
                <a:effectLst/>
                <a:latin typeface="Inter"/>
                <a:ea typeface="Calibri" panose="020F0502020204030204" pitchFamily="34" charset="0"/>
              </a:rPr>
              <a:t> </a:t>
            </a:r>
            <a:r>
              <a:rPr lang="en-US" sz="2000" spc="-10" dirty="0">
                <a:solidFill>
                  <a:schemeClr val="tx1"/>
                </a:solidFill>
                <a:effectLst/>
                <a:latin typeface="Inter"/>
                <a:ea typeface="Calibri" panose="020F0502020204030204" pitchFamily="34" charset="0"/>
              </a:rPr>
              <a:t>companies across different segments of its </a:t>
            </a:r>
            <a:r>
              <a:rPr lang="en-US" sz="2000" dirty="0">
                <a:solidFill>
                  <a:schemeClr val="tx1"/>
                </a:solidFill>
                <a:effectLst/>
                <a:latin typeface="Inter"/>
                <a:ea typeface="Calibri" panose="020F0502020204030204" pitchFamily="34" charset="0"/>
              </a:rPr>
              <a:t>product offerings. Here are some notable competitors:</a:t>
            </a:r>
            <a:endParaRPr lang="en-IN" sz="2000" dirty="0">
              <a:solidFill>
                <a:schemeClr val="tx1"/>
              </a:solidFill>
              <a:effectLst/>
              <a:latin typeface="Inter"/>
              <a:ea typeface="Calibri" panose="020F0502020204030204" pitchFamily="34" charset="0"/>
            </a:endParaRPr>
          </a:p>
          <a:p>
            <a:pPr marR="439420" lvl="0" algn="just">
              <a:lnSpc>
                <a:spcPct val="111000"/>
              </a:lnSpc>
              <a:spcBef>
                <a:spcPts val="735"/>
              </a:spcBef>
              <a:buSzPts val="1000"/>
              <a:buFont typeface="Arial" panose="020B0604020202020204" pitchFamily="34" charset="0"/>
              <a:buChar char="•"/>
              <a:tabLst>
                <a:tab pos="763905" algn="l"/>
              </a:tabLst>
            </a:pPr>
            <a:r>
              <a:rPr lang="en-US" sz="2000" b="1" spc="-10" dirty="0">
                <a:solidFill>
                  <a:srgbClr val="FFFF00"/>
                </a:solidFill>
                <a:effectLst/>
                <a:latin typeface="Inter"/>
                <a:ea typeface="Wingdings" panose="05000000000000000000" pitchFamily="2" charset="2"/>
                <a:cs typeface="Wingdings" panose="05000000000000000000" pitchFamily="2" charset="2"/>
              </a:rPr>
              <a:t>Microsoft</a:t>
            </a:r>
            <a:r>
              <a:rPr lang="en-US" sz="2000" spc="-10" dirty="0">
                <a:solidFill>
                  <a:srgbClr val="FFFF00"/>
                </a:solidFill>
                <a:effectLst/>
                <a:latin typeface="Inter"/>
                <a:ea typeface="Wingdings" panose="05000000000000000000" pitchFamily="2" charset="2"/>
                <a:cs typeface="Wingdings" panose="05000000000000000000" pitchFamily="2" charset="2"/>
              </a:rPr>
              <a:t>:</a:t>
            </a:r>
            <a:r>
              <a:rPr lang="en-US" sz="2000" spc="-25" dirty="0">
                <a:solidFill>
                  <a:srgbClr val="FFFF00"/>
                </a:solidFill>
                <a:effectLst/>
                <a:latin typeface="Inter"/>
                <a:ea typeface="Wingdings" panose="05000000000000000000" pitchFamily="2" charset="2"/>
                <a:cs typeface="Wingdings" panose="05000000000000000000" pitchFamily="2" charset="2"/>
              </a:rPr>
              <a:t> </a:t>
            </a:r>
            <a:r>
              <a:rPr lang="en-US" sz="2000" spc="-10" dirty="0">
                <a:solidFill>
                  <a:schemeClr val="tx1"/>
                </a:solidFill>
                <a:effectLst/>
                <a:latin typeface="Inter"/>
                <a:ea typeface="Wingdings" panose="05000000000000000000" pitchFamily="2" charset="2"/>
                <a:cs typeface="Wingdings" panose="05000000000000000000" pitchFamily="2" charset="2"/>
              </a:rPr>
              <a:t>With products</a:t>
            </a:r>
            <a:r>
              <a:rPr lang="en-US" sz="2000" spc="-15" dirty="0">
                <a:solidFill>
                  <a:schemeClr val="tx1"/>
                </a:solidFill>
                <a:effectLst/>
                <a:latin typeface="Inter"/>
                <a:ea typeface="Wingdings" panose="05000000000000000000" pitchFamily="2" charset="2"/>
                <a:cs typeface="Wingdings" panose="05000000000000000000" pitchFamily="2" charset="2"/>
              </a:rPr>
              <a:t> </a:t>
            </a:r>
            <a:r>
              <a:rPr lang="en-US" sz="2000" spc="-10" dirty="0">
                <a:solidFill>
                  <a:schemeClr val="tx1"/>
                </a:solidFill>
                <a:effectLst/>
                <a:latin typeface="Inter"/>
                <a:ea typeface="Wingdings" panose="05000000000000000000" pitchFamily="2" charset="2"/>
                <a:cs typeface="Wingdings" panose="05000000000000000000" pitchFamily="2" charset="2"/>
              </a:rPr>
              <a:t>like </a:t>
            </a:r>
            <a:r>
              <a:rPr lang="en-US" sz="2000" b="1" spc="-10" dirty="0">
                <a:solidFill>
                  <a:schemeClr val="tx1"/>
                </a:solidFill>
                <a:effectLst/>
                <a:latin typeface="Inter"/>
                <a:ea typeface="Wingdings" panose="05000000000000000000" pitchFamily="2" charset="2"/>
                <a:cs typeface="Wingdings" panose="05000000000000000000" pitchFamily="2" charset="2"/>
              </a:rPr>
              <a:t>Microsoft</a:t>
            </a:r>
            <a:r>
              <a:rPr lang="en-US" sz="2000" b="1" spc="-20" dirty="0">
                <a:solidFill>
                  <a:schemeClr val="tx1"/>
                </a:solidFill>
                <a:effectLst/>
                <a:latin typeface="Inter"/>
                <a:ea typeface="Wingdings" panose="05000000000000000000" pitchFamily="2" charset="2"/>
                <a:cs typeface="Wingdings" panose="05000000000000000000" pitchFamily="2" charset="2"/>
              </a:rPr>
              <a:t> </a:t>
            </a:r>
            <a:r>
              <a:rPr lang="en-US" sz="2000" b="1" spc="-10" dirty="0">
                <a:solidFill>
                  <a:schemeClr val="tx1"/>
                </a:solidFill>
                <a:effectLst/>
                <a:latin typeface="Inter"/>
                <a:ea typeface="Wingdings" panose="05000000000000000000" pitchFamily="2" charset="2"/>
                <a:cs typeface="Wingdings" panose="05000000000000000000" pitchFamily="2" charset="2"/>
              </a:rPr>
              <a:t>Office</a:t>
            </a:r>
            <a:r>
              <a:rPr lang="en-US" sz="2000" b="1" spc="-20" dirty="0">
                <a:solidFill>
                  <a:schemeClr val="tx1"/>
                </a:solidFill>
                <a:effectLst/>
                <a:latin typeface="Inter"/>
                <a:ea typeface="Wingdings" panose="05000000000000000000" pitchFamily="2" charset="2"/>
                <a:cs typeface="Wingdings" panose="05000000000000000000" pitchFamily="2" charset="2"/>
              </a:rPr>
              <a:t> </a:t>
            </a:r>
            <a:r>
              <a:rPr lang="en-US" sz="2000" spc="-10" dirty="0">
                <a:solidFill>
                  <a:schemeClr val="tx1"/>
                </a:solidFill>
                <a:effectLst/>
                <a:latin typeface="Inter"/>
                <a:ea typeface="Wingdings" panose="05000000000000000000" pitchFamily="2" charset="2"/>
                <a:cs typeface="Wingdings" panose="05000000000000000000" pitchFamily="2" charset="2"/>
              </a:rPr>
              <a:t>and</a:t>
            </a:r>
            <a:r>
              <a:rPr lang="en-US" sz="2000" spc="-30" dirty="0">
                <a:solidFill>
                  <a:schemeClr val="tx1"/>
                </a:solidFill>
                <a:effectLst/>
                <a:latin typeface="Inter"/>
                <a:ea typeface="Wingdings" panose="05000000000000000000" pitchFamily="2" charset="2"/>
                <a:cs typeface="Wingdings" panose="05000000000000000000" pitchFamily="2" charset="2"/>
              </a:rPr>
              <a:t> </a:t>
            </a:r>
            <a:r>
              <a:rPr lang="en-US" sz="2000" b="1" spc="-10" dirty="0">
                <a:solidFill>
                  <a:schemeClr val="tx1"/>
                </a:solidFill>
                <a:effectLst/>
                <a:latin typeface="Inter"/>
                <a:ea typeface="Wingdings" panose="05000000000000000000" pitchFamily="2" charset="2"/>
                <a:cs typeface="Wingdings" panose="05000000000000000000" pitchFamily="2" charset="2"/>
              </a:rPr>
              <a:t>Adobe</a:t>
            </a:r>
            <a:r>
              <a:rPr lang="en-US" sz="2000" b="1" spc="-20" dirty="0">
                <a:solidFill>
                  <a:schemeClr val="tx1"/>
                </a:solidFill>
                <a:effectLst/>
                <a:latin typeface="Inter"/>
                <a:ea typeface="Wingdings" panose="05000000000000000000" pitchFamily="2" charset="2"/>
                <a:cs typeface="Wingdings" panose="05000000000000000000" pitchFamily="2" charset="2"/>
              </a:rPr>
              <a:t> </a:t>
            </a:r>
            <a:r>
              <a:rPr lang="en-US" sz="2000" b="1" spc="-10" dirty="0">
                <a:solidFill>
                  <a:schemeClr val="tx1"/>
                </a:solidFill>
                <a:effectLst/>
                <a:latin typeface="Inter"/>
                <a:ea typeface="Wingdings" panose="05000000000000000000" pitchFamily="2" charset="2"/>
                <a:cs typeface="Wingdings" panose="05000000000000000000" pitchFamily="2" charset="2"/>
              </a:rPr>
              <a:t>Creative</a:t>
            </a:r>
            <a:r>
              <a:rPr lang="en-US" sz="2000" b="1" spc="-20" dirty="0">
                <a:solidFill>
                  <a:schemeClr val="tx1"/>
                </a:solidFill>
                <a:effectLst/>
                <a:latin typeface="Inter"/>
                <a:ea typeface="Wingdings" panose="05000000000000000000" pitchFamily="2" charset="2"/>
                <a:cs typeface="Wingdings" panose="05000000000000000000" pitchFamily="2" charset="2"/>
              </a:rPr>
              <a:t> </a:t>
            </a:r>
            <a:r>
              <a:rPr lang="en-US" sz="2000" b="1" spc="-10" dirty="0">
                <a:solidFill>
                  <a:schemeClr val="tx1"/>
                </a:solidFill>
                <a:effectLst/>
                <a:latin typeface="Inter"/>
                <a:ea typeface="Wingdings" panose="05000000000000000000" pitchFamily="2" charset="2"/>
                <a:cs typeface="Wingdings" panose="05000000000000000000" pitchFamily="2" charset="2"/>
              </a:rPr>
              <a:t>Cloud</a:t>
            </a:r>
            <a:r>
              <a:rPr lang="en-US" sz="2000" b="1" spc="-15" dirty="0">
                <a:solidFill>
                  <a:schemeClr val="tx1"/>
                </a:solidFill>
                <a:effectLst/>
                <a:latin typeface="Inter"/>
                <a:ea typeface="Wingdings" panose="05000000000000000000" pitchFamily="2" charset="2"/>
                <a:cs typeface="Wingdings" panose="05000000000000000000" pitchFamily="2" charset="2"/>
              </a:rPr>
              <a:t> </a:t>
            </a:r>
            <a:r>
              <a:rPr lang="en-US" sz="2000" spc="-10" dirty="0">
                <a:solidFill>
                  <a:schemeClr val="tx1"/>
                </a:solidFill>
                <a:effectLst/>
                <a:latin typeface="Inter"/>
                <a:ea typeface="Wingdings" panose="05000000000000000000" pitchFamily="2" charset="2"/>
                <a:cs typeface="Wingdings" panose="05000000000000000000" pitchFamily="2" charset="2"/>
              </a:rPr>
              <a:t>alternatives, </a:t>
            </a:r>
            <a:r>
              <a:rPr lang="en-US" sz="2000" spc="0" dirty="0">
                <a:solidFill>
                  <a:schemeClr val="tx1"/>
                </a:solidFill>
                <a:effectLst/>
                <a:latin typeface="Inter"/>
                <a:ea typeface="Wingdings" panose="05000000000000000000" pitchFamily="2" charset="2"/>
                <a:cs typeface="Wingdings" panose="05000000000000000000" pitchFamily="2" charset="2"/>
              </a:rPr>
              <a:t>Microsoft is a significant competitor.</a:t>
            </a:r>
          </a:p>
          <a:p>
            <a:pPr marR="439420" lvl="0" algn="just">
              <a:lnSpc>
                <a:spcPct val="111000"/>
              </a:lnSpc>
              <a:spcBef>
                <a:spcPts val="735"/>
              </a:spcBef>
              <a:buSzPts val="1000"/>
              <a:buFont typeface="Arial" panose="020B0604020202020204" pitchFamily="34" charset="0"/>
              <a:buChar char="•"/>
              <a:tabLst>
                <a:tab pos="763905" algn="l"/>
              </a:tabLst>
            </a:pPr>
            <a:r>
              <a:rPr lang="en-US" sz="2000" b="1" spc="0" dirty="0">
                <a:solidFill>
                  <a:srgbClr val="FFFF00"/>
                </a:solidFill>
                <a:effectLst/>
                <a:latin typeface="Inter"/>
                <a:ea typeface="Wingdings" panose="05000000000000000000" pitchFamily="2" charset="2"/>
                <a:cs typeface="Wingdings" panose="05000000000000000000" pitchFamily="2" charset="2"/>
              </a:rPr>
              <a:t>Autodesk</a:t>
            </a:r>
            <a:r>
              <a:rPr lang="en-US" sz="2000" spc="0" dirty="0">
                <a:solidFill>
                  <a:srgbClr val="FFFF00"/>
                </a:solidFill>
                <a:effectLst/>
                <a:latin typeface="Inter"/>
                <a:ea typeface="Wingdings" panose="05000000000000000000" pitchFamily="2" charset="2"/>
                <a:cs typeface="Wingdings" panose="05000000000000000000" pitchFamily="2" charset="2"/>
              </a:rPr>
              <a:t>:</a:t>
            </a:r>
            <a:r>
              <a:rPr lang="en-US" sz="2000" spc="-70" dirty="0">
                <a:solidFill>
                  <a:srgbClr val="FFFF00"/>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Known</a:t>
            </a:r>
            <a:r>
              <a:rPr lang="en-US" sz="2000" spc="-55"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for</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its</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design</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software</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like</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b="1" spc="0" dirty="0">
                <a:solidFill>
                  <a:schemeClr val="tx1"/>
                </a:solidFill>
                <a:effectLst/>
                <a:latin typeface="Inter"/>
                <a:ea typeface="Wingdings" panose="05000000000000000000" pitchFamily="2" charset="2"/>
                <a:cs typeface="Wingdings" panose="05000000000000000000" pitchFamily="2" charset="2"/>
              </a:rPr>
              <a:t>AutoCAD</a:t>
            </a:r>
            <a:r>
              <a:rPr lang="en-US" sz="2000" b="1"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and</a:t>
            </a:r>
            <a:r>
              <a:rPr lang="en-US" sz="2000" spc="-55" dirty="0">
                <a:solidFill>
                  <a:schemeClr val="tx1"/>
                </a:solidFill>
                <a:effectLst/>
                <a:latin typeface="Inter"/>
                <a:ea typeface="Wingdings" panose="05000000000000000000" pitchFamily="2" charset="2"/>
                <a:cs typeface="Wingdings" panose="05000000000000000000" pitchFamily="2" charset="2"/>
              </a:rPr>
              <a:t> </a:t>
            </a:r>
            <a:r>
              <a:rPr lang="en-US" sz="2000" b="1" spc="0" dirty="0">
                <a:solidFill>
                  <a:schemeClr val="tx1"/>
                </a:solidFill>
                <a:effectLst/>
                <a:latin typeface="Inter"/>
                <a:ea typeface="Wingdings" panose="05000000000000000000" pitchFamily="2" charset="2"/>
                <a:cs typeface="Wingdings" panose="05000000000000000000" pitchFamily="2" charset="2"/>
              </a:rPr>
              <a:t>Maya</a:t>
            </a:r>
            <a:r>
              <a:rPr lang="en-US" sz="2000" spc="0" dirty="0">
                <a:solidFill>
                  <a:schemeClr val="tx1"/>
                </a:solidFill>
                <a:effectLst/>
                <a:latin typeface="Inter"/>
                <a:ea typeface="Wingdings" panose="05000000000000000000" pitchFamily="2" charset="2"/>
                <a:cs typeface="Wingdings" panose="05000000000000000000" pitchFamily="2" charset="2"/>
              </a:rPr>
              <a:t>,</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Autodesk</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competes</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with Adobe in the design and creative industries.</a:t>
            </a:r>
            <a:endParaRPr lang="en-IN" sz="2000" spc="0" dirty="0">
              <a:solidFill>
                <a:schemeClr val="tx1"/>
              </a:solidFill>
              <a:effectLst/>
              <a:latin typeface="Inter"/>
              <a:ea typeface="Wingdings" panose="05000000000000000000" pitchFamily="2" charset="2"/>
              <a:cs typeface="Wingdings" panose="05000000000000000000" pitchFamily="2" charset="2"/>
            </a:endParaRPr>
          </a:p>
          <a:p>
            <a:pPr lvl="0" algn="just">
              <a:spcBef>
                <a:spcPts val="10"/>
              </a:spcBef>
              <a:buSzPts val="1000"/>
              <a:buFont typeface="Arial" panose="020B0604020202020204" pitchFamily="34" charset="0"/>
              <a:buChar char="•"/>
              <a:tabLst>
                <a:tab pos="763905" algn="l"/>
              </a:tabLst>
            </a:pPr>
            <a:r>
              <a:rPr lang="en-US" sz="2000" b="1" spc="0" dirty="0">
                <a:solidFill>
                  <a:srgbClr val="FFFF00"/>
                </a:solidFill>
                <a:effectLst/>
                <a:latin typeface="Inter"/>
                <a:ea typeface="Wingdings" panose="05000000000000000000" pitchFamily="2" charset="2"/>
                <a:cs typeface="Wingdings" panose="05000000000000000000" pitchFamily="2" charset="2"/>
              </a:rPr>
              <a:t>Corel</a:t>
            </a:r>
            <a:r>
              <a:rPr lang="en-US" sz="2000" spc="0" dirty="0">
                <a:solidFill>
                  <a:srgbClr val="FFFF00"/>
                </a:solidFill>
                <a:effectLst/>
                <a:latin typeface="Inter"/>
                <a:ea typeface="Wingdings" panose="05000000000000000000" pitchFamily="2" charset="2"/>
                <a:cs typeface="Wingdings" panose="05000000000000000000" pitchFamily="2" charset="2"/>
              </a:rPr>
              <a:t>:</a:t>
            </a:r>
            <a:r>
              <a:rPr lang="en-US" sz="2000" spc="70" dirty="0">
                <a:solidFill>
                  <a:srgbClr val="FFFF00"/>
                </a:solidFill>
                <a:effectLst/>
                <a:latin typeface="Inter"/>
                <a:ea typeface="Wingdings" panose="05000000000000000000" pitchFamily="2" charset="2"/>
                <a:cs typeface="Wingdings" panose="05000000000000000000" pitchFamily="2" charset="2"/>
              </a:rPr>
              <a:t> </a:t>
            </a:r>
            <a:r>
              <a:rPr lang="en-US" sz="2000" b="1" spc="0" dirty="0">
                <a:solidFill>
                  <a:schemeClr val="tx1"/>
                </a:solidFill>
                <a:effectLst/>
                <a:latin typeface="Inter"/>
                <a:ea typeface="Wingdings" panose="05000000000000000000" pitchFamily="2" charset="2"/>
                <a:cs typeface="Wingdings" panose="05000000000000000000" pitchFamily="2" charset="2"/>
              </a:rPr>
              <a:t>CorelDRAW</a:t>
            </a:r>
            <a:r>
              <a:rPr lang="en-US" sz="2000" spc="75"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and</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other</a:t>
            </a:r>
            <a:r>
              <a:rPr lang="en-US" sz="2000" spc="7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Corel</a:t>
            </a:r>
            <a:r>
              <a:rPr lang="en-US" sz="2000" spc="75"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products</a:t>
            </a:r>
            <a:r>
              <a:rPr lang="en-US" sz="2000" spc="8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compete</a:t>
            </a:r>
            <a:r>
              <a:rPr lang="en-US" sz="2000" spc="65"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with</a:t>
            </a:r>
            <a:r>
              <a:rPr lang="en-US" sz="2000" spc="75"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Adobe's</a:t>
            </a:r>
            <a:r>
              <a:rPr lang="en-US" sz="2000" spc="85"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graphic</a:t>
            </a:r>
            <a:r>
              <a:rPr lang="en-US" sz="2000" spc="7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design</a:t>
            </a:r>
            <a:r>
              <a:rPr lang="en-US" sz="2000" spc="70" dirty="0">
                <a:solidFill>
                  <a:schemeClr val="tx1"/>
                </a:solidFill>
                <a:effectLst/>
                <a:latin typeface="Inter"/>
                <a:ea typeface="Wingdings" panose="05000000000000000000" pitchFamily="2" charset="2"/>
                <a:cs typeface="Wingdings" panose="05000000000000000000" pitchFamily="2" charset="2"/>
              </a:rPr>
              <a:t> </a:t>
            </a:r>
            <a:r>
              <a:rPr lang="en-US" sz="2000" spc="-10" dirty="0">
                <a:solidFill>
                  <a:schemeClr val="tx1"/>
                </a:solidFill>
                <a:effectLst/>
                <a:latin typeface="Inter"/>
                <a:ea typeface="Wingdings" panose="05000000000000000000" pitchFamily="2" charset="2"/>
                <a:cs typeface="Wingdings" panose="05000000000000000000" pitchFamily="2" charset="2"/>
              </a:rPr>
              <a:t>software.</a:t>
            </a:r>
          </a:p>
          <a:p>
            <a:pPr algn="just">
              <a:spcBef>
                <a:spcPts val="10"/>
              </a:spcBef>
              <a:buSzPts val="1000"/>
              <a:buFont typeface="Arial" panose="020B0604020202020204" pitchFamily="34" charset="0"/>
              <a:buChar char="•"/>
              <a:tabLst>
                <a:tab pos="763905" algn="l"/>
              </a:tabLst>
            </a:pPr>
            <a:r>
              <a:rPr lang="en-US" sz="2000" b="1" spc="0" dirty="0">
                <a:solidFill>
                  <a:srgbClr val="FFFF00"/>
                </a:solidFill>
                <a:effectLst/>
                <a:latin typeface="Inter"/>
                <a:ea typeface="Wingdings" panose="05000000000000000000" pitchFamily="2" charset="2"/>
                <a:cs typeface="Wingdings" panose="05000000000000000000" pitchFamily="2" charset="2"/>
              </a:rPr>
              <a:t>Canva</a:t>
            </a:r>
            <a:r>
              <a:rPr lang="en-US" sz="2000" spc="0" dirty="0">
                <a:solidFill>
                  <a:srgbClr val="FFFF00"/>
                </a:solidFill>
                <a:effectLst/>
                <a:latin typeface="Inter"/>
                <a:ea typeface="Wingdings" panose="05000000000000000000" pitchFamily="2" charset="2"/>
                <a:cs typeface="Wingdings" panose="05000000000000000000" pitchFamily="2" charset="2"/>
              </a:rPr>
              <a:t>:</a:t>
            </a:r>
            <a:r>
              <a:rPr lang="en-US" sz="2000" spc="-70" dirty="0">
                <a:solidFill>
                  <a:srgbClr val="FFFF00"/>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This</a:t>
            </a:r>
            <a:r>
              <a:rPr lang="en-US" sz="2000" spc="-55"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online</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design</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platform</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offers</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tools</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for</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graphic</a:t>
            </a:r>
            <a:r>
              <a:rPr lang="en-US" sz="2000" spc="-55"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design,</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presentations,</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and</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other creative tasks, competing with Adobe's suite of design tools.</a:t>
            </a:r>
          </a:p>
          <a:p>
            <a:pPr algn="just">
              <a:spcBef>
                <a:spcPts val="10"/>
              </a:spcBef>
              <a:buSzPts val="1000"/>
              <a:buFont typeface="Arial" panose="020B0604020202020204" pitchFamily="34" charset="0"/>
              <a:buChar char="•"/>
              <a:tabLst>
                <a:tab pos="763905" algn="l"/>
              </a:tabLst>
            </a:pPr>
            <a:r>
              <a:rPr lang="en-US" sz="2000" b="1" spc="0" dirty="0">
                <a:solidFill>
                  <a:srgbClr val="FFFF00"/>
                </a:solidFill>
                <a:effectLst/>
                <a:latin typeface="Inter"/>
                <a:ea typeface="Wingdings" panose="05000000000000000000" pitchFamily="2" charset="2"/>
                <a:cs typeface="Wingdings" panose="05000000000000000000" pitchFamily="2" charset="2"/>
              </a:rPr>
              <a:t>Google</a:t>
            </a:r>
            <a:r>
              <a:rPr lang="en-US" sz="2000" spc="0" dirty="0">
                <a:solidFill>
                  <a:srgbClr val="FFFF00"/>
                </a:solidFill>
                <a:effectLst/>
                <a:latin typeface="Inter"/>
                <a:ea typeface="Wingdings" panose="05000000000000000000" pitchFamily="2" charset="2"/>
                <a:cs typeface="Wingdings" panose="05000000000000000000" pitchFamily="2" charset="2"/>
              </a:rPr>
              <a:t>:</a:t>
            </a:r>
            <a:r>
              <a:rPr lang="en-US" sz="2000" spc="-70" dirty="0">
                <a:solidFill>
                  <a:srgbClr val="FFFF00"/>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With</a:t>
            </a:r>
            <a:r>
              <a:rPr lang="en-US" sz="2000" spc="-55"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tools</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like</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b="1" spc="0" dirty="0">
                <a:solidFill>
                  <a:schemeClr val="tx1"/>
                </a:solidFill>
                <a:effectLst/>
                <a:latin typeface="Inter"/>
                <a:ea typeface="Wingdings" panose="05000000000000000000" pitchFamily="2" charset="2"/>
                <a:cs typeface="Wingdings" panose="05000000000000000000" pitchFamily="2" charset="2"/>
              </a:rPr>
              <a:t>Google</a:t>
            </a:r>
            <a:r>
              <a:rPr lang="en-US" sz="2000" b="1" spc="-60" dirty="0">
                <a:solidFill>
                  <a:schemeClr val="tx1"/>
                </a:solidFill>
                <a:effectLst/>
                <a:latin typeface="Inter"/>
                <a:ea typeface="Wingdings" panose="05000000000000000000" pitchFamily="2" charset="2"/>
                <a:cs typeface="Wingdings" panose="05000000000000000000" pitchFamily="2" charset="2"/>
              </a:rPr>
              <a:t> </a:t>
            </a:r>
            <a:r>
              <a:rPr lang="en-US" sz="2000" b="1" spc="0" dirty="0">
                <a:solidFill>
                  <a:schemeClr val="tx1"/>
                </a:solidFill>
                <a:effectLst/>
                <a:latin typeface="Inter"/>
                <a:ea typeface="Wingdings" panose="05000000000000000000" pitchFamily="2" charset="2"/>
                <a:cs typeface="Wingdings" panose="05000000000000000000" pitchFamily="2" charset="2"/>
              </a:rPr>
              <a:t>Workspace</a:t>
            </a:r>
            <a:r>
              <a:rPr lang="en-US" sz="2000" b="1"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and</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b="1" spc="0" dirty="0">
                <a:solidFill>
                  <a:schemeClr val="tx1"/>
                </a:solidFill>
                <a:effectLst/>
                <a:latin typeface="Inter"/>
                <a:ea typeface="Wingdings" panose="05000000000000000000" pitchFamily="2" charset="2"/>
                <a:cs typeface="Wingdings" panose="05000000000000000000" pitchFamily="2" charset="2"/>
              </a:rPr>
              <a:t>Google</a:t>
            </a:r>
            <a:r>
              <a:rPr lang="en-US" sz="2000" b="1" spc="-60" dirty="0">
                <a:solidFill>
                  <a:schemeClr val="tx1"/>
                </a:solidFill>
                <a:effectLst/>
                <a:latin typeface="Inter"/>
                <a:ea typeface="Wingdings" panose="05000000000000000000" pitchFamily="2" charset="2"/>
                <a:cs typeface="Wingdings" panose="05000000000000000000" pitchFamily="2" charset="2"/>
              </a:rPr>
              <a:t> </a:t>
            </a:r>
            <a:r>
              <a:rPr lang="en-US" sz="2000" b="1" spc="0" dirty="0">
                <a:solidFill>
                  <a:schemeClr val="tx1"/>
                </a:solidFill>
                <a:effectLst/>
                <a:latin typeface="Inter"/>
                <a:ea typeface="Wingdings" panose="05000000000000000000" pitchFamily="2" charset="2"/>
                <a:cs typeface="Wingdings" panose="05000000000000000000" pitchFamily="2" charset="2"/>
              </a:rPr>
              <a:t>Photos</a:t>
            </a:r>
            <a:r>
              <a:rPr lang="en-US" sz="2000" spc="0" dirty="0">
                <a:solidFill>
                  <a:schemeClr val="tx1"/>
                </a:solidFill>
                <a:effectLst/>
                <a:latin typeface="Inter"/>
                <a:ea typeface="Wingdings" panose="05000000000000000000" pitchFamily="2" charset="2"/>
                <a:cs typeface="Wingdings" panose="05000000000000000000" pitchFamily="2" charset="2"/>
              </a:rPr>
              <a:t>,</a:t>
            </a:r>
            <a:r>
              <a:rPr lang="en-US" sz="2000" spc="-55"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Google</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competes</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with Adobe in productivity and creative software space.</a:t>
            </a:r>
            <a:endParaRPr lang="en-IN" sz="2000" spc="0" dirty="0">
              <a:solidFill>
                <a:schemeClr val="tx1"/>
              </a:solidFill>
              <a:effectLst/>
              <a:latin typeface="Inter"/>
              <a:ea typeface="Wingdings" panose="05000000000000000000" pitchFamily="2" charset="2"/>
              <a:cs typeface="Wingdings" panose="05000000000000000000" pitchFamily="2" charset="2"/>
            </a:endParaRPr>
          </a:p>
          <a:p>
            <a:pPr lvl="0">
              <a:spcBef>
                <a:spcPts val="10"/>
              </a:spcBef>
              <a:buSzPts val="1000"/>
              <a:buFont typeface="Arial" panose="020B0604020202020204" pitchFamily="34" charset="0"/>
              <a:buChar char="•"/>
              <a:tabLst>
                <a:tab pos="763905" algn="l"/>
              </a:tabLst>
            </a:pPr>
            <a:endParaRPr lang="en-IN" sz="2000" spc="0" dirty="0">
              <a:solidFill>
                <a:srgbClr val="002060"/>
              </a:solidFill>
              <a:effectLst/>
              <a:latin typeface="Inter"/>
              <a:ea typeface="Wingdings" panose="05000000000000000000" pitchFamily="2" charset="2"/>
              <a:cs typeface="Wingdings" panose="05000000000000000000" pitchFamily="2" charset="2"/>
            </a:endParaRPr>
          </a:p>
          <a:p>
            <a:pPr marL="0" indent="0">
              <a:buNone/>
            </a:pPr>
            <a:endParaRPr lang="en-IN" dirty="0"/>
          </a:p>
        </p:txBody>
      </p:sp>
    </p:spTree>
    <p:extLst>
      <p:ext uri="{BB962C8B-B14F-4D97-AF65-F5344CB8AC3E}">
        <p14:creationId xmlns:p14="http://schemas.microsoft.com/office/powerpoint/2010/main" val="13705434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E6269-0FED-2EB0-4DCA-634FA71E81BF}"/>
              </a:ext>
            </a:extLst>
          </p:cNvPr>
          <p:cNvSpPr>
            <a:spLocks noGrp="1"/>
          </p:cNvSpPr>
          <p:nvPr>
            <p:ph type="title"/>
          </p:nvPr>
        </p:nvSpPr>
        <p:spPr/>
        <p:txBody>
          <a:bodyPr/>
          <a:lstStyle/>
          <a:p>
            <a:r>
              <a:rPr lang="en-US" u="sng" dirty="0">
                <a:solidFill>
                  <a:srgbClr val="00FFFF"/>
                </a:solidFill>
              </a:rPr>
              <a:t>Fiscal and Monetary Changes</a:t>
            </a:r>
            <a:endParaRPr lang="en-IN" u="sng" dirty="0">
              <a:solidFill>
                <a:srgbClr val="00FFFF"/>
              </a:solidFill>
            </a:endParaRPr>
          </a:p>
        </p:txBody>
      </p:sp>
      <p:sp>
        <p:nvSpPr>
          <p:cNvPr id="3" name="Content Placeholder 2">
            <a:extLst>
              <a:ext uri="{FF2B5EF4-FFF2-40B4-BE49-F238E27FC236}">
                <a16:creationId xmlns:a16="http://schemas.microsoft.com/office/drawing/2014/main" id="{6447E42E-0D94-3B69-508D-B4078E73B0E9}"/>
              </a:ext>
            </a:extLst>
          </p:cNvPr>
          <p:cNvSpPr>
            <a:spLocks noGrp="1"/>
          </p:cNvSpPr>
          <p:nvPr>
            <p:ph idx="1"/>
          </p:nvPr>
        </p:nvSpPr>
        <p:spPr>
          <a:xfrm>
            <a:off x="677334" y="1425677"/>
            <a:ext cx="8596668" cy="4965291"/>
          </a:xfrm>
        </p:spPr>
        <p:txBody>
          <a:bodyPr>
            <a:normAutofit/>
          </a:bodyPr>
          <a:lstStyle/>
          <a:p>
            <a:pPr marL="342900" lvl="0" indent="-342900" algn="just">
              <a:spcBef>
                <a:spcPts val="740"/>
              </a:spcBef>
              <a:buFont typeface="+mj-lt"/>
              <a:buAutoNum type="alphaUcPeriod"/>
              <a:tabLst>
                <a:tab pos="274955" algn="l"/>
              </a:tabLst>
            </a:pPr>
            <a:endParaRPr lang="en-US" sz="2000" b="1" kern="0" spc="0" dirty="0">
              <a:effectLst/>
              <a:ea typeface="Calibri" panose="020F0502020204030204" pitchFamily="34" charset="0"/>
            </a:endParaRPr>
          </a:p>
          <a:p>
            <a:pPr marL="0" indent="0" algn="just">
              <a:spcBef>
                <a:spcPts val="740"/>
              </a:spcBef>
              <a:buNone/>
              <a:tabLst>
                <a:tab pos="274955" algn="l"/>
              </a:tabLst>
            </a:pPr>
            <a:r>
              <a:rPr lang="en-US" sz="2000" dirty="0">
                <a:solidFill>
                  <a:schemeClr val="tx1"/>
                </a:solidFill>
                <a:effectLst/>
                <a:latin typeface="Inter"/>
                <a:ea typeface="Calibri" panose="020F0502020204030204" pitchFamily="34" charset="0"/>
              </a:rPr>
              <a:t>During</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the</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COVID-19</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pandemic,</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both</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fiscal</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and</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monetary</a:t>
            </a:r>
            <a:r>
              <a:rPr lang="en-US" sz="2000" spc="-55"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policy</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changes</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had</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significant</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impacts</a:t>
            </a:r>
            <a:r>
              <a:rPr lang="en-US" sz="2000" spc="-60" dirty="0">
                <a:solidFill>
                  <a:schemeClr val="tx1"/>
                </a:solidFill>
                <a:effectLst/>
                <a:latin typeface="Inter"/>
                <a:ea typeface="Calibri" panose="020F0502020204030204" pitchFamily="34" charset="0"/>
              </a:rPr>
              <a:t> </a:t>
            </a:r>
            <a:r>
              <a:rPr lang="en-US" sz="2000" dirty="0">
                <a:solidFill>
                  <a:schemeClr val="tx1"/>
                </a:solidFill>
                <a:effectLst/>
                <a:latin typeface="Inter"/>
                <a:ea typeface="Calibri" panose="020F0502020204030204" pitchFamily="34" charset="0"/>
              </a:rPr>
              <a:t>on various industries, including Adobe. Here's how:</a:t>
            </a:r>
            <a:endParaRPr lang="en-IN" sz="2000" dirty="0">
              <a:solidFill>
                <a:schemeClr val="tx1"/>
              </a:solidFill>
              <a:effectLst/>
              <a:latin typeface="Inter"/>
              <a:ea typeface="Calibri" panose="020F0502020204030204" pitchFamily="34" charset="0"/>
            </a:endParaRPr>
          </a:p>
          <a:p>
            <a:pPr marL="0" lvl="0" indent="0" algn="just">
              <a:spcBef>
                <a:spcPts val="740"/>
              </a:spcBef>
              <a:buNone/>
              <a:tabLst>
                <a:tab pos="274955" algn="l"/>
              </a:tabLst>
            </a:pPr>
            <a:endParaRPr lang="en-US" sz="2000" kern="0" spc="0" dirty="0">
              <a:solidFill>
                <a:schemeClr val="tx1"/>
              </a:solidFill>
              <a:effectLst/>
              <a:latin typeface="Inter"/>
              <a:ea typeface="Calibri" panose="020F0502020204030204" pitchFamily="34" charset="0"/>
            </a:endParaRPr>
          </a:p>
          <a:p>
            <a:pPr lvl="0" algn="just">
              <a:spcBef>
                <a:spcPts val="740"/>
              </a:spcBef>
              <a:buFont typeface="Arial" panose="020B0604020202020204" pitchFamily="34" charset="0"/>
              <a:buChar char="•"/>
              <a:tabLst>
                <a:tab pos="274955" algn="l"/>
              </a:tabLst>
            </a:pPr>
            <a:r>
              <a:rPr lang="en-US" sz="2000" b="1" kern="0" spc="0" dirty="0">
                <a:solidFill>
                  <a:srgbClr val="FFFF00"/>
                </a:solidFill>
                <a:effectLst/>
                <a:latin typeface="Inter"/>
                <a:ea typeface="Calibri" panose="020F0502020204030204" pitchFamily="34" charset="0"/>
              </a:rPr>
              <a:t>Fiscal</a:t>
            </a:r>
            <a:r>
              <a:rPr lang="en-US" sz="2000" b="1" kern="0" spc="-30" dirty="0">
                <a:solidFill>
                  <a:srgbClr val="FFFF00"/>
                </a:solidFill>
                <a:effectLst/>
                <a:latin typeface="Inter"/>
                <a:ea typeface="Calibri" panose="020F0502020204030204" pitchFamily="34" charset="0"/>
              </a:rPr>
              <a:t> </a:t>
            </a:r>
            <a:r>
              <a:rPr lang="en-US" sz="2000" b="1" kern="0" spc="0" dirty="0">
                <a:solidFill>
                  <a:srgbClr val="FFFF00"/>
                </a:solidFill>
                <a:effectLst/>
                <a:latin typeface="Inter"/>
                <a:ea typeface="Calibri" panose="020F0502020204030204" pitchFamily="34" charset="0"/>
              </a:rPr>
              <a:t>Policy</a:t>
            </a:r>
            <a:r>
              <a:rPr lang="en-US" sz="2000" b="1" kern="0" spc="-35" dirty="0">
                <a:solidFill>
                  <a:srgbClr val="FFFF00"/>
                </a:solidFill>
                <a:effectLst/>
                <a:latin typeface="Inter"/>
                <a:ea typeface="Calibri" panose="020F0502020204030204" pitchFamily="34" charset="0"/>
              </a:rPr>
              <a:t> </a:t>
            </a:r>
            <a:r>
              <a:rPr lang="en-US" sz="2000" b="1" kern="0" spc="-10" dirty="0">
                <a:solidFill>
                  <a:srgbClr val="FFFF00"/>
                </a:solidFill>
                <a:effectLst/>
                <a:latin typeface="Inter"/>
                <a:ea typeface="Calibri" panose="020F0502020204030204" pitchFamily="34" charset="0"/>
              </a:rPr>
              <a:t>Changes</a:t>
            </a:r>
            <a:endParaRPr lang="en-IN" sz="2000" b="1" kern="0" spc="0" dirty="0">
              <a:solidFill>
                <a:srgbClr val="FFFF00"/>
              </a:solidFill>
              <a:effectLst/>
              <a:latin typeface="Inter"/>
              <a:ea typeface="Calibri" panose="020F0502020204030204" pitchFamily="34" charset="0"/>
            </a:endParaRPr>
          </a:p>
          <a:p>
            <a:pPr marR="471170" lvl="1" algn="just">
              <a:lnSpc>
                <a:spcPct val="111000"/>
              </a:lnSpc>
              <a:spcBef>
                <a:spcPts val="925"/>
              </a:spcBef>
              <a:buSzPts val="1000"/>
              <a:buFont typeface="Wingdings" panose="05000000000000000000" pitchFamily="2" charset="2"/>
              <a:buChar char="Ø"/>
              <a:tabLst>
                <a:tab pos="763905" algn="l"/>
              </a:tabLst>
            </a:pPr>
            <a:r>
              <a:rPr lang="en-US" sz="2000" b="1" spc="0" dirty="0">
                <a:solidFill>
                  <a:srgbClr val="FFFF00"/>
                </a:solidFill>
                <a:effectLst/>
                <a:latin typeface="Inter"/>
                <a:ea typeface="Wingdings" panose="05000000000000000000" pitchFamily="2" charset="2"/>
                <a:cs typeface="Wingdings" panose="05000000000000000000" pitchFamily="2" charset="2"/>
              </a:rPr>
              <a:t>Government Stimulus Packages</a:t>
            </a:r>
            <a:r>
              <a:rPr lang="en-US" sz="2000" spc="0" dirty="0">
                <a:solidFill>
                  <a:srgbClr val="FFFF00"/>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Governments around the world, including the US, </a:t>
            </a:r>
            <a:r>
              <a:rPr lang="en-US" sz="2000" spc="-10" dirty="0">
                <a:solidFill>
                  <a:schemeClr val="tx1"/>
                </a:solidFill>
                <a:effectLst/>
                <a:latin typeface="Inter"/>
                <a:ea typeface="Wingdings" panose="05000000000000000000" pitchFamily="2" charset="2"/>
                <a:cs typeface="Wingdings" panose="05000000000000000000" pitchFamily="2" charset="2"/>
              </a:rPr>
              <a:t>implemented stimulus packages to support businesses and individuals. These packages </a:t>
            </a:r>
            <a:r>
              <a:rPr lang="en-US" sz="2000" spc="0" dirty="0">
                <a:solidFill>
                  <a:schemeClr val="tx1"/>
                </a:solidFill>
                <a:effectLst/>
                <a:latin typeface="Inter"/>
                <a:ea typeface="Wingdings" panose="05000000000000000000" pitchFamily="2" charset="2"/>
                <a:cs typeface="Wingdings" panose="05000000000000000000" pitchFamily="2" charset="2"/>
              </a:rPr>
              <a:t>provided</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financial</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relief</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to</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companies,</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helping</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them</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navigate</a:t>
            </a:r>
            <a:r>
              <a:rPr lang="en-US" sz="2000" spc="-55"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the</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economic</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downturn.</a:t>
            </a:r>
            <a:endParaRPr lang="en-IN" sz="2000" spc="0" dirty="0">
              <a:solidFill>
                <a:schemeClr val="tx1"/>
              </a:solidFill>
              <a:effectLst/>
              <a:latin typeface="Inter"/>
              <a:ea typeface="Wingdings" panose="05000000000000000000" pitchFamily="2" charset="2"/>
              <a:cs typeface="Wingdings" panose="05000000000000000000" pitchFamily="2" charset="2"/>
            </a:endParaRPr>
          </a:p>
          <a:p>
            <a:pPr marR="264795" lvl="1" algn="just">
              <a:lnSpc>
                <a:spcPct val="111000"/>
              </a:lnSpc>
              <a:buSzPts val="1000"/>
              <a:buFont typeface="Wingdings" panose="05000000000000000000" pitchFamily="2" charset="2"/>
              <a:buChar char="Ø"/>
              <a:tabLst>
                <a:tab pos="763905" algn="l"/>
              </a:tabLst>
            </a:pPr>
            <a:r>
              <a:rPr lang="en-US" sz="2000" b="1" spc="0" dirty="0">
                <a:solidFill>
                  <a:srgbClr val="FFFF00"/>
                </a:solidFill>
                <a:effectLst/>
                <a:latin typeface="Inter"/>
                <a:ea typeface="Wingdings" panose="05000000000000000000" pitchFamily="2" charset="2"/>
                <a:cs typeface="Wingdings" panose="05000000000000000000" pitchFamily="2" charset="2"/>
              </a:rPr>
              <a:t>Tax</a:t>
            </a:r>
            <a:r>
              <a:rPr lang="en-US" sz="2000" b="1" spc="-60" dirty="0">
                <a:solidFill>
                  <a:srgbClr val="FFFF00"/>
                </a:solidFill>
                <a:effectLst/>
                <a:latin typeface="Inter"/>
                <a:ea typeface="Wingdings" panose="05000000000000000000" pitchFamily="2" charset="2"/>
                <a:cs typeface="Wingdings" panose="05000000000000000000" pitchFamily="2" charset="2"/>
              </a:rPr>
              <a:t> </a:t>
            </a:r>
            <a:r>
              <a:rPr lang="en-US" sz="2000" b="1" spc="0" dirty="0">
                <a:solidFill>
                  <a:srgbClr val="FFFF00"/>
                </a:solidFill>
                <a:effectLst/>
                <a:latin typeface="Inter"/>
                <a:ea typeface="Wingdings" panose="05000000000000000000" pitchFamily="2" charset="2"/>
                <a:cs typeface="Wingdings" panose="05000000000000000000" pitchFamily="2" charset="2"/>
              </a:rPr>
              <a:t>Relief</a:t>
            </a:r>
            <a:r>
              <a:rPr lang="en-US" sz="2000" b="1" spc="-60" dirty="0">
                <a:solidFill>
                  <a:srgbClr val="FFFF00"/>
                </a:solidFill>
                <a:effectLst/>
                <a:latin typeface="Inter"/>
                <a:ea typeface="Wingdings" panose="05000000000000000000" pitchFamily="2" charset="2"/>
                <a:cs typeface="Wingdings" panose="05000000000000000000" pitchFamily="2" charset="2"/>
              </a:rPr>
              <a:t> </a:t>
            </a:r>
            <a:r>
              <a:rPr lang="en-US" sz="2000" b="1" spc="0" dirty="0">
                <a:solidFill>
                  <a:srgbClr val="FFFF00"/>
                </a:solidFill>
                <a:effectLst/>
                <a:latin typeface="Inter"/>
                <a:ea typeface="Wingdings" panose="05000000000000000000" pitchFamily="2" charset="2"/>
                <a:cs typeface="Wingdings" panose="05000000000000000000" pitchFamily="2" charset="2"/>
              </a:rPr>
              <a:t>and</a:t>
            </a:r>
            <a:r>
              <a:rPr lang="en-US" sz="2000" b="1" spc="-60" dirty="0">
                <a:solidFill>
                  <a:srgbClr val="FFFF00"/>
                </a:solidFill>
                <a:effectLst/>
                <a:latin typeface="Inter"/>
                <a:ea typeface="Wingdings" panose="05000000000000000000" pitchFamily="2" charset="2"/>
                <a:cs typeface="Wingdings" panose="05000000000000000000" pitchFamily="2" charset="2"/>
              </a:rPr>
              <a:t> </a:t>
            </a:r>
            <a:r>
              <a:rPr lang="en-US" sz="2000" b="1" spc="0" dirty="0">
                <a:solidFill>
                  <a:srgbClr val="FFFF00"/>
                </a:solidFill>
                <a:effectLst/>
                <a:latin typeface="Inter"/>
                <a:ea typeface="Wingdings" panose="05000000000000000000" pitchFamily="2" charset="2"/>
                <a:cs typeface="Wingdings" panose="05000000000000000000" pitchFamily="2" charset="2"/>
              </a:rPr>
              <a:t>Deferrals</a:t>
            </a:r>
            <a:r>
              <a:rPr lang="en-US" sz="2000" spc="0" dirty="0">
                <a:solidFill>
                  <a:srgbClr val="FFFF00"/>
                </a:solidFill>
                <a:effectLst/>
                <a:latin typeface="Inter"/>
                <a:ea typeface="Wingdings" panose="05000000000000000000" pitchFamily="2" charset="2"/>
                <a:cs typeface="Wingdings" panose="05000000000000000000" pitchFamily="2" charset="2"/>
              </a:rPr>
              <a:t>:</a:t>
            </a:r>
            <a:r>
              <a:rPr lang="en-US" sz="2000" spc="-60" dirty="0">
                <a:solidFill>
                  <a:srgbClr val="FFFF00"/>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Many</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governments</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offered</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tax</a:t>
            </a:r>
            <a:r>
              <a:rPr lang="en-US" sz="2000" spc="-55"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relief</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and</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deferrals</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to</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businesses, reducing their</a:t>
            </a:r>
            <a:r>
              <a:rPr lang="en-US" sz="2000" spc="-5"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financial burden</a:t>
            </a:r>
            <a:r>
              <a:rPr lang="en-US" sz="2000" spc="-5"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and</a:t>
            </a:r>
            <a:r>
              <a:rPr lang="en-US" sz="2000" spc="-1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allowing them</a:t>
            </a:r>
            <a:r>
              <a:rPr lang="en-US" sz="2000" spc="-5"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to allocate resources more</a:t>
            </a:r>
            <a:r>
              <a:rPr lang="en-US" sz="2000" spc="-15"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effectively.</a:t>
            </a:r>
            <a:endParaRPr lang="en-IN" sz="2000" spc="0" dirty="0">
              <a:solidFill>
                <a:schemeClr val="tx1"/>
              </a:solidFill>
              <a:effectLst/>
              <a:latin typeface="Inter"/>
              <a:ea typeface="Wingdings" panose="05000000000000000000" pitchFamily="2" charset="2"/>
              <a:cs typeface="Wingdings" panose="05000000000000000000" pitchFamily="2" charset="2"/>
            </a:endParaRPr>
          </a:p>
          <a:p>
            <a:endParaRPr lang="en-IN" dirty="0"/>
          </a:p>
        </p:txBody>
      </p:sp>
    </p:spTree>
    <p:extLst>
      <p:ext uri="{BB962C8B-B14F-4D97-AF65-F5344CB8AC3E}">
        <p14:creationId xmlns:p14="http://schemas.microsoft.com/office/powerpoint/2010/main" val="29864568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699D42-5AB2-92F6-5CEE-027DF9DE9497}"/>
              </a:ext>
            </a:extLst>
          </p:cNvPr>
          <p:cNvSpPr>
            <a:spLocks noGrp="1"/>
          </p:cNvSpPr>
          <p:nvPr>
            <p:ph idx="1"/>
          </p:nvPr>
        </p:nvSpPr>
        <p:spPr>
          <a:xfrm>
            <a:off x="677334" y="1150374"/>
            <a:ext cx="8596668" cy="4890988"/>
          </a:xfrm>
        </p:spPr>
        <p:txBody>
          <a:bodyPr/>
          <a:lstStyle/>
          <a:p>
            <a:pPr lvl="0" algn="just">
              <a:spcBef>
                <a:spcPts val="715"/>
              </a:spcBef>
              <a:buFont typeface="Arial" panose="020B0604020202020204" pitchFamily="34" charset="0"/>
              <a:buChar char="•"/>
              <a:tabLst>
                <a:tab pos="241300" algn="l"/>
              </a:tabLst>
            </a:pPr>
            <a:r>
              <a:rPr lang="en-US" sz="2000" b="1" spc="0" dirty="0">
                <a:solidFill>
                  <a:srgbClr val="FFFF00"/>
                </a:solidFill>
                <a:effectLst/>
                <a:latin typeface="Inter"/>
                <a:ea typeface="Calibri" panose="020F0502020204030204" pitchFamily="34" charset="0"/>
              </a:rPr>
              <a:t>Monetary</a:t>
            </a:r>
            <a:r>
              <a:rPr lang="en-US" sz="2000" b="1" spc="40" dirty="0">
                <a:solidFill>
                  <a:srgbClr val="FFFF00"/>
                </a:solidFill>
                <a:effectLst/>
                <a:latin typeface="Inter"/>
                <a:ea typeface="Calibri" panose="020F0502020204030204" pitchFamily="34" charset="0"/>
              </a:rPr>
              <a:t> </a:t>
            </a:r>
            <a:r>
              <a:rPr lang="en-US" sz="2000" b="1" spc="0" dirty="0">
                <a:solidFill>
                  <a:srgbClr val="FFFF00"/>
                </a:solidFill>
                <a:effectLst/>
                <a:latin typeface="Inter"/>
                <a:ea typeface="Calibri" panose="020F0502020204030204" pitchFamily="34" charset="0"/>
              </a:rPr>
              <a:t>Policy</a:t>
            </a:r>
            <a:r>
              <a:rPr lang="en-US" sz="2000" b="1" spc="20" dirty="0">
                <a:solidFill>
                  <a:srgbClr val="FFFF00"/>
                </a:solidFill>
                <a:effectLst/>
                <a:latin typeface="Inter"/>
                <a:ea typeface="Calibri" panose="020F0502020204030204" pitchFamily="34" charset="0"/>
              </a:rPr>
              <a:t> </a:t>
            </a:r>
            <a:r>
              <a:rPr lang="en-US" sz="2000" b="1" spc="-10" dirty="0">
                <a:solidFill>
                  <a:srgbClr val="FFFF00"/>
                </a:solidFill>
                <a:effectLst/>
                <a:latin typeface="Inter"/>
                <a:ea typeface="Calibri" panose="020F0502020204030204" pitchFamily="34" charset="0"/>
              </a:rPr>
              <a:t>Changes</a:t>
            </a:r>
            <a:endParaRPr lang="en-IN" sz="2000" spc="0" dirty="0">
              <a:solidFill>
                <a:srgbClr val="FFFF00"/>
              </a:solidFill>
              <a:effectLst/>
              <a:latin typeface="Inter"/>
              <a:ea typeface="Calibri" panose="020F0502020204030204" pitchFamily="34" charset="0"/>
            </a:endParaRPr>
          </a:p>
          <a:p>
            <a:pPr marR="139700" lvl="1" algn="just">
              <a:lnSpc>
                <a:spcPct val="110000"/>
              </a:lnSpc>
              <a:spcBef>
                <a:spcPts val="920"/>
              </a:spcBef>
              <a:buSzPts val="1000"/>
              <a:buFont typeface="Wingdings" panose="05000000000000000000" pitchFamily="2" charset="2"/>
              <a:buChar char="Ø"/>
              <a:tabLst>
                <a:tab pos="763905" algn="l"/>
              </a:tabLst>
            </a:pPr>
            <a:r>
              <a:rPr lang="en-US" sz="2000" b="1" spc="0" dirty="0">
                <a:solidFill>
                  <a:srgbClr val="FFFF00"/>
                </a:solidFill>
                <a:effectLst/>
                <a:latin typeface="Inter"/>
                <a:ea typeface="Wingdings" panose="05000000000000000000" pitchFamily="2" charset="2"/>
                <a:cs typeface="Wingdings" panose="05000000000000000000" pitchFamily="2" charset="2"/>
              </a:rPr>
              <a:t>Interest</a:t>
            </a:r>
            <a:r>
              <a:rPr lang="en-US" sz="2000" b="1" spc="-60" dirty="0">
                <a:solidFill>
                  <a:srgbClr val="FFFF00"/>
                </a:solidFill>
                <a:effectLst/>
                <a:latin typeface="Inter"/>
                <a:ea typeface="Wingdings" panose="05000000000000000000" pitchFamily="2" charset="2"/>
                <a:cs typeface="Wingdings" panose="05000000000000000000" pitchFamily="2" charset="2"/>
              </a:rPr>
              <a:t> </a:t>
            </a:r>
            <a:r>
              <a:rPr lang="en-US" sz="2000" b="1" spc="0" dirty="0">
                <a:solidFill>
                  <a:srgbClr val="FFFF00"/>
                </a:solidFill>
                <a:effectLst/>
                <a:latin typeface="Inter"/>
                <a:ea typeface="Wingdings" panose="05000000000000000000" pitchFamily="2" charset="2"/>
                <a:cs typeface="Wingdings" panose="05000000000000000000" pitchFamily="2" charset="2"/>
              </a:rPr>
              <a:t>Rate</a:t>
            </a:r>
            <a:r>
              <a:rPr lang="en-US" sz="2000" b="1" spc="-60" dirty="0">
                <a:solidFill>
                  <a:srgbClr val="FFFF00"/>
                </a:solidFill>
                <a:effectLst/>
                <a:latin typeface="Inter"/>
                <a:ea typeface="Wingdings" panose="05000000000000000000" pitchFamily="2" charset="2"/>
                <a:cs typeface="Wingdings" panose="05000000000000000000" pitchFamily="2" charset="2"/>
              </a:rPr>
              <a:t> </a:t>
            </a:r>
            <a:r>
              <a:rPr lang="en-US" sz="2000" b="1" spc="0" dirty="0">
                <a:solidFill>
                  <a:srgbClr val="FFFF00"/>
                </a:solidFill>
                <a:effectLst/>
                <a:latin typeface="Inter"/>
                <a:ea typeface="Wingdings" panose="05000000000000000000" pitchFamily="2" charset="2"/>
                <a:cs typeface="Wingdings" panose="05000000000000000000" pitchFamily="2" charset="2"/>
              </a:rPr>
              <a:t>Cuts</a:t>
            </a:r>
            <a:r>
              <a:rPr lang="en-US" sz="2000" spc="0" dirty="0">
                <a:solidFill>
                  <a:srgbClr val="FFFF00"/>
                </a:solidFill>
                <a:effectLst/>
                <a:latin typeface="Inter"/>
                <a:ea typeface="Wingdings" panose="05000000000000000000" pitchFamily="2" charset="2"/>
                <a:cs typeface="Wingdings" panose="05000000000000000000" pitchFamily="2" charset="2"/>
              </a:rPr>
              <a:t>:</a:t>
            </a:r>
            <a:r>
              <a:rPr lang="en-US" sz="2000" spc="-60" dirty="0">
                <a:solidFill>
                  <a:srgbClr val="FFFF00"/>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The</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Federal</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Reserve</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cut</a:t>
            </a:r>
            <a:r>
              <a:rPr lang="en-US" sz="2000" spc="-55"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interest</a:t>
            </a:r>
            <a:r>
              <a:rPr lang="en-US" sz="2000" spc="-5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rates</a:t>
            </a:r>
            <a:r>
              <a:rPr lang="en-US" sz="2000" spc="-5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to</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near</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zero</a:t>
            </a:r>
            <a:r>
              <a:rPr lang="en-US" sz="2000" spc="-55"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to</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stimulate</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economic activity. This made borrowing cheaper for businesses, including Adobe, allowing them to invest in new projects and technologies.</a:t>
            </a:r>
          </a:p>
          <a:p>
            <a:pPr marR="139700" lvl="1" algn="just">
              <a:lnSpc>
                <a:spcPct val="110000"/>
              </a:lnSpc>
              <a:spcBef>
                <a:spcPts val="920"/>
              </a:spcBef>
              <a:buSzPts val="1000"/>
              <a:buFont typeface="Wingdings" panose="05000000000000000000" pitchFamily="2" charset="2"/>
              <a:buChar char="Ø"/>
              <a:tabLst>
                <a:tab pos="763905" algn="l"/>
              </a:tabLst>
            </a:pPr>
            <a:endParaRPr lang="en-IN" sz="2000" spc="0" dirty="0">
              <a:solidFill>
                <a:schemeClr val="tx1"/>
              </a:solidFill>
              <a:effectLst/>
              <a:latin typeface="Inter"/>
              <a:ea typeface="Wingdings" panose="05000000000000000000" pitchFamily="2" charset="2"/>
              <a:cs typeface="Wingdings" panose="05000000000000000000" pitchFamily="2" charset="2"/>
            </a:endParaRPr>
          </a:p>
          <a:p>
            <a:pPr marR="110490" lvl="1" algn="just">
              <a:lnSpc>
                <a:spcPct val="111000"/>
              </a:lnSpc>
              <a:spcBef>
                <a:spcPts val="15"/>
              </a:spcBef>
              <a:buSzPts val="1000"/>
              <a:buFont typeface="Wingdings" panose="05000000000000000000" pitchFamily="2" charset="2"/>
              <a:buChar char="Ø"/>
              <a:tabLst>
                <a:tab pos="763905" algn="l"/>
              </a:tabLst>
            </a:pPr>
            <a:r>
              <a:rPr lang="en-US" sz="2000" b="1" spc="0" dirty="0">
                <a:solidFill>
                  <a:srgbClr val="FFFF00"/>
                </a:solidFill>
                <a:effectLst/>
                <a:latin typeface="Inter"/>
                <a:ea typeface="Wingdings" panose="05000000000000000000" pitchFamily="2" charset="2"/>
                <a:cs typeface="Wingdings" panose="05000000000000000000" pitchFamily="2" charset="2"/>
              </a:rPr>
              <a:t>Emergency Lending Programs</a:t>
            </a:r>
            <a:r>
              <a:rPr lang="en-US" sz="2000" spc="0" dirty="0">
                <a:solidFill>
                  <a:srgbClr val="FFFF00"/>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The Fed introduced emergency</a:t>
            </a:r>
            <a:r>
              <a:rPr lang="en-US" sz="2000" spc="-5"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lending programs to provide liquidity</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to</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businesses</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and</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financial</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markets.</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This</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helped</a:t>
            </a:r>
            <a:r>
              <a:rPr lang="en-US" sz="2000" spc="-55"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companies</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like</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Adobe</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maintain</a:t>
            </a:r>
            <a:r>
              <a:rPr lang="en-US" sz="2000" spc="-60" dirty="0">
                <a:solidFill>
                  <a:schemeClr val="tx1"/>
                </a:solidFill>
                <a:effectLst/>
                <a:latin typeface="Inter"/>
                <a:ea typeface="Wingdings" panose="05000000000000000000" pitchFamily="2" charset="2"/>
                <a:cs typeface="Wingdings" panose="05000000000000000000" pitchFamily="2" charset="2"/>
              </a:rPr>
              <a:t> </a:t>
            </a:r>
            <a:r>
              <a:rPr lang="en-US" sz="2000" spc="0" dirty="0">
                <a:solidFill>
                  <a:schemeClr val="tx1"/>
                </a:solidFill>
                <a:effectLst/>
                <a:latin typeface="Inter"/>
                <a:ea typeface="Wingdings" panose="05000000000000000000" pitchFamily="2" charset="2"/>
                <a:cs typeface="Wingdings" panose="05000000000000000000" pitchFamily="2" charset="2"/>
              </a:rPr>
              <a:t>cash flow and continue operations during the economic uncertainty.</a:t>
            </a:r>
            <a:endParaRPr lang="en-IN" sz="2000" spc="0" dirty="0">
              <a:solidFill>
                <a:schemeClr val="tx1"/>
              </a:solidFill>
              <a:effectLst/>
              <a:latin typeface="Inter"/>
              <a:ea typeface="Wingdings" panose="05000000000000000000" pitchFamily="2" charset="2"/>
              <a:cs typeface="Wingdings" panose="05000000000000000000" pitchFamily="2" charset="2"/>
            </a:endParaRPr>
          </a:p>
          <a:p>
            <a:endParaRPr lang="en-IN" dirty="0"/>
          </a:p>
        </p:txBody>
      </p:sp>
    </p:spTree>
    <p:extLst>
      <p:ext uri="{BB962C8B-B14F-4D97-AF65-F5344CB8AC3E}">
        <p14:creationId xmlns:p14="http://schemas.microsoft.com/office/powerpoint/2010/main" val="19920024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9BBF0-BCFE-00D8-0870-0587D720BDA0}"/>
              </a:ext>
            </a:extLst>
          </p:cNvPr>
          <p:cNvSpPr>
            <a:spLocks noGrp="1"/>
          </p:cNvSpPr>
          <p:nvPr>
            <p:ph type="title"/>
          </p:nvPr>
        </p:nvSpPr>
        <p:spPr/>
        <p:txBody>
          <a:bodyPr/>
          <a:lstStyle/>
          <a:p>
            <a:r>
              <a:rPr lang="en-US" u="sng" dirty="0">
                <a:solidFill>
                  <a:srgbClr val="00FFFF"/>
                </a:solidFill>
                <a:effectLst/>
                <a:ea typeface="Calibri" panose="020F0502020204030204" pitchFamily="34" charset="0"/>
              </a:rPr>
              <a:t>Impact</a:t>
            </a:r>
            <a:r>
              <a:rPr lang="en-US" u="sng" spc="-35" dirty="0">
                <a:solidFill>
                  <a:srgbClr val="00FFFF"/>
                </a:solidFill>
                <a:effectLst/>
                <a:ea typeface="Calibri" panose="020F0502020204030204" pitchFamily="34" charset="0"/>
              </a:rPr>
              <a:t> </a:t>
            </a:r>
            <a:r>
              <a:rPr lang="en-US" u="sng" dirty="0">
                <a:solidFill>
                  <a:srgbClr val="00FFFF"/>
                </a:solidFill>
                <a:effectLst/>
                <a:ea typeface="Calibri" panose="020F0502020204030204" pitchFamily="34" charset="0"/>
              </a:rPr>
              <a:t>on</a:t>
            </a:r>
            <a:r>
              <a:rPr lang="en-US" u="sng" spc="-35" dirty="0">
                <a:solidFill>
                  <a:srgbClr val="00FFFF"/>
                </a:solidFill>
                <a:effectLst/>
                <a:ea typeface="Calibri" panose="020F0502020204030204" pitchFamily="34" charset="0"/>
              </a:rPr>
              <a:t> </a:t>
            </a:r>
            <a:r>
              <a:rPr lang="en-US" u="sng" spc="-20" dirty="0">
                <a:solidFill>
                  <a:srgbClr val="00FFFF"/>
                </a:solidFill>
                <a:effectLst/>
                <a:ea typeface="Calibri" panose="020F0502020204030204" pitchFamily="34" charset="0"/>
              </a:rPr>
              <a:t>Adobe</a:t>
            </a:r>
            <a:br>
              <a:rPr lang="en-IN" sz="1800" dirty="0">
                <a:effectLst/>
                <a:latin typeface="Calibri" panose="020F0502020204030204" pitchFamily="34" charset="0"/>
                <a:ea typeface="Calibri" panose="020F0502020204030204" pitchFamily="34" charset="0"/>
              </a:rPr>
            </a:br>
            <a:endParaRPr lang="en-IN" dirty="0"/>
          </a:p>
        </p:txBody>
      </p:sp>
      <p:sp>
        <p:nvSpPr>
          <p:cNvPr id="3" name="Content Placeholder 2">
            <a:extLst>
              <a:ext uri="{FF2B5EF4-FFF2-40B4-BE49-F238E27FC236}">
                <a16:creationId xmlns:a16="http://schemas.microsoft.com/office/drawing/2014/main" id="{B7878984-76FB-881C-38AB-FB9885657F09}"/>
              </a:ext>
            </a:extLst>
          </p:cNvPr>
          <p:cNvSpPr>
            <a:spLocks noGrp="1"/>
          </p:cNvSpPr>
          <p:nvPr>
            <p:ph idx="1"/>
          </p:nvPr>
        </p:nvSpPr>
        <p:spPr>
          <a:xfrm>
            <a:off x="677334" y="1612491"/>
            <a:ext cx="8596668" cy="4837470"/>
          </a:xfrm>
        </p:spPr>
        <p:txBody>
          <a:bodyPr>
            <a:normAutofit fontScale="92500"/>
          </a:bodyPr>
          <a:lstStyle/>
          <a:p>
            <a:pPr marR="133985" lvl="0" algn="just">
              <a:lnSpc>
                <a:spcPct val="110000"/>
              </a:lnSpc>
              <a:spcBef>
                <a:spcPts val="925"/>
              </a:spcBef>
              <a:buSzPts val="1000"/>
              <a:buFont typeface="Wingdings" panose="05000000000000000000" pitchFamily="2" charset="2"/>
              <a:buChar char="Ø"/>
              <a:tabLst>
                <a:tab pos="279400" algn="l"/>
                <a:tab pos="334010" algn="l"/>
              </a:tabLst>
            </a:pPr>
            <a:r>
              <a:rPr lang="en-US" sz="2200" b="1" spc="0" dirty="0">
                <a:solidFill>
                  <a:srgbClr val="FFFF00"/>
                </a:solidFill>
                <a:effectLst/>
                <a:latin typeface="Inter"/>
                <a:ea typeface="Calibri" panose="020F0502020204030204" pitchFamily="34" charset="0"/>
              </a:rPr>
              <a:t>Increased Demand for Digital Solutions</a:t>
            </a:r>
            <a:r>
              <a:rPr lang="en-US" sz="2200" spc="0" dirty="0">
                <a:solidFill>
                  <a:srgbClr val="FFFF00"/>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The pandemic accelerated the shift towards remote work</a:t>
            </a:r>
            <a:r>
              <a:rPr lang="en-US" sz="2200" spc="200"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and</a:t>
            </a:r>
            <a:r>
              <a:rPr lang="en-US" sz="2200" spc="-10"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digital</a:t>
            </a:r>
            <a:r>
              <a:rPr lang="en-US" sz="2200" spc="-5"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solutions,</a:t>
            </a:r>
            <a:r>
              <a:rPr lang="en-US" sz="2200" spc="-5"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boosting demand for</a:t>
            </a:r>
            <a:r>
              <a:rPr lang="en-US" sz="2200" spc="-5"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Adobe's products like</a:t>
            </a:r>
            <a:r>
              <a:rPr lang="en-US" sz="2200" spc="-10"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Adobe</a:t>
            </a:r>
            <a:r>
              <a:rPr lang="en-US" sz="2200" spc="-10"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Creative</a:t>
            </a:r>
            <a:r>
              <a:rPr lang="en-US" sz="2200" spc="-5"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Cloud and Adobe </a:t>
            </a:r>
            <a:r>
              <a:rPr lang="en-US" sz="2200" spc="-10" dirty="0">
                <a:solidFill>
                  <a:schemeClr val="tx1"/>
                </a:solidFill>
                <a:effectLst/>
                <a:latin typeface="Inter"/>
                <a:ea typeface="Calibri" panose="020F0502020204030204" pitchFamily="34" charset="0"/>
              </a:rPr>
              <a:t>Acrobat.</a:t>
            </a:r>
            <a:endParaRPr lang="en-IN" sz="2200" spc="0" dirty="0">
              <a:solidFill>
                <a:schemeClr val="tx1"/>
              </a:solidFill>
              <a:effectLst/>
              <a:latin typeface="Inter"/>
              <a:ea typeface="Calibri" panose="020F0502020204030204" pitchFamily="34" charset="0"/>
            </a:endParaRPr>
          </a:p>
          <a:p>
            <a:pPr marR="212090" lvl="0" algn="just">
              <a:lnSpc>
                <a:spcPct val="111000"/>
              </a:lnSpc>
              <a:buSzPts val="1000"/>
              <a:buFont typeface="Wingdings" panose="05000000000000000000" pitchFamily="2" charset="2"/>
              <a:buChar char="Ø"/>
              <a:tabLst>
                <a:tab pos="279400" algn="l"/>
                <a:tab pos="334010" algn="l"/>
              </a:tabLst>
            </a:pPr>
            <a:r>
              <a:rPr lang="en-US" sz="2200" b="1" spc="0" dirty="0">
                <a:solidFill>
                  <a:srgbClr val="FFFF00"/>
                </a:solidFill>
                <a:effectLst/>
                <a:latin typeface="Inter"/>
                <a:ea typeface="Calibri" panose="020F0502020204030204" pitchFamily="34" charset="0"/>
              </a:rPr>
              <a:t>Operational</a:t>
            </a:r>
            <a:r>
              <a:rPr lang="en-US" sz="2200" b="1" spc="-60" dirty="0">
                <a:solidFill>
                  <a:srgbClr val="FFFF00"/>
                </a:solidFill>
                <a:effectLst/>
                <a:latin typeface="Inter"/>
                <a:ea typeface="Calibri" panose="020F0502020204030204" pitchFamily="34" charset="0"/>
              </a:rPr>
              <a:t> </a:t>
            </a:r>
            <a:r>
              <a:rPr lang="en-US" sz="2200" b="1" spc="0" dirty="0">
                <a:solidFill>
                  <a:srgbClr val="FFFF00"/>
                </a:solidFill>
                <a:effectLst/>
                <a:latin typeface="Inter"/>
                <a:ea typeface="Calibri" panose="020F0502020204030204" pitchFamily="34" charset="0"/>
              </a:rPr>
              <a:t>Adjustments</a:t>
            </a:r>
            <a:r>
              <a:rPr lang="en-US" sz="2200" spc="0" dirty="0">
                <a:solidFill>
                  <a:srgbClr val="FFFF00"/>
                </a:solidFill>
                <a:effectLst/>
                <a:latin typeface="Inter"/>
                <a:ea typeface="Calibri" panose="020F0502020204030204" pitchFamily="34" charset="0"/>
              </a:rPr>
              <a:t>:</a:t>
            </a:r>
            <a:r>
              <a:rPr lang="en-US" sz="2200" spc="-55" dirty="0">
                <a:solidFill>
                  <a:srgbClr val="FFFF00"/>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Adobe</a:t>
            </a:r>
            <a:r>
              <a:rPr lang="en-US" sz="2200" spc="-55"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had</a:t>
            </a:r>
            <a:r>
              <a:rPr lang="en-US" sz="2200" spc="-55"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to</a:t>
            </a:r>
            <a:r>
              <a:rPr lang="en-US" sz="2200" spc="-40"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adapt</a:t>
            </a:r>
            <a:r>
              <a:rPr lang="en-US" sz="2200" spc="-55"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its</a:t>
            </a:r>
            <a:r>
              <a:rPr lang="en-US" sz="2200" spc="-50"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operations</a:t>
            </a:r>
            <a:r>
              <a:rPr lang="en-US" sz="2200" spc="-55"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to</a:t>
            </a:r>
            <a:r>
              <a:rPr lang="en-US" sz="2200" spc="-55"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comply</a:t>
            </a:r>
            <a:r>
              <a:rPr lang="en-US" sz="2200" spc="-55"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with</a:t>
            </a:r>
            <a:r>
              <a:rPr lang="en-US" sz="2200" spc="-45"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new</a:t>
            </a:r>
            <a:r>
              <a:rPr lang="en-US" sz="2200" spc="-40"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regulations</a:t>
            </a:r>
            <a:r>
              <a:rPr lang="en-US" sz="2200" spc="-55"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and support</a:t>
            </a:r>
            <a:r>
              <a:rPr lang="en-US" sz="2200" spc="-60"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remote</a:t>
            </a:r>
            <a:r>
              <a:rPr lang="en-US" sz="2200" spc="-60"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work</a:t>
            </a:r>
            <a:r>
              <a:rPr lang="en-US" sz="2200" spc="-60"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for</a:t>
            </a:r>
            <a:r>
              <a:rPr lang="en-US" sz="2200" spc="-60"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its</a:t>
            </a:r>
            <a:r>
              <a:rPr lang="en-US" sz="2200" spc="-60"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employees.</a:t>
            </a:r>
            <a:r>
              <a:rPr lang="en-US" sz="2200" spc="-60"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This</a:t>
            </a:r>
            <a:r>
              <a:rPr lang="en-US" sz="2200" spc="-60"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required</a:t>
            </a:r>
            <a:r>
              <a:rPr lang="en-US" sz="2200" spc="-55"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investments</a:t>
            </a:r>
            <a:r>
              <a:rPr lang="en-US" sz="2200" spc="-60"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in</a:t>
            </a:r>
            <a:r>
              <a:rPr lang="en-US" sz="2200" spc="-60"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technology</a:t>
            </a:r>
            <a:r>
              <a:rPr lang="en-US" sz="2200" spc="-60"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and</a:t>
            </a:r>
            <a:r>
              <a:rPr lang="en-US" sz="2200" spc="-60"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infrastructure.</a:t>
            </a:r>
            <a:endParaRPr lang="en-IN" sz="2200" spc="0" dirty="0">
              <a:solidFill>
                <a:schemeClr val="tx1"/>
              </a:solidFill>
              <a:effectLst/>
              <a:latin typeface="Inter"/>
              <a:ea typeface="Calibri" panose="020F0502020204030204" pitchFamily="34" charset="0"/>
            </a:endParaRPr>
          </a:p>
          <a:p>
            <a:pPr marR="465455" lvl="0" algn="just">
              <a:lnSpc>
                <a:spcPct val="110000"/>
              </a:lnSpc>
              <a:buSzPts val="1000"/>
              <a:buFont typeface="Wingdings" panose="05000000000000000000" pitchFamily="2" charset="2"/>
              <a:buChar char="Ø"/>
              <a:tabLst>
                <a:tab pos="279400" algn="l"/>
                <a:tab pos="334010" algn="l"/>
              </a:tabLst>
            </a:pPr>
            <a:r>
              <a:rPr lang="en-US" sz="2200" b="1" spc="0" dirty="0">
                <a:solidFill>
                  <a:srgbClr val="FFFF00"/>
                </a:solidFill>
                <a:effectLst/>
                <a:latin typeface="Inter"/>
                <a:ea typeface="Calibri" panose="020F0502020204030204" pitchFamily="34" charset="0"/>
              </a:rPr>
              <a:t>Financial</a:t>
            </a:r>
            <a:r>
              <a:rPr lang="en-US" sz="2200" b="1" spc="-25" dirty="0">
                <a:solidFill>
                  <a:srgbClr val="FFFF00"/>
                </a:solidFill>
                <a:effectLst/>
                <a:latin typeface="Inter"/>
                <a:ea typeface="Calibri" panose="020F0502020204030204" pitchFamily="34" charset="0"/>
              </a:rPr>
              <a:t> </a:t>
            </a:r>
            <a:r>
              <a:rPr lang="en-US" sz="2200" b="1" spc="0" dirty="0">
                <a:solidFill>
                  <a:srgbClr val="FFFF00"/>
                </a:solidFill>
                <a:effectLst/>
                <a:latin typeface="Inter"/>
                <a:ea typeface="Calibri" panose="020F0502020204030204" pitchFamily="34" charset="0"/>
              </a:rPr>
              <a:t>Resilience</a:t>
            </a:r>
            <a:r>
              <a:rPr lang="en-US" sz="2200" spc="0" dirty="0">
                <a:solidFill>
                  <a:srgbClr val="FFFF00"/>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The</a:t>
            </a:r>
            <a:r>
              <a:rPr lang="en-US" sz="2200" spc="-10"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combination</a:t>
            </a:r>
            <a:r>
              <a:rPr lang="en-US" sz="2200" spc="-10"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of monetary</a:t>
            </a:r>
            <a:r>
              <a:rPr lang="en-US" sz="2200" spc="-5"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and</a:t>
            </a:r>
            <a:r>
              <a:rPr lang="en-US" sz="2200" spc="-10"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fiscal</a:t>
            </a:r>
            <a:r>
              <a:rPr lang="en-US" sz="2200" spc="-15"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policy</a:t>
            </a:r>
            <a:r>
              <a:rPr lang="en-US" sz="2200" spc="-5"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measures</a:t>
            </a:r>
            <a:r>
              <a:rPr lang="en-US" sz="2200" spc="-5"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helped</a:t>
            </a:r>
            <a:r>
              <a:rPr lang="en-US" sz="2200" spc="-5" dirty="0">
                <a:solidFill>
                  <a:schemeClr val="tx1"/>
                </a:solidFill>
                <a:effectLst/>
                <a:latin typeface="Inter"/>
                <a:ea typeface="Calibri" panose="020F0502020204030204" pitchFamily="34" charset="0"/>
              </a:rPr>
              <a:t> </a:t>
            </a:r>
            <a:r>
              <a:rPr lang="en-US" sz="2200" spc="0" dirty="0">
                <a:solidFill>
                  <a:schemeClr val="tx1"/>
                </a:solidFill>
                <a:effectLst/>
                <a:latin typeface="Inter"/>
                <a:ea typeface="Calibri" panose="020F0502020204030204" pitchFamily="34" charset="0"/>
              </a:rPr>
              <a:t>Adobe </a:t>
            </a:r>
            <a:r>
              <a:rPr lang="en-US" sz="2200" spc="-10" dirty="0">
                <a:solidFill>
                  <a:schemeClr val="tx1"/>
                </a:solidFill>
                <a:effectLst/>
                <a:latin typeface="Inter"/>
                <a:ea typeface="Calibri" panose="020F0502020204030204" pitchFamily="34" charset="0"/>
              </a:rPr>
              <a:t>maintain financial stability and continue its</a:t>
            </a:r>
            <a:r>
              <a:rPr lang="en-US" sz="2200" spc="-15" dirty="0">
                <a:solidFill>
                  <a:schemeClr val="tx1"/>
                </a:solidFill>
                <a:effectLst/>
                <a:latin typeface="Inter"/>
                <a:ea typeface="Calibri" panose="020F0502020204030204" pitchFamily="34" charset="0"/>
              </a:rPr>
              <a:t> </a:t>
            </a:r>
            <a:r>
              <a:rPr lang="en-US" sz="2200" spc="-10" dirty="0">
                <a:solidFill>
                  <a:schemeClr val="tx1"/>
                </a:solidFill>
                <a:effectLst/>
                <a:latin typeface="Inter"/>
                <a:ea typeface="Calibri" panose="020F0502020204030204" pitchFamily="34" charset="0"/>
              </a:rPr>
              <a:t>growth trajectory despite the challenging economic environment.</a:t>
            </a:r>
          </a:p>
          <a:p>
            <a:pPr marL="342900" marR="465455" lvl="0" indent="-342900" algn="just">
              <a:lnSpc>
                <a:spcPct val="110000"/>
              </a:lnSpc>
              <a:buSzPts val="1000"/>
              <a:buFont typeface="Calibri" panose="020F0502020204030204" pitchFamily="34" charset="0"/>
              <a:buAutoNum type="arabicPeriod"/>
              <a:tabLst>
                <a:tab pos="279400" algn="l"/>
                <a:tab pos="334010" algn="l"/>
              </a:tabLst>
            </a:pPr>
            <a:endParaRPr lang="en-IN" sz="2200" spc="0" dirty="0">
              <a:solidFill>
                <a:schemeClr val="tx1"/>
              </a:solidFill>
              <a:effectLst/>
              <a:latin typeface="Inter"/>
              <a:ea typeface="Calibri" panose="020F0502020204030204" pitchFamily="34" charset="0"/>
            </a:endParaRPr>
          </a:p>
          <a:p>
            <a:pPr marL="0" indent="0" algn="just">
              <a:spcBef>
                <a:spcPts val="750"/>
              </a:spcBef>
              <a:buNone/>
            </a:pPr>
            <a:r>
              <a:rPr lang="en-US" sz="2200" spc="-10" dirty="0">
                <a:solidFill>
                  <a:schemeClr val="tx1"/>
                </a:solidFill>
                <a:effectLst/>
                <a:latin typeface="Inter"/>
                <a:ea typeface="Calibri" panose="020F0502020204030204" pitchFamily="34" charset="0"/>
              </a:rPr>
              <a:t>These</a:t>
            </a:r>
            <a:r>
              <a:rPr lang="en-US" sz="2200" spc="-15" dirty="0">
                <a:solidFill>
                  <a:schemeClr val="tx1"/>
                </a:solidFill>
                <a:effectLst/>
                <a:latin typeface="Inter"/>
                <a:ea typeface="Calibri" panose="020F0502020204030204" pitchFamily="34" charset="0"/>
              </a:rPr>
              <a:t> </a:t>
            </a:r>
            <a:r>
              <a:rPr lang="en-US" sz="2200" spc="-10" dirty="0">
                <a:solidFill>
                  <a:schemeClr val="tx1"/>
                </a:solidFill>
                <a:effectLst/>
                <a:latin typeface="Inter"/>
                <a:ea typeface="Calibri" panose="020F0502020204030204" pitchFamily="34" charset="0"/>
              </a:rPr>
              <a:t>policy</a:t>
            </a:r>
            <a:r>
              <a:rPr lang="en-US" sz="2200" spc="-5" dirty="0">
                <a:solidFill>
                  <a:schemeClr val="tx1"/>
                </a:solidFill>
                <a:effectLst/>
                <a:latin typeface="Inter"/>
                <a:ea typeface="Calibri" panose="020F0502020204030204" pitchFamily="34" charset="0"/>
              </a:rPr>
              <a:t> </a:t>
            </a:r>
            <a:r>
              <a:rPr lang="en-US" sz="2200" spc="-10" dirty="0">
                <a:solidFill>
                  <a:schemeClr val="tx1"/>
                </a:solidFill>
                <a:effectLst/>
                <a:latin typeface="Inter"/>
                <a:ea typeface="Calibri" panose="020F0502020204030204" pitchFamily="34" charset="0"/>
              </a:rPr>
              <a:t>changes</a:t>
            </a:r>
            <a:r>
              <a:rPr lang="en-US" sz="2200" spc="-20" dirty="0">
                <a:solidFill>
                  <a:schemeClr val="tx1"/>
                </a:solidFill>
                <a:effectLst/>
                <a:latin typeface="Inter"/>
                <a:ea typeface="Calibri" panose="020F0502020204030204" pitchFamily="34" charset="0"/>
              </a:rPr>
              <a:t> </a:t>
            </a:r>
            <a:r>
              <a:rPr lang="en-US" sz="2200" spc="-10" dirty="0">
                <a:solidFill>
                  <a:schemeClr val="tx1"/>
                </a:solidFill>
                <a:effectLst/>
                <a:latin typeface="Inter"/>
                <a:ea typeface="Calibri" panose="020F0502020204030204" pitchFamily="34" charset="0"/>
              </a:rPr>
              <a:t>played</a:t>
            </a:r>
            <a:r>
              <a:rPr lang="en-US" sz="2200" spc="-20" dirty="0">
                <a:solidFill>
                  <a:schemeClr val="tx1"/>
                </a:solidFill>
                <a:effectLst/>
                <a:latin typeface="Inter"/>
                <a:ea typeface="Calibri" panose="020F0502020204030204" pitchFamily="34" charset="0"/>
              </a:rPr>
              <a:t> </a:t>
            </a:r>
            <a:r>
              <a:rPr lang="en-US" sz="2200" spc="-10" dirty="0">
                <a:solidFill>
                  <a:schemeClr val="tx1"/>
                </a:solidFill>
                <a:effectLst/>
                <a:latin typeface="Inter"/>
                <a:ea typeface="Calibri" panose="020F0502020204030204" pitchFamily="34" charset="0"/>
              </a:rPr>
              <a:t>a</a:t>
            </a:r>
            <a:r>
              <a:rPr lang="en-US" sz="2200" spc="-15" dirty="0">
                <a:solidFill>
                  <a:schemeClr val="tx1"/>
                </a:solidFill>
                <a:effectLst/>
                <a:latin typeface="Inter"/>
                <a:ea typeface="Calibri" panose="020F0502020204030204" pitchFamily="34" charset="0"/>
              </a:rPr>
              <a:t> </a:t>
            </a:r>
            <a:r>
              <a:rPr lang="en-US" sz="2200" spc="-10" dirty="0">
                <a:solidFill>
                  <a:schemeClr val="tx1"/>
                </a:solidFill>
                <a:effectLst/>
                <a:latin typeface="Inter"/>
                <a:ea typeface="Calibri" panose="020F0502020204030204" pitchFamily="34" charset="0"/>
              </a:rPr>
              <a:t>crucial</a:t>
            </a:r>
            <a:r>
              <a:rPr lang="en-US" sz="2200" spc="-20" dirty="0">
                <a:solidFill>
                  <a:schemeClr val="tx1"/>
                </a:solidFill>
                <a:effectLst/>
                <a:latin typeface="Inter"/>
                <a:ea typeface="Calibri" panose="020F0502020204030204" pitchFamily="34" charset="0"/>
              </a:rPr>
              <a:t> </a:t>
            </a:r>
            <a:r>
              <a:rPr lang="en-US" sz="2200" spc="-10" dirty="0">
                <a:solidFill>
                  <a:schemeClr val="tx1"/>
                </a:solidFill>
                <a:effectLst/>
                <a:latin typeface="Inter"/>
                <a:ea typeface="Calibri" panose="020F0502020204030204" pitchFamily="34" charset="0"/>
              </a:rPr>
              <a:t>role</a:t>
            </a:r>
            <a:r>
              <a:rPr lang="en-US" sz="2200" spc="-15" dirty="0">
                <a:solidFill>
                  <a:schemeClr val="tx1"/>
                </a:solidFill>
                <a:effectLst/>
                <a:latin typeface="Inter"/>
                <a:ea typeface="Calibri" panose="020F0502020204030204" pitchFamily="34" charset="0"/>
              </a:rPr>
              <a:t> </a:t>
            </a:r>
            <a:r>
              <a:rPr lang="en-US" sz="2200" spc="-10" dirty="0">
                <a:solidFill>
                  <a:schemeClr val="tx1"/>
                </a:solidFill>
                <a:effectLst/>
                <a:latin typeface="Inter"/>
                <a:ea typeface="Calibri" panose="020F0502020204030204" pitchFamily="34" charset="0"/>
              </a:rPr>
              <a:t>in</a:t>
            </a:r>
            <a:r>
              <a:rPr lang="en-US" sz="2200" spc="-15" dirty="0">
                <a:solidFill>
                  <a:schemeClr val="tx1"/>
                </a:solidFill>
                <a:effectLst/>
                <a:latin typeface="Inter"/>
                <a:ea typeface="Calibri" panose="020F0502020204030204" pitchFamily="34" charset="0"/>
              </a:rPr>
              <a:t> </a:t>
            </a:r>
            <a:r>
              <a:rPr lang="en-US" sz="2200" spc="-10" dirty="0">
                <a:solidFill>
                  <a:schemeClr val="tx1"/>
                </a:solidFill>
                <a:effectLst/>
                <a:latin typeface="Inter"/>
                <a:ea typeface="Calibri" panose="020F0502020204030204" pitchFamily="34" charset="0"/>
              </a:rPr>
              <a:t>helping</a:t>
            </a:r>
            <a:r>
              <a:rPr lang="en-US" sz="2200" spc="-20" dirty="0">
                <a:solidFill>
                  <a:schemeClr val="tx1"/>
                </a:solidFill>
                <a:effectLst/>
                <a:latin typeface="Inter"/>
                <a:ea typeface="Calibri" panose="020F0502020204030204" pitchFamily="34" charset="0"/>
              </a:rPr>
              <a:t> </a:t>
            </a:r>
            <a:r>
              <a:rPr lang="en-US" sz="2200" spc="-10" dirty="0">
                <a:solidFill>
                  <a:schemeClr val="tx1"/>
                </a:solidFill>
                <a:effectLst/>
                <a:latin typeface="Inter"/>
                <a:ea typeface="Calibri" panose="020F0502020204030204" pitchFamily="34" charset="0"/>
              </a:rPr>
              <a:t>Adobe</a:t>
            </a:r>
            <a:r>
              <a:rPr lang="en-US" sz="2200" dirty="0">
                <a:solidFill>
                  <a:schemeClr val="tx1"/>
                </a:solidFill>
                <a:effectLst/>
                <a:latin typeface="Inter"/>
                <a:ea typeface="Calibri" panose="020F0502020204030204" pitchFamily="34" charset="0"/>
              </a:rPr>
              <a:t> </a:t>
            </a:r>
            <a:r>
              <a:rPr lang="en-US" sz="2200" spc="-10" dirty="0">
                <a:solidFill>
                  <a:schemeClr val="tx1"/>
                </a:solidFill>
                <a:effectLst/>
                <a:latin typeface="Inter"/>
                <a:ea typeface="Calibri" panose="020F0502020204030204" pitchFamily="34" charset="0"/>
              </a:rPr>
              <a:t>navigate</a:t>
            </a:r>
            <a:r>
              <a:rPr lang="en-US" sz="2200" spc="-15" dirty="0">
                <a:solidFill>
                  <a:schemeClr val="tx1"/>
                </a:solidFill>
                <a:effectLst/>
                <a:latin typeface="Inter"/>
                <a:ea typeface="Calibri" panose="020F0502020204030204" pitchFamily="34" charset="0"/>
              </a:rPr>
              <a:t> </a:t>
            </a:r>
            <a:r>
              <a:rPr lang="en-US" sz="2200" spc="-10" dirty="0">
                <a:solidFill>
                  <a:schemeClr val="tx1"/>
                </a:solidFill>
                <a:effectLst/>
                <a:latin typeface="Inter"/>
                <a:ea typeface="Calibri" panose="020F0502020204030204" pitchFamily="34" charset="0"/>
              </a:rPr>
              <a:t>the</a:t>
            </a:r>
            <a:r>
              <a:rPr lang="en-US" sz="2200" spc="20" dirty="0">
                <a:solidFill>
                  <a:schemeClr val="tx1"/>
                </a:solidFill>
                <a:effectLst/>
                <a:latin typeface="Inter"/>
                <a:ea typeface="Calibri" panose="020F0502020204030204" pitchFamily="34" charset="0"/>
              </a:rPr>
              <a:t> </a:t>
            </a:r>
            <a:r>
              <a:rPr lang="en-US" sz="2200" spc="-10" dirty="0">
                <a:solidFill>
                  <a:schemeClr val="tx1"/>
                </a:solidFill>
                <a:effectLst/>
                <a:latin typeface="Inter"/>
                <a:ea typeface="Calibri" panose="020F0502020204030204" pitchFamily="34" charset="0"/>
              </a:rPr>
              <a:t>pandemic</a:t>
            </a:r>
            <a:r>
              <a:rPr lang="en-US" sz="2200" spc="-5" dirty="0">
                <a:solidFill>
                  <a:schemeClr val="tx1"/>
                </a:solidFill>
                <a:effectLst/>
                <a:latin typeface="Inter"/>
                <a:ea typeface="Calibri" panose="020F0502020204030204" pitchFamily="34" charset="0"/>
              </a:rPr>
              <a:t> </a:t>
            </a:r>
            <a:r>
              <a:rPr lang="en-US" sz="2200" spc="-10" dirty="0">
                <a:solidFill>
                  <a:schemeClr val="tx1"/>
                </a:solidFill>
                <a:effectLst/>
                <a:latin typeface="Inter"/>
                <a:ea typeface="Calibri" panose="020F0502020204030204" pitchFamily="34" charset="0"/>
              </a:rPr>
              <a:t>and</a:t>
            </a:r>
            <a:r>
              <a:rPr lang="en-US" sz="2200" spc="-20" dirty="0">
                <a:solidFill>
                  <a:schemeClr val="tx1"/>
                </a:solidFill>
                <a:effectLst/>
                <a:latin typeface="Inter"/>
                <a:ea typeface="Calibri" panose="020F0502020204030204" pitchFamily="34" charset="0"/>
              </a:rPr>
              <a:t> </a:t>
            </a:r>
            <a:r>
              <a:rPr lang="en-US" sz="2200" spc="-10" dirty="0">
                <a:solidFill>
                  <a:schemeClr val="tx1"/>
                </a:solidFill>
                <a:effectLst/>
                <a:latin typeface="Inter"/>
                <a:ea typeface="Calibri" panose="020F0502020204030204" pitchFamily="34" charset="0"/>
              </a:rPr>
              <a:t>emerge</a:t>
            </a:r>
            <a:r>
              <a:rPr lang="en-US" sz="2200" spc="-30" dirty="0">
                <a:solidFill>
                  <a:schemeClr val="tx1"/>
                </a:solidFill>
                <a:effectLst/>
                <a:latin typeface="Inter"/>
                <a:ea typeface="Calibri" panose="020F0502020204030204" pitchFamily="34" charset="0"/>
              </a:rPr>
              <a:t> </a:t>
            </a:r>
            <a:r>
              <a:rPr lang="en-US" sz="2200" spc="-10" dirty="0">
                <a:solidFill>
                  <a:schemeClr val="tx1"/>
                </a:solidFill>
                <a:effectLst/>
                <a:latin typeface="Inter"/>
                <a:ea typeface="Calibri" panose="020F0502020204030204" pitchFamily="34" charset="0"/>
              </a:rPr>
              <a:t>stronger.</a:t>
            </a:r>
            <a:endParaRPr lang="en-IN" sz="2200" dirty="0">
              <a:solidFill>
                <a:schemeClr val="tx1"/>
              </a:solidFill>
              <a:effectLst/>
              <a:latin typeface="Inter"/>
              <a:ea typeface="Calibri" panose="020F0502020204030204" pitchFamily="34" charset="0"/>
            </a:endParaRPr>
          </a:p>
          <a:p>
            <a:endParaRPr lang="en-IN" dirty="0"/>
          </a:p>
        </p:txBody>
      </p:sp>
    </p:spTree>
    <p:extLst>
      <p:ext uri="{BB962C8B-B14F-4D97-AF65-F5344CB8AC3E}">
        <p14:creationId xmlns:p14="http://schemas.microsoft.com/office/powerpoint/2010/main" val="32536567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67FB2-532B-0829-7D9B-DCC8E553C0DD}"/>
              </a:ext>
            </a:extLst>
          </p:cNvPr>
          <p:cNvSpPr>
            <a:spLocks noGrp="1"/>
          </p:cNvSpPr>
          <p:nvPr>
            <p:ph type="title"/>
          </p:nvPr>
        </p:nvSpPr>
        <p:spPr/>
        <p:txBody>
          <a:bodyPr/>
          <a:lstStyle/>
          <a:p>
            <a:r>
              <a:rPr lang="en-US" u="sng" dirty="0">
                <a:solidFill>
                  <a:srgbClr val="00FFFF"/>
                </a:solidFill>
              </a:rPr>
              <a:t>Bibliography</a:t>
            </a:r>
            <a:endParaRPr lang="en-IN" u="sng" dirty="0">
              <a:solidFill>
                <a:srgbClr val="00FFFF"/>
              </a:solidFill>
            </a:endParaRPr>
          </a:p>
        </p:txBody>
      </p:sp>
      <p:sp>
        <p:nvSpPr>
          <p:cNvPr id="3" name="Content Placeholder 2">
            <a:extLst>
              <a:ext uri="{FF2B5EF4-FFF2-40B4-BE49-F238E27FC236}">
                <a16:creationId xmlns:a16="http://schemas.microsoft.com/office/drawing/2014/main" id="{1A22C4AD-D1A5-73BA-DB46-0A847A41C6A6}"/>
              </a:ext>
            </a:extLst>
          </p:cNvPr>
          <p:cNvSpPr>
            <a:spLocks noGrp="1"/>
          </p:cNvSpPr>
          <p:nvPr>
            <p:ph idx="1"/>
          </p:nvPr>
        </p:nvSpPr>
        <p:spPr>
          <a:xfrm>
            <a:off x="677334" y="1543051"/>
            <a:ext cx="8596668" cy="4498312"/>
          </a:xfrm>
        </p:spPr>
        <p:txBody>
          <a:bodyPr/>
          <a:lstStyle/>
          <a:p>
            <a:pPr>
              <a:buFont typeface="Arial" panose="020B0604020202020204" pitchFamily="34" charset="0"/>
              <a:buChar char="•"/>
            </a:pPr>
            <a:r>
              <a:rPr lang="en-IN" dirty="0">
                <a:solidFill>
                  <a:schemeClr val="tx1">
                    <a:lumMod val="95000"/>
                    <a:lumOff val="5000"/>
                  </a:schemeClr>
                </a:solidFill>
                <a:hlinkClick r:id="rId2">
                  <a:extLst>
                    <a:ext uri="{A12FA001-AC4F-418D-AE19-62706E023703}">
                      <ahyp:hlinkClr xmlns:ahyp="http://schemas.microsoft.com/office/drawing/2018/hyperlinkcolor" val="tx"/>
                    </a:ext>
                  </a:extLst>
                </a:hlinkClick>
              </a:rPr>
              <a:t>https://usesignhouse.com/blog/adobe-stats/</a:t>
            </a:r>
            <a:endParaRPr lang="en-IN" dirty="0">
              <a:solidFill>
                <a:schemeClr val="tx1">
                  <a:lumMod val="95000"/>
                  <a:lumOff val="5000"/>
                </a:schemeClr>
              </a:solidFill>
            </a:endParaRPr>
          </a:p>
          <a:p>
            <a:pPr>
              <a:buFont typeface="Arial" panose="020B0604020202020204" pitchFamily="34" charset="0"/>
              <a:buChar char="•"/>
            </a:pPr>
            <a:r>
              <a:rPr lang="en-IN" dirty="0">
                <a:solidFill>
                  <a:schemeClr val="tx1">
                    <a:lumMod val="95000"/>
                    <a:lumOff val="5000"/>
                  </a:schemeClr>
                </a:solidFill>
                <a:hlinkClick r:id="rId3">
                  <a:extLst>
                    <a:ext uri="{A12FA001-AC4F-418D-AE19-62706E023703}">
                      <ahyp:hlinkClr xmlns:ahyp="http://schemas.microsoft.com/office/drawing/2018/hyperlinkcolor" val="tx"/>
                    </a:ext>
                  </a:extLst>
                </a:hlinkClick>
              </a:rPr>
              <a:t>https://photutorial.com/adobe-statistics/</a:t>
            </a:r>
            <a:endParaRPr lang="en-IN" dirty="0">
              <a:solidFill>
                <a:schemeClr val="tx1">
                  <a:lumMod val="95000"/>
                  <a:lumOff val="5000"/>
                </a:schemeClr>
              </a:solidFill>
            </a:endParaRPr>
          </a:p>
          <a:p>
            <a:pPr>
              <a:buFont typeface="Arial" panose="020B0604020202020204" pitchFamily="34" charset="0"/>
              <a:buChar char="•"/>
            </a:pPr>
            <a:r>
              <a:rPr lang="en-IN" dirty="0">
                <a:solidFill>
                  <a:schemeClr val="tx1">
                    <a:lumMod val="95000"/>
                    <a:lumOff val="5000"/>
                  </a:schemeClr>
                </a:solidFill>
                <a:hlinkClick r:id="rId4">
                  <a:extLst>
                    <a:ext uri="{A12FA001-AC4F-418D-AE19-62706E023703}">
                      <ahyp:hlinkClr xmlns:ahyp="http://schemas.microsoft.com/office/drawing/2018/hyperlinkcolor" val="tx"/>
                    </a:ext>
                  </a:extLst>
                </a:hlinkClick>
              </a:rPr>
              <a:t>https://www.adobe.com/investor-relations/financial-documents.html</a:t>
            </a:r>
            <a:endParaRPr lang="en-IN" dirty="0">
              <a:solidFill>
                <a:schemeClr val="tx1">
                  <a:lumMod val="95000"/>
                  <a:lumOff val="5000"/>
                </a:schemeClr>
              </a:solidFill>
            </a:endParaRPr>
          </a:p>
          <a:p>
            <a:pPr>
              <a:buFont typeface="Arial" panose="020B0604020202020204" pitchFamily="34" charset="0"/>
              <a:buChar char="•"/>
            </a:pPr>
            <a:r>
              <a:rPr lang="en-IN" u="sng" dirty="0">
                <a:solidFill>
                  <a:schemeClr val="tx1">
                    <a:lumMod val="95000"/>
                    <a:lumOff val="5000"/>
                  </a:schemeClr>
                </a:solidFill>
              </a:rPr>
              <a:t>https://www.geeksforgeeks.org/adobe-company-overview-history-products/</a:t>
            </a:r>
          </a:p>
          <a:p>
            <a:pPr>
              <a:buFont typeface="Arial" panose="020B0604020202020204" pitchFamily="34" charset="0"/>
              <a:buChar char="•"/>
            </a:pPr>
            <a:r>
              <a:rPr lang="en-IN" u="sng" dirty="0"/>
              <a:t>https://www.statista.com/statistics/266399/revenue-of-adobe-systems-worldwide-since-2004/</a:t>
            </a:r>
          </a:p>
          <a:p>
            <a:pPr>
              <a:buFont typeface="Arial" panose="020B0604020202020204" pitchFamily="34" charset="0"/>
              <a:buChar char="•"/>
            </a:pPr>
            <a:endParaRPr lang="en-IN" u="sng" dirty="0"/>
          </a:p>
        </p:txBody>
      </p:sp>
    </p:spTree>
    <p:extLst>
      <p:ext uri="{BB962C8B-B14F-4D97-AF65-F5344CB8AC3E}">
        <p14:creationId xmlns:p14="http://schemas.microsoft.com/office/powerpoint/2010/main" val="261929796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docProps/app.xml><?xml version="1.0" encoding="utf-8"?>
<Properties xmlns="http://schemas.openxmlformats.org/officeDocument/2006/extended-properties" xmlns:vt="http://schemas.openxmlformats.org/officeDocument/2006/docPropsVTypes">
  <Template>Facet</Template>
  <TotalTime>374</TotalTime>
  <Words>3126</Words>
  <Application>Microsoft Office PowerPoint</Application>
  <PresentationFormat>Widescreen</PresentationFormat>
  <Paragraphs>183</Paragraphs>
  <Slides>45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45</vt:i4>
      </vt:variant>
    </vt:vector>
  </HeadingPairs>
  <TitlesOfParts>
    <vt:vector size="55" baseType="lpstr">
      <vt:lpstr>Aptos</vt:lpstr>
      <vt:lpstr>Arial</vt:lpstr>
      <vt:lpstr>Calibri</vt:lpstr>
      <vt:lpstr>Inter</vt:lpstr>
      <vt:lpstr>Symbol</vt:lpstr>
      <vt:lpstr>Times New Roman</vt:lpstr>
      <vt:lpstr>Trebuchet MS</vt:lpstr>
      <vt:lpstr>Wingdings</vt:lpstr>
      <vt:lpstr>Wingdings 3</vt:lpstr>
      <vt:lpstr>Facet</vt:lpstr>
      <vt:lpstr>Presentation Recording Google Drive Link</vt:lpstr>
      <vt:lpstr>Project 1 The effect of Covid 19 on Adobe  from the perspective of Microeconomics and Macroeconomics</vt:lpstr>
      <vt:lpstr>Introduction</vt:lpstr>
      <vt:lpstr>About Adobe Inc.</vt:lpstr>
      <vt:lpstr>Supply and Demand Curves</vt:lpstr>
      <vt:lpstr>PowerPoint Presentation</vt:lpstr>
      <vt:lpstr>PowerPoint Presentation</vt:lpstr>
      <vt:lpstr>PowerPoint Presentation</vt:lpstr>
      <vt:lpstr>PowerPoint Presentation</vt:lpstr>
      <vt:lpstr>PowerPoint Presentation</vt:lpstr>
      <vt:lpstr>PowerPoint Presentation</vt:lpstr>
      <vt:lpstr>Shift in Demand and Supply curve of Adobe  </vt:lpstr>
      <vt:lpstr>PowerPoint Presentation</vt:lpstr>
      <vt:lpstr>PowerPoint Presentation</vt:lpstr>
      <vt:lpstr>Equlibriuim Price for Adobe Inc. </vt:lpstr>
      <vt:lpstr>PowerPoint Presentation</vt:lpstr>
      <vt:lpstr>PowerPoint Presentation</vt:lpstr>
      <vt:lpstr>PowerPoint Presentation</vt:lpstr>
      <vt:lpstr>An Analysis of Price and Demand Before, During, and After the Pandemic</vt:lpstr>
      <vt:lpstr>Before COVID-19 (Pre-2020)</vt:lpstr>
      <vt:lpstr>Before COVID-19 (Pre-2020)</vt:lpstr>
      <vt:lpstr>During COVID-19 (2020-2022)</vt:lpstr>
      <vt:lpstr>During COVID-19 (2020-2022)</vt:lpstr>
      <vt:lpstr>After COVID-19 (Post-2022)</vt:lpstr>
      <vt:lpstr>After COVID-19 (Post-2022)</vt:lpstr>
      <vt:lpstr>PowerPoint Presentation</vt:lpstr>
      <vt:lpstr>PowerPoint Presentation</vt:lpstr>
      <vt:lpstr>Macroeconomic factors changed in Adobe Inc.</vt:lpstr>
      <vt:lpstr>Pre-2008 Financial Crisis (2000–2007) </vt:lpstr>
      <vt:lpstr>During the 2008 Financial Crisis</vt:lpstr>
      <vt:lpstr>Post-2008 Recovery &amp; Subscription Transition (2010–2024)</vt:lpstr>
      <vt:lpstr>Main Insights</vt:lpstr>
      <vt:lpstr>PowerPoint Presentation</vt:lpstr>
      <vt:lpstr>International Issues and Developments that Affected Adobe Inc </vt:lpstr>
      <vt:lpstr>Geopolitical Uncertainties </vt:lpstr>
      <vt:lpstr>PowerPoint Presentation</vt:lpstr>
      <vt:lpstr>Regulatory Changes </vt:lpstr>
      <vt:lpstr>PowerPoint Presentation</vt:lpstr>
      <vt:lpstr>Economic Conditions </vt:lpstr>
      <vt:lpstr>PowerPoint Presentation</vt:lpstr>
      <vt:lpstr>Competition </vt:lpstr>
      <vt:lpstr>Fiscal and Monetary Changes</vt:lpstr>
      <vt:lpstr>PowerPoint Presentation</vt:lpstr>
      <vt:lpstr>Impact on Adobe </vt:lpstr>
      <vt:lpstr>Bibliography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daniel2001db9@gmail.com</dc:creator>
  <cp:lastModifiedBy>daniel2001db9@gmail.com</cp:lastModifiedBy>
  <cp:revision>16</cp:revision>
  <dcterms:created xsi:type="dcterms:W3CDTF">2024-12-09T15:13:13Z</dcterms:created>
  <dcterms:modified xsi:type="dcterms:W3CDTF">2024-12-11T17:12:47Z</dcterms:modified>
</cp:coreProperties>
</file>